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xml" ContentType="application/inkml+xml"/>
  <Override PartName="/ppt/ink/ink2.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ink/ink3.xml" ContentType="application/inkml+xml"/>
  <Override PartName="/ppt/ink/ink4.xml" ContentType="application/inkml+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4"/>
  </p:sldMasterIdLst>
  <p:notesMasterIdLst>
    <p:notesMasterId r:id="rId76"/>
  </p:notesMasterIdLst>
  <p:sldIdLst>
    <p:sldId id="256" r:id="rId5"/>
    <p:sldId id="257" r:id="rId6"/>
    <p:sldId id="258" r:id="rId7"/>
    <p:sldId id="265" r:id="rId8"/>
    <p:sldId id="266" r:id="rId9"/>
    <p:sldId id="267" r:id="rId10"/>
    <p:sldId id="268" r:id="rId11"/>
    <p:sldId id="269" r:id="rId12"/>
    <p:sldId id="270" r:id="rId13"/>
    <p:sldId id="271" r:id="rId14"/>
    <p:sldId id="312" r:id="rId15"/>
    <p:sldId id="313" r:id="rId16"/>
    <p:sldId id="315" r:id="rId17"/>
    <p:sldId id="316" r:id="rId18"/>
    <p:sldId id="317" r:id="rId19"/>
    <p:sldId id="318" r:id="rId20"/>
    <p:sldId id="319" r:id="rId21"/>
    <p:sldId id="320" r:id="rId22"/>
    <p:sldId id="321" r:id="rId23"/>
    <p:sldId id="322" r:id="rId24"/>
    <p:sldId id="325" r:id="rId25"/>
    <p:sldId id="323" r:id="rId26"/>
    <p:sldId id="324" r:id="rId27"/>
    <p:sldId id="326" r:id="rId28"/>
    <p:sldId id="327" r:id="rId29"/>
    <p:sldId id="328" r:id="rId30"/>
    <p:sldId id="329" r:id="rId31"/>
    <p:sldId id="330" r:id="rId32"/>
    <p:sldId id="331" r:id="rId33"/>
    <p:sldId id="332" r:id="rId34"/>
    <p:sldId id="333" r:id="rId35"/>
    <p:sldId id="284" r:id="rId36"/>
    <p:sldId id="334" r:id="rId37"/>
    <p:sldId id="335" r:id="rId38"/>
    <p:sldId id="336" r:id="rId39"/>
    <p:sldId id="337" r:id="rId40"/>
    <p:sldId id="349" r:id="rId41"/>
    <p:sldId id="350" r:id="rId42"/>
    <p:sldId id="351" r:id="rId43"/>
    <p:sldId id="352" r:id="rId44"/>
    <p:sldId id="353" r:id="rId45"/>
    <p:sldId id="354" r:id="rId46"/>
    <p:sldId id="355" r:id="rId47"/>
    <p:sldId id="356" r:id="rId48"/>
    <p:sldId id="357" r:id="rId49"/>
    <p:sldId id="358" r:id="rId50"/>
    <p:sldId id="359" r:id="rId51"/>
    <p:sldId id="360" r:id="rId52"/>
    <p:sldId id="361" r:id="rId53"/>
    <p:sldId id="362" r:id="rId54"/>
    <p:sldId id="363" r:id="rId55"/>
    <p:sldId id="364" r:id="rId56"/>
    <p:sldId id="365" r:id="rId57"/>
    <p:sldId id="366" r:id="rId58"/>
    <p:sldId id="367" r:id="rId59"/>
    <p:sldId id="368" r:id="rId60"/>
    <p:sldId id="369" r:id="rId61"/>
    <p:sldId id="370" r:id="rId62"/>
    <p:sldId id="371" r:id="rId63"/>
    <p:sldId id="372" r:id="rId64"/>
    <p:sldId id="373" r:id="rId65"/>
    <p:sldId id="374" r:id="rId66"/>
    <p:sldId id="375" r:id="rId67"/>
    <p:sldId id="376" r:id="rId68"/>
    <p:sldId id="377" r:id="rId69"/>
    <p:sldId id="378" r:id="rId70"/>
    <p:sldId id="379" r:id="rId71"/>
    <p:sldId id="380" r:id="rId72"/>
    <p:sldId id="381" r:id="rId73"/>
    <p:sldId id="382" r:id="rId74"/>
    <p:sldId id="310"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130A0"/>
    <a:srgbClr val="880058"/>
    <a:srgbClr val="72006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11E556-FAE8-6672-BCD9-B0DA66F4C12E}" v="1" dt="2025-09-10T09:41:57.719"/>
    <p1510:client id="{969612A6-18A2-E228-BC0C-1B955AF66093}" v="1" dt="2025-09-11T06:05:03.850"/>
    <p1510:client id="{B06723DB-2F0C-2298-4FA9-C47862F0FCDE}" v="13" dt="2025-09-12T09:06:02.8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82"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fountihouda2005" userId="S::elfountihouda2005_gmail.com#ext#@technology4dev.onmicrosoft.com::4e794ff3-0d39-4d95-ad04-ac44da0229d1" providerId="AD" clId="Web-{9311E556-FAE8-6672-BCD9-B0DA66F4C12E}"/>
    <pc:docChg chg="modSld">
      <pc:chgData name="elfountihouda2005" userId="S::elfountihouda2005_gmail.com#ext#@technology4dev.onmicrosoft.com::4e794ff3-0d39-4d95-ad04-ac44da0229d1" providerId="AD" clId="Web-{9311E556-FAE8-6672-BCD9-B0DA66F4C12E}" dt="2025-09-10T09:41:57.719" v="0" actId="1076"/>
      <pc:docMkLst>
        <pc:docMk/>
      </pc:docMkLst>
      <pc:sldChg chg="modSp">
        <pc:chgData name="elfountihouda2005" userId="S::elfountihouda2005_gmail.com#ext#@technology4dev.onmicrosoft.com::4e794ff3-0d39-4d95-ad04-ac44da0229d1" providerId="AD" clId="Web-{9311E556-FAE8-6672-BCD9-B0DA66F4C12E}" dt="2025-09-10T09:41:57.719" v="0" actId="1076"/>
        <pc:sldMkLst>
          <pc:docMk/>
          <pc:sldMk cId="3995982526" sldId="312"/>
        </pc:sldMkLst>
        <pc:picChg chg="mod">
          <ac:chgData name="elfountihouda2005" userId="S::elfountihouda2005_gmail.com#ext#@technology4dev.onmicrosoft.com::4e794ff3-0d39-4d95-ad04-ac44da0229d1" providerId="AD" clId="Web-{9311E556-FAE8-6672-BCD9-B0DA66F4C12E}" dt="2025-09-10T09:41:57.719" v="0" actId="1076"/>
          <ac:picMkLst>
            <pc:docMk/>
            <pc:sldMk cId="3995982526" sldId="312"/>
            <ac:picMk id="3" creationId="{ED892F74-55C9-9D75-498A-FBE14CB992DA}"/>
          </ac:picMkLst>
        </pc:picChg>
      </pc:sldChg>
    </pc:docChg>
  </pc:docChgLst>
  <pc:docChgLst>
    <pc:chgData name="phets.vee" userId="S::phets.vee_outlook.com#ext#@technology4dev.onmicrosoft.com::6a361f20-b67f-4da7-8f7c-015cea406207" providerId="AD" clId="Web-{969612A6-18A2-E228-BC0C-1B955AF66093}"/>
    <pc:docChg chg="modSld">
      <pc:chgData name="phets.vee" userId="S::phets.vee_outlook.com#ext#@technology4dev.onmicrosoft.com::6a361f20-b67f-4da7-8f7c-015cea406207" providerId="AD" clId="Web-{969612A6-18A2-E228-BC0C-1B955AF66093}" dt="2025-09-11T06:05:03.850" v="0" actId="1076"/>
      <pc:docMkLst>
        <pc:docMk/>
      </pc:docMkLst>
      <pc:sldChg chg="modSp">
        <pc:chgData name="phets.vee" userId="S::phets.vee_outlook.com#ext#@technology4dev.onmicrosoft.com::6a361f20-b67f-4da7-8f7c-015cea406207" providerId="AD" clId="Web-{969612A6-18A2-E228-BC0C-1B955AF66093}" dt="2025-09-11T06:05:03.850" v="0" actId="1076"/>
        <pc:sldMkLst>
          <pc:docMk/>
          <pc:sldMk cId="1589144992" sldId="310"/>
        </pc:sldMkLst>
        <pc:picChg chg="mod">
          <ac:chgData name="phets.vee" userId="S::phets.vee_outlook.com#ext#@technology4dev.onmicrosoft.com::6a361f20-b67f-4da7-8f7c-015cea406207" providerId="AD" clId="Web-{969612A6-18A2-E228-BC0C-1B955AF66093}" dt="2025-09-11T06:05:03.850" v="0" actId="1076"/>
          <ac:picMkLst>
            <pc:docMk/>
            <pc:sldMk cId="1589144992" sldId="310"/>
            <ac:picMk id="2050" creationId="{A2C8CD05-6CEE-0309-BB07-5148DAB89F5B}"/>
          </ac:picMkLst>
        </pc:picChg>
      </pc:sldChg>
    </pc:docChg>
  </pc:docChgLst>
  <pc:docChgLst>
    <pc:chgData name="olusanayomide" userId="S::olusanayomide_outlook.com#ext#@technology4dev.onmicrosoft.com::865b9fa5-9568-4766-8f6d-13cf6dcca69d" providerId="AD" clId="Web-{0B41ECDB-A6C7-A20E-6B50-5F7D6E6C149A}"/>
    <pc:docChg chg="modSld">
      <pc:chgData name="olusanayomide" userId="S::olusanayomide_outlook.com#ext#@technology4dev.onmicrosoft.com::865b9fa5-9568-4766-8f6d-13cf6dcca69d" providerId="AD" clId="Web-{0B41ECDB-A6C7-A20E-6B50-5F7D6E6C149A}" dt="2025-09-09T19:11:22.567" v="3" actId="1076"/>
      <pc:docMkLst>
        <pc:docMk/>
      </pc:docMkLst>
      <pc:sldChg chg="modSp">
        <pc:chgData name="olusanayomide" userId="S::olusanayomide_outlook.com#ext#@technology4dev.onmicrosoft.com::865b9fa5-9568-4766-8f6d-13cf6dcca69d" providerId="AD" clId="Web-{0B41ECDB-A6C7-A20E-6B50-5F7D6E6C149A}" dt="2025-09-09T19:10:58.425" v="2" actId="1076"/>
        <pc:sldMkLst>
          <pc:docMk/>
          <pc:sldMk cId="381597763" sldId="256"/>
        </pc:sldMkLst>
        <pc:picChg chg="mod">
          <ac:chgData name="olusanayomide" userId="S::olusanayomide_outlook.com#ext#@technology4dev.onmicrosoft.com::865b9fa5-9568-4766-8f6d-13cf6dcca69d" providerId="AD" clId="Web-{0B41ECDB-A6C7-A20E-6B50-5F7D6E6C149A}" dt="2025-09-09T19:10:58.425" v="2" actId="1076"/>
          <ac:picMkLst>
            <pc:docMk/>
            <pc:sldMk cId="381597763" sldId="256"/>
            <ac:picMk id="8" creationId="{AAAD6643-41C9-8727-58CF-F1D8DB413F5B}"/>
          </ac:picMkLst>
        </pc:picChg>
      </pc:sldChg>
      <pc:sldChg chg="modSp">
        <pc:chgData name="olusanayomide" userId="S::olusanayomide_outlook.com#ext#@technology4dev.onmicrosoft.com::865b9fa5-9568-4766-8f6d-13cf6dcca69d" providerId="AD" clId="Web-{0B41ECDB-A6C7-A20E-6B50-5F7D6E6C149A}" dt="2025-09-09T19:11:22.567" v="3" actId="1076"/>
        <pc:sldMkLst>
          <pc:docMk/>
          <pc:sldMk cId="2949577556" sldId="258"/>
        </pc:sldMkLst>
        <pc:spChg chg="mod">
          <ac:chgData name="olusanayomide" userId="S::olusanayomide_outlook.com#ext#@technology4dev.onmicrosoft.com::865b9fa5-9568-4766-8f6d-13cf6dcca69d" providerId="AD" clId="Web-{0B41ECDB-A6C7-A20E-6B50-5F7D6E6C149A}" dt="2025-09-09T19:11:22.567" v="3" actId="1076"/>
          <ac:spMkLst>
            <pc:docMk/>
            <pc:sldMk cId="2949577556" sldId="258"/>
            <ac:spMk id="6" creationId="{358AA297-2CB2-3617-6EA1-4C4997D90540}"/>
          </ac:spMkLst>
        </pc:spChg>
      </pc:sldChg>
    </pc:docChg>
  </pc:docChgLst>
  <pc:docChgLst>
    <pc:chgData name="agboolapraise0" userId="S::agboolapraise0_outlook.com#ext#@technology4dev.onmicrosoft.com::8348e7c8-6750-4519-9ff1-2f70d8fb3601" providerId="AD" clId="Web-{B06723DB-2F0C-2298-4FA9-C47862F0FCDE}"/>
    <pc:docChg chg="modSld">
      <pc:chgData name="agboolapraise0" userId="S::agboolapraise0_outlook.com#ext#@technology4dev.onmicrosoft.com::8348e7c8-6750-4519-9ff1-2f70d8fb3601" providerId="AD" clId="Web-{B06723DB-2F0C-2298-4FA9-C47862F0FCDE}" dt="2025-09-12T09:06:02.823" v="6" actId="20577"/>
      <pc:docMkLst>
        <pc:docMk/>
      </pc:docMkLst>
      <pc:sldChg chg="modSp">
        <pc:chgData name="agboolapraise0" userId="S::agboolapraise0_outlook.com#ext#@technology4dev.onmicrosoft.com::8348e7c8-6750-4519-9ff1-2f70d8fb3601" providerId="AD" clId="Web-{B06723DB-2F0C-2298-4FA9-C47862F0FCDE}" dt="2025-09-12T07:20:38.314" v="1" actId="20577"/>
        <pc:sldMkLst>
          <pc:docMk/>
          <pc:sldMk cId="2562577623" sldId="327"/>
        </pc:sldMkLst>
        <pc:spChg chg="mod">
          <ac:chgData name="agboolapraise0" userId="S::agboolapraise0_outlook.com#ext#@technology4dev.onmicrosoft.com::8348e7c8-6750-4519-9ff1-2f70d8fb3601" providerId="AD" clId="Web-{B06723DB-2F0C-2298-4FA9-C47862F0FCDE}" dt="2025-09-12T07:20:38.314" v="1" actId="20577"/>
          <ac:spMkLst>
            <pc:docMk/>
            <pc:sldMk cId="2562577623" sldId="327"/>
            <ac:spMk id="7" creationId="{71AE16CD-E7AA-DE38-CE67-AF76DFF3AC07}"/>
          </ac:spMkLst>
        </pc:spChg>
      </pc:sldChg>
      <pc:sldChg chg="modSp">
        <pc:chgData name="agboolapraise0" userId="S::agboolapraise0_outlook.com#ext#@technology4dev.onmicrosoft.com::8348e7c8-6750-4519-9ff1-2f70d8fb3601" providerId="AD" clId="Web-{B06723DB-2F0C-2298-4FA9-C47862F0FCDE}" dt="2025-09-12T07:31:50.308" v="3" actId="20577"/>
        <pc:sldMkLst>
          <pc:docMk/>
          <pc:sldMk cId="1110487535" sldId="332"/>
        </pc:sldMkLst>
        <pc:spChg chg="mod">
          <ac:chgData name="agboolapraise0" userId="S::agboolapraise0_outlook.com#ext#@technology4dev.onmicrosoft.com::8348e7c8-6750-4519-9ff1-2f70d8fb3601" providerId="AD" clId="Web-{B06723DB-2F0C-2298-4FA9-C47862F0FCDE}" dt="2025-09-12T07:31:50.308" v="3" actId="20577"/>
          <ac:spMkLst>
            <pc:docMk/>
            <pc:sldMk cId="1110487535" sldId="332"/>
            <ac:spMk id="3" creationId="{0FCB5309-DCE8-11CF-035E-BFD5453DA1D0}"/>
          </ac:spMkLst>
        </pc:spChg>
      </pc:sldChg>
      <pc:sldChg chg="modSp">
        <pc:chgData name="agboolapraise0" userId="S::agboolapraise0_outlook.com#ext#@technology4dev.onmicrosoft.com::8348e7c8-6750-4519-9ff1-2f70d8fb3601" providerId="AD" clId="Web-{B06723DB-2F0C-2298-4FA9-C47862F0FCDE}" dt="2025-09-12T07:33:24.720" v="4" actId="20577"/>
        <pc:sldMkLst>
          <pc:docMk/>
          <pc:sldMk cId="1524278194" sldId="337"/>
        </pc:sldMkLst>
        <pc:spChg chg="mod">
          <ac:chgData name="agboolapraise0" userId="S::agboolapraise0_outlook.com#ext#@technology4dev.onmicrosoft.com::8348e7c8-6750-4519-9ff1-2f70d8fb3601" providerId="AD" clId="Web-{B06723DB-2F0C-2298-4FA9-C47862F0FCDE}" dt="2025-09-12T07:33:24.720" v="4" actId="20577"/>
          <ac:spMkLst>
            <pc:docMk/>
            <pc:sldMk cId="1524278194" sldId="337"/>
            <ac:spMk id="2" creationId="{356061D4-2323-1ECA-A8EB-4036AE6CBF41}"/>
          </ac:spMkLst>
        </pc:spChg>
      </pc:sldChg>
      <pc:sldChg chg="modSp">
        <pc:chgData name="agboolapraise0" userId="S::agboolapraise0_outlook.com#ext#@technology4dev.onmicrosoft.com::8348e7c8-6750-4519-9ff1-2f70d8fb3601" providerId="AD" clId="Web-{B06723DB-2F0C-2298-4FA9-C47862F0FCDE}" dt="2025-09-12T09:06:02.823" v="6" actId="20577"/>
        <pc:sldMkLst>
          <pc:docMk/>
          <pc:sldMk cId="777459547" sldId="366"/>
        </pc:sldMkLst>
        <pc:spChg chg="mod">
          <ac:chgData name="agboolapraise0" userId="S::agboolapraise0_outlook.com#ext#@technology4dev.onmicrosoft.com::8348e7c8-6750-4519-9ff1-2f70d8fb3601" providerId="AD" clId="Web-{B06723DB-2F0C-2298-4FA9-C47862F0FCDE}" dt="2025-09-12T09:06:02.823" v="6" actId="20577"/>
          <ac:spMkLst>
            <pc:docMk/>
            <pc:sldMk cId="777459547" sldId="366"/>
            <ac:spMk id="6" creationId="{5316FCCE-4179-9146-0F6F-85F0AFBC6860}"/>
          </ac:spMkLst>
        </pc:spChg>
      </pc:sldChg>
    </pc:docChg>
  </pc:docChgLst>
  <pc:docChgLst>
    <pc:chgData name="Insights Touch" userId="0804165a-11ef-4a59-9f0c-11f6fae5f34d" providerId="ADAL" clId="{0BC93FB2-C4BC-46CF-94C2-30B9EE664963}"/>
    <pc:docChg chg="undo custSel modSld">
      <pc:chgData name="Insights Touch" userId="0804165a-11ef-4a59-9f0c-11f6fae5f34d" providerId="ADAL" clId="{0BC93FB2-C4BC-46CF-94C2-30B9EE664963}" dt="2025-09-08T19:43:49.033" v="7" actId="26606"/>
      <pc:docMkLst>
        <pc:docMk/>
      </pc:docMkLst>
      <pc:sldChg chg="addSp delSp modSp mod setBg">
        <pc:chgData name="Insights Touch" userId="0804165a-11ef-4a59-9f0c-11f6fae5f34d" providerId="ADAL" clId="{0BC93FB2-C4BC-46CF-94C2-30B9EE664963}" dt="2025-09-08T19:43:49.033" v="7" actId="26606"/>
        <pc:sldMkLst>
          <pc:docMk/>
          <pc:sldMk cId="1589144992" sldId="310"/>
        </pc:sldMkLst>
        <pc:picChg chg="mod">
          <ac:chgData name="Insights Touch" userId="0804165a-11ef-4a59-9f0c-11f6fae5f34d" providerId="ADAL" clId="{0BC93FB2-C4BC-46CF-94C2-30B9EE664963}" dt="2025-09-08T19:43:49.033" v="7" actId="26606"/>
          <ac:picMkLst>
            <pc:docMk/>
            <pc:sldMk cId="1589144992" sldId="310"/>
            <ac:picMk id="2050" creationId="{A2C8CD05-6CEE-0309-BB07-5148DAB89F5B}"/>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14T19:13:35.580"/>
    </inkml:context>
    <inkml:brush xml:id="br0">
      <inkml:brushProperty name="width" value="0.05" units="cm"/>
      <inkml:brushProperty name="height" value="0.05" units="cm"/>
    </inkml:brush>
  </inkml:definitions>
  <inkml:trace contextRef="#ctx0" brushRef="#br0">130 1 24575,'0'234'0,"0"-233"0,-1 1 0,1-1 0,0 0 0,0 1 0,0-1 0,1 0 0,-1 1 0,0-1 0,0 0 0,1 0 0,-1 1 0,1-1 0,-1 0 0,1 0 0,-1 0 0,1 0 0,0 0 0,-1 0 0,1 0 0,0 0 0,0 0 0,0 0 0,0 0 0,0 0 0,0 0 0,0-1 0,0 1 0,0 0 0,3 0 0,0 0 0,1 0 0,0-1 0,-1 1 0,1-1 0,-1-1 0,1 1 0,4-1 0,6-1 0,-10 2 0,-1-1 0,1 1 0,0-1 0,-1 0 0,1-1 0,-1 1 0,1-1 0,-1 0 0,0 0 0,0 0 0,0-1 0,0 0 0,0 1 0,4-5 0,-6 5 0,0 0 0,-1 0 0,1-1 0,0 1 0,-1 0 0,0-1 0,1 1 0,-1-1 0,0 0 0,0 1 0,-1-1 0,1 0 0,-1 1 0,1-1 0,-1 0 0,0 0 0,0 1 0,0-1 0,0 0 0,0 0 0,-1 0 0,1 1 0,-1-1 0,0 0 0,-2-4 0,2 5 0,-1-1 0,1 0 0,-1 1 0,0 0 0,0-1 0,0 1 0,0 0 0,0 0 0,0 0 0,0 1 0,-1-1 0,1 0 0,-1 1 0,0-1 0,1 1 0,-1 0 0,0 0 0,0 0 0,1 0 0,-1 1 0,0-1 0,-4 1 0,-10-2 0,1 1 0,-31 2 0,29 0 0,-5-1 0,11 0 0,-1 0 0,-24 3 0,34-2 0,1-1 0,0 0 0,0 1 0,0 0 0,-1-1 0,1 1 0,0 0 0,0 0 0,0 0 0,0 1 0,0-1 0,1 0 0,-1 1 0,0-1 0,1 1 0,-1-1 0,1 1 0,-1 0 0,1 0 0,0 0 0,-1 0 0,0 2 0,1-3 0,1 1 0,0-1 0,-1 0 0,1 0 0,0 0 0,0 0 0,0 0 0,0 0 0,0 1 0,0-1 0,0 0 0,0 0 0,0 0 0,0 0 0,1 0 0,-1 1 0,0-1 0,1 0 0,-1 0 0,1 0 0,0 0 0,-1 0 0,1 0 0,0 0 0,-1-1 0,1 1 0,0 0 0,0 0 0,0 0 0,-1-1 0,1 1 0,0 0 0,0-1 0,0 1 0,2 0 0,4 2 0,0-1 0,1 1 0,-1-1 0,12 2 0,7 2 0,4 10 0,-26-13 0,1 0 0,0-1 0,0 1 0,0-1 0,0 0 0,10 3 0,-13-5 0,-1 0 0,1 0 0,0 0 0,0 0 0,0 0 0,-1-1 0,1 1 0,0-1 0,0 1 0,-1-1 0,1 1 0,0-1 0,-1 0 0,1 0 0,-1 0 0,1 0 0,-1 0 0,1 0 0,-1 0 0,0 0 0,0-1 0,1 1 0,-1-1 0,0 1 0,1-3 0,2-2-227,-1 1-1,0-1 1,0 0-1,-1 0 1,2-8-1,2-8-6598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14T19:13:41.728"/>
    </inkml:context>
    <inkml:brush xml:id="br0">
      <inkml:brushProperty name="width" value="0.05" units="cm"/>
      <inkml:brushProperty name="height" value="0.05" units="cm"/>
    </inkml:brush>
  </inkml:definitions>
  <inkml:trace contextRef="#ctx0" brushRef="#br0">59 274 24575,'0'-2'0,"1"1"0,-1 0 0,1 0 0,-1 0 0,1 0 0,-1 0 0,1 0 0,0 0 0,0 0 0,0 0 0,-1 0 0,1 0 0,0 0 0,0 0 0,0 1 0,0-1 0,0 0 0,1 1 0,-1-1 0,0 1 0,0-1 0,0 1 0,0 0 0,1-1 0,-1 1 0,0 0 0,0 0 0,1 0 0,0 0 0,38 0 0,-30 5 0,-13 0 0,-23 6 0,14-7 0,9-2 0,0 0 0,0 1 0,0-1 0,1 1 0,-1-1 0,1 1 0,0 0 0,0 0 0,0 0 0,-3 6 0,4-8 0,0 1 0,0-1 0,1 1 0,-1-1 0,0 1 0,1 0 0,0-1 0,-1 1 0,1 0 0,0 0 0,0-1 0,0 1 0,0 0 0,0 0 0,0-1 0,0 1 0,0 0 0,1-1 0,-1 1 0,1 0 0,-1-1 0,1 1 0,1 2 0,-1-4 0,0-1 0,0 1 0,-1 0 0,1 0 0,0-1 0,0 1 0,-1-1 0,1 1 0,0-1 0,-1 1 0,1-1 0,-1 1 0,1-1 0,-1 1 0,1-1 0,-1 0 0,1 1 0,-1-1 0,1 0 0,-1 0 0,0 1 0,1-1 0,-1-1 0,13-21 0,15-61 0,-28 83 0,1-1 0,-1 0 0,0 1 0,0-1 0,0 0 0,1 1 0,-2-1 0,1 0 0,0 1 0,0-1 0,0 0 0,-1 1 0,1-1 0,-1 0 0,1 1 0,-1-1 0,0 1 0,0-1 0,1 1 0,-1-1 0,-2 0 0,-28-24 0,27 24 0,0-1 0,0 1 0,1-1 0,-1 0 0,1 0 0,0 0 0,-1 0 0,1-1 0,1 1 0,-4-5 0,4 1 0,0 0 0,0-1 0,0 1 0,1 0 0,0-1 0,0 1 0,0-9 0,-4-32 0,5 47-54,-1 0-1,1 0 0,0 0 1,0 0-1,-1 0 1,1 0-1,0 1 0,-1-1 1,1 0-1,-1 0 1,1 0-1,-1 1 0,1-1 1,-1 0-1,0 1 0,1-1 1,-1 0-1,0 1 1,0-1-1,1 1 0,-1-1 1,0 1-1,0 0 1,-1-1-1,-8 0-6771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14T19:13:35.580"/>
    </inkml:context>
    <inkml:brush xml:id="br0">
      <inkml:brushProperty name="width" value="0.05" units="cm"/>
      <inkml:brushProperty name="height" value="0.05" units="cm"/>
    </inkml:brush>
  </inkml:definitions>
  <inkml:trace contextRef="#ctx0" brushRef="#br0">130 1 24575,'0'234'0,"0"-233"0,-1 1 0,1-1 0,0 0 0,0 1 0,0-1 0,1 0 0,-1 1 0,0-1 0,0 0 0,1 0 0,-1 1 0,1-1 0,-1 0 0,1 0 0,-1 0 0,1 0 0,0 0 0,-1 0 0,1 0 0,0 0 0,0 0 0,0 0 0,0 0 0,0 0 0,0 0 0,0-1 0,0 1 0,0 0 0,3 0 0,0 0 0,1 0 0,0-1 0,-1 1 0,1-1 0,-1-1 0,1 1 0,4-1 0,6-1 0,-10 2 0,-1-1 0,1 1 0,0-1 0,-1 0 0,1-1 0,-1 1 0,1-1 0,-1 0 0,0 0 0,0 0 0,0-1 0,0 0 0,0 1 0,4-5 0,-6 5 0,0 0 0,-1 0 0,1-1 0,0 1 0,-1 0 0,0-1 0,1 1 0,-1-1 0,0 0 0,0 1 0,-1-1 0,1 0 0,-1 1 0,1-1 0,-1 0 0,0 0 0,0 1 0,0-1 0,0 0 0,0 0 0,-1 0 0,1 1 0,-1-1 0,0 0 0,-2-4 0,2 5 0,-1-1 0,1 0 0,-1 1 0,0 0 0,0-1 0,0 1 0,0 0 0,0 0 0,0 0 0,0 1 0,-1-1 0,1 0 0,-1 1 0,0-1 0,1 1 0,-1 0 0,0 0 0,0 0 0,1 0 0,-1 1 0,0-1 0,-4 1 0,-10-2 0,1 1 0,-31 2 0,29 0 0,-5-1 0,11 0 0,-1 0 0,-24 3 0,34-2 0,1-1 0,0 0 0,0 1 0,0 0 0,-1-1 0,1 1 0,0 0 0,0 0 0,0 0 0,0 1 0,0-1 0,1 0 0,-1 1 0,0-1 0,1 1 0,-1-1 0,1 1 0,-1 0 0,1 0 0,0 0 0,-1 0 0,0 2 0,1-3 0,1 1 0,0-1 0,-1 0 0,1 0 0,0 0 0,0 0 0,0 0 0,0 0 0,0 1 0,0-1 0,0 0 0,0 0 0,0 0 0,0 0 0,1 0 0,-1 1 0,0-1 0,1 0 0,-1 0 0,1 0 0,0 0 0,-1 0 0,1 0 0,0 0 0,-1-1 0,1 1 0,0 0 0,0 0 0,0 0 0,-1-1 0,1 1 0,0 0 0,0-1 0,0 1 0,2 0 0,4 2 0,0-1 0,1 1 0,-1-1 0,12 2 0,7 2 0,4 10 0,-26-13 0,1 0 0,0-1 0,0 1 0,0-1 0,0 0 0,10 3 0,-13-5 0,-1 0 0,1 0 0,0 0 0,0 0 0,0 0 0,-1-1 0,1 1 0,0-1 0,0 1 0,-1-1 0,1 1 0,0-1 0,-1 0 0,1 0 0,-1 0 0,1 0 0,-1 0 0,1 0 0,-1 0 0,0 0 0,0-1 0,1 1 0,-1-1 0,0 1 0,1-3 0,2-2-227,-1 1-1,0-1 1,0 0-1,-1 0 1,2-8-1,2-8-6598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14T19:13:41.728"/>
    </inkml:context>
    <inkml:brush xml:id="br0">
      <inkml:brushProperty name="width" value="0.05" units="cm"/>
      <inkml:brushProperty name="height" value="0.05" units="cm"/>
    </inkml:brush>
  </inkml:definitions>
  <inkml:trace contextRef="#ctx0" brushRef="#br0">59 274 24575,'0'-2'0,"1"1"0,-1 0 0,1 0 0,-1 0 0,1 0 0,-1 0 0,1 0 0,0 0 0,0 0 0,0 0 0,-1 0 0,1 0 0,0 0 0,0 0 0,0 1 0,0-1 0,0 0 0,1 1 0,-1-1 0,0 1 0,0-1 0,0 1 0,0 0 0,1-1 0,-1 1 0,0 0 0,0 0 0,1 0 0,0 0 0,38 0 0,-30 5 0,-13 0 0,-23 6 0,14-7 0,9-2 0,0 0 0,0 1 0,0-1 0,1 1 0,-1-1 0,1 1 0,0 0 0,0 0 0,0 0 0,-3 6 0,4-8 0,0 1 0,0-1 0,1 1 0,-1-1 0,0 1 0,1 0 0,0-1 0,-1 1 0,1 0 0,0 0 0,0-1 0,0 1 0,0 0 0,0 0 0,0-1 0,0 1 0,0 0 0,1-1 0,-1 1 0,1 0 0,-1-1 0,1 1 0,1 2 0,-1-4 0,0-1 0,0 1 0,-1 0 0,1 0 0,0-1 0,0 1 0,-1-1 0,1 1 0,0-1 0,-1 1 0,1-1 0,-1 1 0,1-1 0,-1 1 0,1-1 0,-1 0 0,1 1 0,-1-1 0,1 0 0,-1 0 0,0 1 0,1-1 0,-1-1 0,13-21 0,15-61 0,-28 83 0,1-1 0,-1 0 0,0 1 0,0-1 0,0 0 0,1 1 0,-2-1 0,1 0 0,0 1 0,0-1 0,0 0 0,-1 1 0,1-1 0,-1 0 0,1 1 0,-1-1 0,0 1 0,0-1 0,1 1 0,-1-1 0,-2 0 0,-28-24 0,27 24 0,0-1 0,0 1 0,1-1 0,-1 0 0,1 0 0,0 0 0,-1 0 0,1-1 0,1 1 0,-4-5 0,4 1 0,0 0 0,0-1 0,0 1 0,1 0 0,0-1 0,0 1 0,0-9 0,-4-32 0,5 47-54,-1 0-1,1 0 0,0 0 1,0 0-1,-1 0 1,1 0-1,0 1 0,-1-1 1,1 0-1,-1 0 1,1 0-1,-1 1 0,1-1 1,-1 0-1,0 1 0,1-1 1,-1 0-1,0 1 1,0-1-1,1 1 0,-1-1 1,0 1-1,0 0 1,-1-1-1,-8 0-6771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44DED2-47B5-7444-BD98-79BB5A7266C0}" type="datetimeFigureOut">
              <a:rPr lang="en-US" smtClean="0"/>
              <a:t>9/12/2025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C5F875-FB29-8B4F-B826-358521277C34}" type="slidenum">
              <a:rPr lang="en-US" smtClean="0"/>
              <a:t>‹#›</a:t>
            </a:fld>
            <a:endParaRPr lang="en-US"/>
          </a:p>
        </p:txBody>
      </p:sp>
    </p:spTree>
    <p:extLst>
      <p:ext uri="{BB962C8B-B14F-4D97-AF65-F5344CB8AC3E}">
        <p14:creationId xmlns:p14="http://schemas.microsoft.com/office/powerpoint/2010/main" val="468175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a:t>https://datascience.virginia.edu/news/how-much-do-data-scientists-need-know-about-statistics</a:t>
            </a:r>
          </a:p>
        </p:txBody>
      </p:sp>
      <p:sp>
        <p:nvSpPr>
          <p:cNvPr id="4" name="Slide Number Placeholder 3"/>
          <p:cNvSpPr>
            <a:spLocks noGrp="1"/>
          </p:cNvSpPr>
          <p:nvPr>
            <p:ph type="sldNum" sz="quarter" idx="5"/>
          </p:nvPr>
        </p:nvSpPr>
        <p:spPr/>
        <p:txBody>
          <a:bodyPr/>
          <a:lstStyle/>
          <a:p>
            <a:fld id="{A92FBFAC-26C0-4C3B-B093-BA0504D21126}" type="slidenum">
              <a:rPr lang="en-US" smtClean="0"/>
              <a:t>6</a:t>
            </a:fld>
            <a:endParaRPr lang="en-US"/>
          </a:p>
        </p:txBody>
      </p:sp>
    </p:spTree>
    <p:extLst>
      <p:ext uri="{BB962C8B-B14F-4D97-AF65-F5344CB8AC3E}">
        <p14:creationId xmlns:p14="http://schemas.microsoft.com/office/powerpoint/2010/main" val="3014520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11</a:t>
            </a:fld>
            <a:endParaRPr lang="en-US"/>
          </a:p>
        </p:txBody>
      </p:sp>
    </p:spTree>
    <p:extLst>
      <p:ext uri="{BB962C8B-B14F-4D97-AF65-F5344CB8AC3E}">
        <p14:creationId xmlns:p14="http://schemas.microsoft.com/office/powerpoint/2010/main" val="2419941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12</a:t>
            </a:fld>
            <a:endParaRPr lang="en-US"/>
          </a:p>
        </p:txBody>
      </p:sp>
    </p:spTree>
    <p:extLst>
      <p:ext uri="{BB962C8B-B14F-4D97-AF65-F5344CB8AC3E}">
        <p14:creationId xmlns:p14="http://schemas.microsoft.com/office/powerpoint/2010/main" val="3202349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13</a:t>
            </a:fld>
            <a:endParaRPr lang="en-US"/>
          </a:p>
        </p:txBody>
      </p:sp>
    </p:spTree>
    <p:extLst>
      <p:ext uri="{BB962C8B-B14F-4D97-AF65-F5344CB8AC3E}">
        <p14:creationId xmlns:p14="http://schemas.microsoft.com/office/powerpoint/2010/main" val="2757549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14</a:t>
            </a:fld>
            <a:endParaRPr lang="en-US"/>
          </a:p>
        </p:txBody>
      </p:sp>
    </p:spTree>
    <p:extLst>
      <p:ext uri="{BB962C8B-B14F-4D97-AF65-F5344CB8AC3E}">
        <p14:creationId xmlns:p14="http://schemas.microsoft.com/office/powerpoint/2010/main" val="4695431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a:t>https://www.analyticsvidhya.com/blog/2021/05/shape-of-data-skewness-and-kurtosis/</a:t>
            </a:r>
          </a:p>
        </p:txBody>
      </p:sp>
      <p:sp>
        <p:nvSpPr>
          <p:cNvPr id="4" name="Slide Number Placeholder 3"/>
          <p:cNvSpPr>
            <a:spLocks noGrp="1"/>
          </p:cNvSpPr>
          <p:nvPr>
            <p:ph type="sldNum" sz="quarter" idx="5"/>
          </p:nvPr>
        </p:nvSpPr>
        <p:spPr/>
        <p:txBody>
          <a:bodyPr/>
          <a:lstStyle/>
          <a:p>
            <a:fld id="{A92FBFAC-26C0-4C3B-B093-BA0504D21126}" type="slidenum">
              <a:rPr lang="en-US" smtClean="0"/>
              <a:t>15</a:t>
            </a:fld>
            <a:endParaRPr lang="en-US"/>
          </a:p>
        </p:txBody>
      </p:sp>
    </p:spTree>
    <p:extLst>
      <p:ext uri="{BB962C8B-B14F-4D97-AF65-F5344CB8AC3E}">
        <p14:creationId xmlns:p14="http://schemas.microsoft.com/office/powerpoint/2010/main" val="2594620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16</a:t>
            </a:fld>
            <a:endParaRPr lang="en-US"/>
          </a:p>
        </p:txBody>
      </p:sp>
    </p:spTree>
    <p:extLst>
      <p:ext uri="{BB962C8B-B14F-4D97-AF65-F5344CB8AC3E}">
        <p14:creationId xmlns:p14="http://schemas.microsoft.com/office/powerpoint/2010/main" val="1285746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Leptokurtic or heavy-tailed distribution (kurtosis more than normal distribution).</a:t>
            </a:r>
          </a:p>
          <a:p>
            <a:r>
              <a:rPr lang="en-US"/>
              <a:t>Mesokurtic (kurtosis same as the normal distribution).</a:t>
            </a:r>
          </a:p>
          <a:p>
            <a:r>
              <a:rPr lang="en-US"/>
              <a:t>Platykurtic or short-tailed distribution (kurtosis less than normal distribution).</a:t>
            </a:r>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17</a:t>
            </a:fld>
            <a:endParaRPr lang="en-US"/>
          </a:p>
        </p:txBody>
      </p:sp>
    </p:spTree>
    <p:extLst>
      <p:ext uri="{BB962C8B-B14F-4D97-AF65-F5344CB8AC3E}">
        <p14:creationId xmlns:p14="http://schemas.microsoft.com/office/powerpoint/2010/main" val="2222013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18</a:t>
            </a:fld>
            <a:endParaRPr lang="en-US"/>
          </a:p>
        </p:txBody>
      </p:sp>
    </p:spTree>
    <p:extLst>
      <p:ext uri="{BB962C8B-B14F-4D97-AF65-F5344CB8AC3E}">
        <p14:creationId xmlns:p14="http://schemas.microsoft.com/office/powerpoint/2010/main" val="3555990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19</a:t>
            </a:fld>
            <a:endParaRPr lang="en-US"/>
          </a:p>
        </p:txBody>
      </p:sp>
    </p:spTree>
    <p:extLst>
      <p:ext uri="{BB962C8B-B14F-4D97-AF65-F5344CB8AC3E}">
        <p14:creationId xmlns:p14="http://schemas.microsoft.com/office/powerpoint/2010/main" val="27829872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20</a:t>
            </a:fld>
            <a:endParaRPr lang="en-US"/>
          </a:p>
        </p:txBody>
      </p:sp>
    </p:spTree>
    <p:extLst>
      <p:ext uri="{BB962C8B-B14F-4D97-AF65-F5344CB8AC3E}">
        <p14:creationId xmlns:p14="http://schemas.microsoft.com/office/powerpoint/2010/main" val="36114950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a:t>https://www.analyticsvidhya.com/blog/2021/05/shape-of-data-skewness-and-kurtosis/</a:t>
            </a:r>
          </a:p>
        </p:txBody>
      </p:sp>
      <p:sp>
        <p:nvSpPr>
          <p:cNvPr id="4" name="Slide Number Placeholder 3"/>
          <p:cNvSpPr>
            <a:spLocks noGrp="1"/>
          </p:cNvSpPr>
          <p:nvPr>
            <p:ph type="sldNum" sz="quarter" idx="5"/>
          </p:nvPr>
        </p:nvSpPr>
        <p:spPr/>
        <p:txBody>
          <a:bodyPr/>
          <a:lstStyle/>
          <a:p>
            <a:fld id="{A92FBFAC-26C0-4C3B-B093-BA0504D21126}" type="slidenum">
              <a:rPr lang="en-US" smtClean="0"/>
              <a:t>21</a:t>
            </a:fld>
            <a:endParaRPr lang="en-US"/>
          </a:p>
        </p:txBody>
      </p:sp>
    </p:spTree>
    <p:extLst>
      <p:ext uri="{BB962C8B-B14F-4D97-AF65-F5344CB8AC3E}">
        <p14:creationId xmlns:p14="http://schemas.microsoft.com/office/powerpoint/2010/main" val="17056577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a:t>https://www.analyticsvidhya.com/blog/2021/05/shape-of-data-skewness-and-kurtosis/</a:t>
            </a:r>
          </a:p>
        </p:txBody>
      </p:sp>
      <p:sp>
        <p:nvSpPr>
          <p:cNvPr id="4" name="Slide Number Placeholder 3"/>
          <p:cNvSpPr>
            <a:spLocks noGrp="1"/>
          </p:cNvSpPr>
          <p:nvPr>
            <p:ph type="sldNum" sz="quarter" idx="5"/>
          </p:nvPr>
        </p:nvSpPr>
        <p:spPr/>
        <p:txBody>
          <a:bodyPr/>
          <a:lstStyle/>
          <a:p>
            <a:fld id="{A92FBFAC-26C0-4C3B-B093-BA0504D21126}" type="slidenum">
              <a:rPr lang="en-US" smtClean="0"/>
              <a:t>22</a:t>
            </a:fld>
            <a:endParaRPr lang="en-US"/>
          </a:p>
        </p:txBody>
      </p:sp>
    </p:spTree>
    <p:extLst>
      <p:ext uri="{BB962C8B-B14F-4D97-AF65-F5344CB8AC3E}">
        <p14:creationId xmlns:p14="http://schemas.microsoft.com/office/powerpoint/2010/main" val="21825921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2FBFAC-26C0-4C3B-B093-BA0504D21126}" type="slidenum">
              <a:rPr lang="en-US" smtClean="0"/>
              <a:t>23</a:t>
            </a:fld>
            <a:endParaRPr lang="en-US"/>
          </a:p>
        </p:txBody>
      </p:sp>
    </p:spTree>
    <p:extLst>
      <p:ext uri="{BB962C8B-B14F-4D97-AF65-F5344CB8AC3E}">
        <p14:creationId xmlns:p14="http://schemas.microsoft.com/office/powerpoint/2010/main" val="17436738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2FBFAC-26C0-4C3B-B093-BA0504D21126}" type="slidenum">
              <a:rPr lang="en-US" smtClean="0"/>
              <a:t>24</a:t>
            </a:fld>
            <a:endParaRPr lang="en-US"/>
          </a:p>
        </p:txBody>
      </p:sp>
    </p:spTree>
    <p:extLst>
      <p:ext uri="{BB962C8B-B14F-4D97-AF65-F5344CB8AC3E}">
        <p14:creationId xmlns:p14="http://schemas.microsoft.com/office/powerpoint/2010/main" val="14289285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2FBFAC-26C0-4C3B-B093-BA0504D21126}" type="slidenum">
              <a:rPr lang="en-US" smtClean="0"/>
              <a:t>25</a:t>
            </a:fld>
            <a:endParaRPr lang="en-US"/>
          </a:p>
        </p:txBody>
      </p:sp>
    </p:spTree>
    <p:extLst>
      <p:ext uri="{BB962C8B-B14F-4D97-AF65-F5344CB8AC3E}">
        <p14:creationId xmlns:p14="http://schemas.microsoft.com/office/powerpoint/2010/main" val="63557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a:t>https://www.analyticsvidhya.com/blog/2021/05/shape-of-data-skewness-and-kurtosis/</a:t>
            </a:r>
          </a:p>
        </p:txBody>
      </p:sp>
      <p:sp>
        <p:nvSpPr>
          <p:cNvPr id="4" name="Slide Number Placeholder 3"/>
          <p:cNvSpPr>
            <a:spLocks noGrp="1"/>
          </p:cNvSpPr>
          <p:nvPr>
            <p:ph type="sldNum" sz="quarter" idx="5"/>
          </p:nvPr>
        </p:nvSpPr>
        <p:spPr/>
        <p:txBody>
          <a:bodyPr/>
          <a:lstStyle/>
          <a:p>
            <a:fld id="{A92FBFAC-26C0-4C3B-B093-BA0504D21126}" type="slidenum">
              <a:rPr lang="en-US" smtClean="0"/>
              <a:t>27</a:t>
            </a:fld>
            <a:endParaRPr lang="en-US"/>
          </a:p>
        </p:txBody>
      </p:sp>
    </p:spTree>
    <p:extLst>
      <p:ext uri="{BB962C8B-B14F-4D97-AF65-F5344CB8AC3E}">
        <p14:creationId xmlns:p14="http://schemas.microsoft.com/office/powerpoint/2010/main" val="20903687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a:t>https://www.slideshare.net/lovelynisha01/inferential-statistics-105742745</a:t>
            </a:r>
          </a:p>
        </p:txBody>
      </p:sp>
      <p:sp>
        <p:nvSpPr>
          <p:cNvPr id="4" name="Slide Number Placeholder 3"/>
          <p:cNvSpPr>
            <a:spLocks noGrp="1"/>
          </p:cNvSpPr>
          <p:nvPr>
            <p:ph type="sldNum" sz="quarter" idx="5"/>
          </p:nvPr>
        </p:nvSpPr>
        <p:spPr/>
        <p:txBody>
          <a:bodyPr/>
          <a:lstStyle/>
          <a:p>
            <a:fld id="{A92FBFAC-26C0-4C3B-B093-BA0504D21126}" type="slidenum">
              <a:rPr lang="en-US" smtClean="0"/>
              <a:t>28</a:t>
            </a:fld>
            <a:endParaRPr lang="en-US"/>
          </a:p>
        </p:txBody>
      </p:sp>
    </p:spTree>
    <p:extLst>
      <p:ext uri="{BB962C8B-B14F-4D97-AF65-F5344CB8AC3E}">
        <p14:creationId xmlns:p14="http://schemas.microsoft.com/office/powerpoint/2010/main" val="38763424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29</a:t>
            </a:fld>
            <a:endParaRPr lang="en-US"/>
          </a:p>
        </p:txBody>
      </p:sp>
    </p:spTree>
    <p:extLst>
      <p:ext uri="{BB962C8B-B14F-4D97-AF65-F5344CB8AC3E}">
        <p14:creationId xmlns:p14="http://schemas.microsoft.com/office/powerpoint/2010/main" val="32173441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a:t>https://www.cuemath.com/data/inferential-statistics/</a:t>
            </a:r>
          </a:p>
        </p:txBody>
      </p:sp>
      <p:sp>
        <p:nvSpPr>
          <p:cNvPr id="4" name="Slide Number Placeholder 3"/>
          <p:cNvSpPr>
            <a:spLocks noGrp="1"/>
          </p:cNvSpPr>
          <p:nvPr>
            <p:ph type="sldNum" sz="quarter" idx="5"/>
          </p:nvPr>
        </p:nvSpPr>
        <p:spPr/>
        <p:txBody>
          <a:bodyPr/>
          <a:lstStyle/>
          <a:p>
            <a:fld id="{A92FBFAC-26C0-4C3B-B093-BA0504D21126}" type="slidenum">
              <a:rPr lang="en-US" smtClean="0"/>
              <a:t>30</a:t>
            </a:fld>
            <a:endParaRPr lang="en-US"/>
          </a:p>
        </p:txBody>
      </p:sp>
    </p:spTree>
    <p:extLst>
      <p:ext uri="{BB962C8B-B14F-4D97-AF65-F5344CB8AC3E}">
        <p14:creationId xmlns:p14="http://schemas.microsoft.com/office/powerpoint/2010/main" val="7277186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32</a:t>
            </a:fld>
            <a:endParaRPr lang="en-US"/>
          </a:p>
        </p:txBody>
      </p:sp>
    </p:spTree>
    <p:extLst>
      <p:ext uri="{BB962C8B-B14F-4D97-AF65-F5344CB8AC3E}">
        <p14:creationId xmlns:p14="http://schemas.microsoft.com/office/powerpoint/2010/main" val="39964347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33</a:t>
            </a:fld>
            <a:endParaRPr lang="en-US"/>
          </a:p>
        </p:txBody>
      </p:sp>
    </p:spTree>
    <p:extLst>
      <p:ext uri="{BB962C8B-B14F-4D97-AF65-F5344CB8AC3E}">
        <p14:creationId xmlns:p14="http://schemas.microsoft.com/office/powerpoint/2010/main" val="19875488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34</a:t>
            </a:fld>
            <a:endParaRPr lang="en-US"/>
          </a:p>
        </p:txBody>
      </p:sp>
    </p:spTree>
    <p:extLst>
      <p:ext uri="{BB962C8B-B14F-4D97-AF65-F5344CB8AC3E}">
        <p14:creationId xmlns:p14="http://schemas.microsoft.com/office/powerpoint/2010/main" val="23755449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35</a:t>
            </a:fld>
            <a:endParaRPr lang="en-US"/>
          </a:p>
        </p:txBody>
      </p:sp>
    </p:spTree>
    <p:extLst>
      <p:ext uri="{BB962C8B-B14F-4D97-AF65-F5344CB8AC3E}">
        <p14:creationId xmlns:p14="http://schemas.microsoft.com/office/powerpoint/2010/main" val="22202469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36</a:t>
            </a:fld>
            <a:endParaRPr lang="en-US"/>
          </a:p>
        </p:txBody>
      </p:sp>
    </p:spTree>
    <p:extLst>
      <p:ext uri="{BB962C8B-B14F-4D97-AF65-F5344CB8AC3E}">
        <p14:creationId xmlns:p14="http://schemas.microsoft.com/office/powerpoint/2010/main" val="1625476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a:t>https://datascience.virginia.edu/news/how-much-do-data-scientists-need-know-about-statistics</a:t>
            </a:r>
          </a:p>
        </p:txBody>
      </p:sp>
      <p:sp>
        <p:nvSpPr>
          <p:cNvPr id="4" name="Slide Number Placeholder 3"/>
          <p:cNvSpPr>
            <a:spLocks noGrp="1"/>
          </p:cNvSpPr>
          <p:nvPr>
            <p:ph type="sldNum" sz="quarter" idx="5"/>
          </p:nvPr>
        </p:nvSpPr>
        <p:spPr/>
        <p:txBody>
          <a:bodyPr/>
          <a:lstStyle/>
          <a:p>
            <a:fld id="{A92FBFAC-26C0-4C3B-B093-BA0504D21126}" type="slidenum">
              <a:rPr lang="en-US" smtClean="0"/>
              <a:t>38</a:t>
            </a:fld>
            <a:endParaRPr lang="en-US"/>
          </a:p>
        </p:txBody>
      </p:sp>
    </p:spTree>
    <p:extLst>
      <p:ext uri="{BB962C8B-B14F-4D97-AF65-F5344CB8AC3E}">
        <p14:creationId xmlns:p14="http://schemas.microsoft.com/office/powerpoint/2010/main" val="30145200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43</a:t>
            </a:fld>
            <a:endParaRPr lang="en-US"/>
          </a:p>
        </p:txBody>
      </p:sp>
    </p:spTree>
    <p:extLst>
      <p:ext uri="{BB962C8B-B14F-4D97-AF65-F5344CB8AC3E}">
        <p14:creationId xmlns:p14="http://schemas.microsoft.com/office/powerpoint/2010/main" val="24199419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44</a:t>
            </a:fld>
            <a:endParaRPr lang="en-US"/>
          </a:p>
        </p:txBody>
      </p:sp>
    </p:spTree>
    <p:extLst>
      <p:ext uri="{BB962C8B-B14F-4D97-AF65-F5344CB8AC3E}">
        <p14:creationId xmlns:p14="http://schemas.microsoft.com/office/powerpoint/2010/main" val="32023494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45</a:t>
            </a:fld>
            <a:endParaRPr lang="en-US"/>
          </a:p>
        </p:txBody>
      </p:sp>
    </p:spTree>
    <p:extLst>
      <p:ext uri="{BB962C8B-B14F-4D97-AF65-F5344CB8AC3E}">
        <p14:creationId xmlns:p14="http://schemas.microsoft.com/office/powerpoint/2010/main" val="27575494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46</a:t>
            </a:fld>
            <a:endParaRPr lang="en-US"/>
          </a:p>
        </p:txBody>
      </p:sp>
    </p:spTree>
    <p:extLst>
      <p:ext uri="{BB962C8B-B14F-4D97-AF65-F5344CB8AC3E}">
        <p14:creationId xmlns:p14="http://schemas.microsoft.com/office/powerpoint/2010/main" val="4695431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a:t>https://www.analyticsvidhya.com/blog/2021/05/shape-of-data-skewness-and-kurtosis/</a:t>
            </a:r>
          </a:p>
        </p:txBody>
      </p:sp>
      <p:sp>
        <p:nvSpPr>
          <p:cNvPr id="4" name="Slide Number Placeholder 3"/>
          <p:cNvSpPr>
            <a:spLocks noGrp="1"/>
          </p:cNvSpPr>
          <p:nvPr>
            <p:ph type="sldNum" sz="quarter" idx="5"/>
          </p:nvPr>
        </p:nvSpPr>
        <p:spPr/>
        <p:txBody>
          <a:bodyPr/>
          <a:lstStyle/>
          <a:p>
            <a:fld id="{A92FBFAC-26C0-4C3B-B093-BA0504D21126}" type="slidenum">
              <a:rPr lang="en-US" smtClean="0"/>
              <a:t>47</a:t>
            </a:fld>
            <a:endParaRPr lang="en-US"/>
          </a:p>
        </p:txBody>
      </p:sp>
    </p:spTree>
    <p:extLst>
      <p:ext uri="{BB962C8B-B14F-4D97-AF65-F5344CB8AC3E}">
        <p14:creationId xmlns:p14="http://schemas.microsoft.com/office/powerpoint/2010/main" val="25946206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48</a:t>
            </a:fld>
            <a:endParaRPr lang="en-US"/>
          </a:p>
        </p:txBody>
      </p:sp>
    </p:spTree>
    <p:extLst>
      <p:ext uri="{BB962C8B-B14F-4D97-AF65-F5344CB8AC3E}">
        <p14:creationId xmlns:p14="http://schemas.microsoft.com/office/powerpoint/2010/main" val="12857462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Leptokurtic or heavy-tailed distribution (kurtosis more than normal distribution).</a:t>
            </a:r>
          </a:p>
          <a:p>
            <a:r>
              <a:rPr lang="en-US"/>
              <a:t>Mesokurtic (kurtosis same as the normal distribution).</a:t>
            </a:r>
          </a:p>
          <a:p>
            <a:r>
              <a:rPr lang="en-US"/>
              <a:t>Platykurtic or short-tailed distribution (kurtosis less than normal distribution).</a:t>
            </a:r>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49</a:t>
            </a:fld>
            <a:endParaRPr lang="en-US"/>
          </a:p>
        </p:txBody>
      </p:sp>
    </p:spTree>
    <p:extLst>
      <p:ext uri="{BB962C8B-B14F-4D97-AF65-F5344CB8AC3E}">
        <p14:creationId xmlns:p14="http://schemas.microsoft.com/office/powerpoint/2010/main" val="22220134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50</a:t>
            </a:fld>
            <a:endParaRPr lang="en-US"/>
          </a:p>
        </p:txBody>
      </p:sp>
    </p:spTree>
    <p:extLst>
      <p:ext uri="{BB962C8B-B14F-4D97-AF65-F5344CB8AC3E}">
        <p14:creationId xmlns:p14="http://schemas.microsoft.com/office/powerpoint/2010/main" val="35559902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51</a:t>
            </a:fld>
            <a:endParaRPr lang="en-US"/>
          </a:p>
        </p:txBody>
      </p:sp>
    </p:spTree>
    <p:extLst>
      <p:ext uri="{BB962C8B-B14F-4D97-AF65-F5344CB8AC3E}">
        <p14:creationId xmlns:p14="http://schemas.microsoft.com/office/powerpoint/2010/main" val="27829872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52</a:t>
            </a:fld>
            <a:endParaRPr lang="en-US"/>
          </a:p>
        </p:txBody>
      </p:sp>
    </p:spTree>
    <p:extLst>
      <p:ext uri="{BB962C8B-B14F-4D97-AF65-F5344CB8AC3E}">
        <p14:creationId xmlns:p14="http://schemas.microsoft.com/office/powerpoint/2010/main" val="36114950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a:t>https://www.analyticsvidhya.com/blog/2021/05/shape-of-data-skewness-and-kurtosis/</a:t>
            </a:r>
          </a:p>
        </p:txBody>
      </p:sp>
      <p:sp>
        <p:nvSpPr>
          <p:cNvPr id="4" name="Slide Number Placeholder 3"/>
          <p:cNvSpPr>
            <a:spLocks noGrp="1"/>
          </p:cNvSpPr>
          <p:nvPr>
            <p:ph type="sldNum" sz="quarter" idx="5"/>
          </p:nvPr>
        </p:nvSpPr>
        <p:spPr/>
        <p:txBody>
          <a:bodyPr/>
          <a:lstStyle/>
          <a:p>
            <a:fld id="{A92FBFAC-26C0-4C3B-B093-BA0504D21126}" type="slidenum">
              <a:rPr lang="en-US" smtClean="0"/>
              <a:t>53</a:t>
            </a:fld>
            <a:endParaRPr lang="en-US"/>
          </a:p>
        </p:txBody>
      </p:sp>
    </p:spTree>
    <p:extLst>
      <p:ext uri="{BB962C8B-B14F-4D97-AF65-F5344CB8AC3E}">
        <p14:creationId xmlns:p14="http://schemas.microsoft.com/office/powerpoint/2010/main" val="17056577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a:t>https://www.analyticsvidhya.com/blog/2021/05/shape-of-data-skewness-and-kurtosis/</a:t>
            </a:r>
          </a:p>
        </p:txBody>
      </p:sp>
      <p:sp>
        <p:nvSpPr>
          <p:cNvPr id="4" name="Slide Number Placeholder 3"/>
          <p:cNvSpPr>
            <a:spLocks noGrp="1"/>
          </p:cNvSpPr>
          <p:nvPr>
            <p:ph type="sldNum" sz="quarter" idx="5"/>
          </p:nvPr>
        </p:nvSpPr>
        <p:spPr/>
        <p:txBody>
          <a:bodyPr/>
          <a:lstStyle/>
          <a:p>
            <a:fld id="{A92FBFAC-26C0-4C3B-B093-BA0504D21126}" type="slidenum">
              <a:rPr lang="en-US" smtClean="0"/>
              <a:t>54</a:t>
            </a:fld>
            <a:endParaRPr lang="en-US"/>
          </a:p>
        </p:txBody>
      </p:sp>
    </p:spTree>
    <p:extLst>
      <p:ext uri="{BB962C8B-B14F-4D97-AF65-F5344CB8AC3E}">
        <p14:creationId xmlns:p14="http://schemas.microsoft.com/office/powerpoint/2010/main" val="21825921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2FBFAC-26C0-4C3B-B093-BA0504D21126}" type="slidenum">
              <a:rPr lang="en-US" smtClean="0"/>
              <a:t>55</a:t>
            </a:fld>
            <a:endParaRPr lang="en-US"/>
          </a:p>
        </p:txBody>
      </p:sp>
    </p:spTree>
    <p:extLst>
      <p:ext uri="{BB962C8B-B14F-4D97-AF65-F5344CB8AC3E}">
        <p14:creationId xmlns:p14="http://schemas.microsoft.com/office/powerpoint/2010/main" val="17436738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2FBFAC-26C0-4C3B-B093-BA0504D21126}" type="slidenum">
              <a:rPr lang="en-US" smtClean="0"/>
              <a:t>56</a:t>
            </a:fld>
            <a:endParaRPr lang="en-US"/>
          </a:p>
        </p:txBody>
      </p:sp>
    </p:spTree>
    <p:extLst>
      <p:ext uri="{BB962C8B-B14F-4D97-AF65-F5344CB8AC3E}">
        <p14:creationId xmlns:p14="http://schemas.microsoft.com/office/powerpoint/2010/main" val="14289285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2FBFAC-26C0-4C3B-B093-BA0504D21126}" type="slidenum">
              <a:rPr lang="en-US" smtClean="0"/>
              <a:t>57</a:t>
            </a:fld>
            <a:endParaRPr lang="en-US"/>
          </a:p>
        </p:txBody>
      </p:sp>
    </p:spTree>
    <p:extLst>
      <p:ext uri="{BB962C8B-B14F-4D97-AF65-F5344CB8AC3E}">
        <p14:creationId xmlns:p14="http://schemas.microsoft.com/office/powerpoint/2010/main" val="635575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a:t>https://www.analyticsvidhya.com/blog/2021/05/shape-of-data-skewness-and-kurtosis/</a:t>
            </a:r>
          </a:p>
        </p:txBody>
      </p:sp>
      <p:sp>
        <p:nvSpPr>
          <p:cNvPr id="4" name="Slide Number Placeholder 3"/>
          <p:cNvSpPr>
            <a:spLocks noGrp="1"/>
          </p:cNvSpPr>
          <p:nvPr>
            <p:ph type="sldNum" sz="quarter" idx="5"/>
          </p:nvPr>
        </p:nvSpPr>
        <p:spPr/>
        <p:txBody>
          <a:bodyPr/>
          <a:lstStyle/>
          <a:p>
            <a:fld id="{A92FBFAC-26C0-4C3B-B093-BA0504D21126}" type="slidenum">
              <a:rPr lang="en-US" smtClean="0"/>
              <a:t>59</a:t>
            </a:fld>
            <a:endParaRPr lang="en-US"/>
          </a:p>
        </p:txBody>
      </p:sp>
    </p:spTree>
    <p:extLst>
      <p:ext uri="{BB962C8B-B14F-4D97-AF65-F5344CB8AC3E}">
        <p14:creationId xmlns:p14="http://schemas.microsoft.com/office/powerpoint/2010/main" val="20903687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a:t>https://www.slideshare.net/lovelynisha01/inferential-statistics-105742745</a:t>
            </a:r>
          </a:p>
        </p:txBody>
      </p:sp>
      <p:sp>
        <p:nvSpPr>
          <p:cNvPr id="4" name="Slide Number Placeholder 3"/>
          <p:cNvSpPr>
            <a:spLocks noGrp="1"/>
          </p:cNvSpPr>
          <p:nvPr>
            <p:ph type="sldNum" sz="quarter" idx="5"/>
          </p:nvPr>
        </p:nvSpPr>
        <p:spPr/>
        <p:txBody>
          <a:bodyPr/>
          <a:lstStyle/>
          <a:p>
            <a:fld id="{A92FBFAC-26C0-4C3B-B093-BA0504D21126}" type="slidenum">
              <a:rPr lang="en-US" smtClean="0"/>
              <a:t>60</a:t>
            </a:fld>
            <a:endParaRPr lang="en-US"/>
          </a:p>
        </p:txBody>
      </p:sp>
    </p:spTree>
    <p:extLst>
      <p:ext uri="{BB962C8B-B14F-4D97-AF65-F5344CB8AC3E}">
        <p14:creationId xmlns:p14="http://schemas.microsoft.com/office/powerpoint/2010/main" val="38763424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61</a:t>
            </a:fld>
            <a:endParaRPr lang="en-US"/>
          </a:p>
        </p:txBody>
      </p:sp>
    </p:spTree>
    <p:extLst>
      <p:ext uri="{BB962C8B-B14F-4D97-AF65-F5344CB8AC3E}">
        <p14:creationId xmlns:p14="http://schemas.microsoft.com/office/powerpoint/2010/main" val="32173441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a:t>https://www.cuemath.com/data/inferential-statistics/</a:t>
            </a:r>
          </a:p>
        </p:txBody>
      </p:sp>
      <p:sp>
        <p:nvSpPr>
          <p:cNvPr id="4" name="Slide Number Placeholder 3"/>
          <p:cNvSpPr>
            <a:spLocks noGrp="1"/>
          </p:cNvSpPr>
          <p:nvPr>
            <p:ph type="sldNum" sz="quarter" idx="5"/>
          </p:nvPr>
        </p:nvSpPr>
        <p:spPr/>
        <p:txBody>
          <a:bodyPr/>
          <a:lstStyle/>
          <a:p>
            <a:fld id="{A92FBFAC-26C0-4C3B-B093-BA0504D21126}" type="slidenum">
              <a:rPr lang="en-US" smtClean="0"/>
              <a:t>62</a:t>
            </a:fld>
            <a:endParaRPr lang="en-US"/>
          </a:p>
        </p:txBody>
      </p:sp>
    </p:spTree>
    <p:extLst>
      <p:ext uri="{BB962C8B-B14F-4D97-AF65-F5344CB8AC3E}">
        <p14:creationId xmlns:p14="http://schemas.microsoft.com/office/powerpoint/2010/main" val="7277186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64</a:t>
            </a:fld>
            <a:endParaRPr lang="en-US"/>
          </a:p>
        </p:txBody>
      </p:sp>
    </p:spTree>
    <p:extLst>
      <p:ext uri="{BB962C8B-B14F-4D97-AF65-F5344CB8AC3E}">
        <p14:creationId xmlns:p14="http://schemas.microsoft.com/office/powerpoint/2010/main" val="39964347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65</a:t>
            </a:fld>
            <a:endParaRPr lang="en-US"/>
          </a:p>
        </p:txBody>
      </p:sp>
    </p:spTree>
    <p:extLst>
      <p:ext uri="{BB962C8B-B14F-4D97-AF65-F5344CB8AC3E}">
        <p14:creationId xmlns:p14="http://schemas.microsoft.com/office/powerpoint/2010/main" val="19875488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66</a:t>
            </a:fld>
            <a:endParaRPr lang="en-US"/>
          </a:p>
        </p:txBody>
      </p:sp>
    </p:spTree>
    <p:extLst>
      <p:ext uri="{BB962C8B-B14F-4D97-AF65-F5344CB8AC3E}">
        <p14:creationId xmlns:p14="http://schemas.microsoft.com/office/powerpoint/2010/main" val="23755449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67</a:t>
            </a:fld>
            <a:endParaRPr lang="en-US"/>
          </a:p>
        </p:txBody>
      </p:sp>
    </p:spTree>
    <p:extLst>
      <p:ext uri="{BB962C8B-B14F-4D97-AF65-F5344CB8AC3E}">
        <p14:creationId xmlns:p14="http://schemas.microsoft.com/office/powerpoint/2010/main" val="22202469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68</a:t>
            </a:fld>
            <a:endParaRPr lang="en-US"/>
          </a:p>
        </p:txBody>
      </p:sp>
    </p:spTree>
    <p:extLst>
      <p:ext uri="{BB962C8B-B14F-4D97-AF65-F5344CB8AC3E}">
        <p14:creationId xmlns:p14="http://schemas.microsoft.com/office/powerpoint/2010/main" val="1625476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A92FBFAC-26C0-4C3B-B093-BA0504D21126}" type="slidenum">
              <a:rPr lang="en-US" smtClean="0"/>
              <a:t>69</a:t>
            </a:fld>
            <a:endParaRPr lang="en-US"/>
          </a:p>
        </p:txBody>
      </p:sp>
    </p:spTree>
    <p:extLst>
      <p:ext uri="{BB962C8B-B14F-4D97-AF65-F5344CB8AC3E}">
        <p14:creationId xmlns:p14="http://schemas.microsoft.com/office/powerpoint/2010/main" val="39016579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C52FFAF-207C-AFF3-D326-648E3ACAEC41}"/>
              </a:ext>
            </a:extLst>
          </p:cNvPr>
          <p:cNvSpPr/>
          <p:nvPr userDrawn="1"/>
        </p:nvSpPr>
        <p:spPr>
          <a:xfrm>
            <a:off x="6000278" y="0"/>
            <a:ext cx="6191722" cy="6858000"/>
          </a:xfrm>
          <a:prstGeom prst="rect">
            <a:avLst/>
          </a:prstGeom>
          <a:solidFill>
            <a:srgbClr val="7200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63CA03-8DE8-E573-91D6-732A81C7EF5B}"/>
              </a:ext>
            </a:extLst>
          </p:cNvPr>
          <p:cNvSpPr>
            <a:spLocks noGrp="1"/>
          </p:cNvSpPr>
          <p:nvPr>
            <p:ph type="title" hasCustomPrompt="1"/>
          </p:nvPr>
        </p:nvSpPr>
        <p:spPr>
          <a:xfrm>
            <a:off x="696685" y="3540015"/>
            <a:ext cx="3363506" cy="1775902"/>
          </a:xfrm>
        </p:spPr>
        <p:txBody>
          <a:bodyPr anchor="t">
            <a:normAutofit/>
          </a:bodyPr>
          <a:lstStyle>
            <a:lvl1pPr>
              <a:defRPr sz="4000" b="1">
                <a:solidFill>
                  <a:srgbClr val="720062"/>
                </a:solidFill>
                <a:latin typeface="Arial" panose="020B0604020202020204" pitchFamily="34" charset="0"/>
                <a:cs typeface="Arial" panose="020B0604020202020204" pitchFamily="34" charset="0"/>
              </a:defRPr>
            </a:lvl1pPr>
          </a:lstStyle>
          <a:p>
            <a:r>
              <a:rPr lang="en-US"/>
              <a:t>Presentation/Slide Title</a:t>
            </a:r>
          </a:p>
        </p:txBody>
      </p:sp>
      <p:sp>
        <p:nvSpPr>
          <p:cNvPr id="4" name="Date Placeholder 3">
            <a:extLst>
              <a:ext uri="{FF2B5EF4-FFF2-40B4-BE49-F238E27FC236}">
                <a16:creationId xmlns:a16="http://schemas.microsoft.com/office/drawing/2014/main" id="{AD9B3E44-D4AE-AA15-8EC1-593140BE6F22}"/>
              </a:ext>
            </a:extLst>
          </p:cNvPr>
          <p:cNvSpPr>
            <a:spLocks noGrp="1"/>
          </p:cNvSpPr>
          <p:nvPr>
            <p:ph type="dt" sz="half" idx="10"/>
          </p:nvPr>
        </p:nvSpPr>
        <p:spPr>
          <a:xfrm>
            <a:off x="696685" y="5843650"/>
            <a:ext cx="2743200" cy="365125"/>
          </a:xfrm>
        </p:spPr>
        <p:txBody>
          <a:bodyPr/>
          <a:lstStyle>
            <a:lvl1pPr>
              <a:defRPr>
                <a:solidFill>
                  <a:schemeClr val="tx1"/>
                </a:solidFill>
              </a:defRPr>
            </a:lvl1pPr>
          </a:lstStyle>
          <a:p>
            <a:fld id="{97289A7E-4CB9-7648-AAC2-91454732A4A6}" type="datetime1">
              <a:rPr lang="en-US" smtClean="0"/>
              <a:t>9/12/2025</a:t>
            </a:fld>
            <a:endParaRPr lang="en-US"/>
          </a:p>
        </p:txBody>
      </p:sp>
      <p:sp>
        <p:nvSpPr>
          <p:cNvPr id="6" name="Slide Number Placeholder 5">
            <a:extLst>
              <a:ext uri="{FF2B5EF4-FFF2-40B4-BE49-F238E27FC236}">
                <a16:creationId xmlns:a16="http://schemas.microsoft.com/office/drawing/2014/main" id="{E8C25C88-865A-F705-C87B-22F0E82F3638}"/>
              </a:ext>
            </a:extLst>
          </p:cNvPr>
          <p:cNvSpPr>
            <a:spLocks noGrp="1"/>
          </p:cNvSpPr>
          <p:nvPr>
            <p:ph type="sldNum" sz="quarter" idx="12"/>
          </p:nvPr>
        </p:nvSpPr>
        <p:spPr>
          <a:xfrm>
            <a:off x="8610600" y="5843650"/>
            <a:ext cx="2743200" cy="365125"/>
          </a:xfrm>
        </p:spPr>
        <p:txBody>
          <a:bodyPr/>
          <a:lstStyle>
            <a:lvl1pPr>
              <a:defRPr>
                <a:solidFill>
                  <a:schemeClr val="bg1"/>
                </a:solidFill>
                <a:latin typeface="Arial" panose="020B0604020202020204" pitchFamily="34" charset="0"/>
                <a:cs typeface="Arial" panose="020B0604020202020204" pitchFamily="34" charset="0"/>
              </a:defRPr>
            </a:lvl1pPr>
          </a:lstStyle>
          <a:p>
            <a:r>
              <a:rPr lang="en-US"/>
              <a:t>Page Number</a:t>
            </a:r>
          </a:p>
        </p:txBody>
      </p:sp>
      <p:pic>
        <p:nvPicPr>
          <p:cNvPr id="10" name="Picture 9">
            <a:extLst>
              <a:ext uri="{FF2B5EF4-FFF2-40B4-BE49-F238E27FC236}">
                <a16:creationId xmlns:a16="http://schemas.microsoft.com/office/drawing/2014/main" id="{EE51B001-4EF6-523A-B965-41FD30B900D2}"/>
              </a:ext>
            </a:extLst>
          </p:cNvPr>
          <p:cNvPicPr>
            <a:picLocks noChangeAspect="1"/>
          </p:cNvPicPr>
          <p:nvPr userDrawn="1"/>
        </p:nvPicPr>
        <p:blipFill>
          <a:blip r:embed="rId2"/>
          <a:stretch>
            <a:fillRect/>
          </a:stretch>
        </p:blipFill>
        <p:spPr>
          <a:xfrm>
            <a:off x="696685" y="649224"/>
            <a:ext cx="1066170" cy="390743"/>
          </a:xfrm>
          <a:prstGeom prst="rect">
            <a:avLst/>
          </a:prstGeom>
        </p:spPr>
      </p:pic>
    </p:spTree>
    <p:extLst>
      <p:ext uri="{BB962C8B-B14F-4D97-AF65-F5344CB8AC3E}">
        <p14:creationId xmlns:p14="http://schemas.microsoft.com/office/powerpoint/2010/main" val="4260077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4FFC2-52A7-4C66-9F39-FB6E0B4E6E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3D6EFFD-97FE-1FB6-6D78-DC8D9FE1CC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0246B9-CC1E-6DFA-D835-FDDA09D1EB0B}"/>
              </a:ext>
            </a:extLst>
          </p:cNvPr>
          <p:cNvSpPr>
            <a:spLocks noGrp="1"/>
          </p:cNvSpPr>
          <p:nvPr>
            <p:ph type="dt" sz="half" idx="10"/>
          </p:nvPr>
        </p:nvSpPr>
        <p:spPr/>
        <p:txBody>
          <a:bodyPr/>
          <a:lstStyle/>
          <a:p>
            <a:fld id="{73E22E7A-DAD9-F14E-88BA-5E79836D346E}" type="datetime1">
              <a:rPr lang="en-US" smtClean="0"/>
              <a:t>9/12/2025</a:t>
            </a:fld>
            <a:endParaRPr lang="en-US"/>
          </a:p>
        </p:txBody>
      </p:sp>
      <p:sp>
        <p:nvSpPr>
          <p:cNvPr id="5" name="Footer Placeholder 4">
            <a:extLst>
              <a:ext uri="{FF2B5EF4-FFF2-40B4-BE49-F238E27FC236}">
                <a16:creationId xmlns:a16="http://schemas.microsoft.com/office/drawing/2014/main" id="{AA577421-98D0-E0AB-C77B-903E9490AF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3AD684-CF18-A0A1-E4C0-AC001BF73DE2}"/>
              </a:ext>
            </a:extLst>
          </p:cNvPr>
          <p:cNvSpPr>
            <a:spLocks noGrp="1"/>
          </p:cNvSpPr>
          <p:nvPr>
            <p:ph type="sldNum" sz="quarter" idx="12"/>
          </p:nvPr>
        </p:nvSpPr>
        <p:spPr/>
        <p:txBody>
          <a:bodyPr/>
          <a:lstStyle/>
          <a:p>
            <a:fld id="{91B74589-0D09-D145-BB48-584242E5F840}" type="slidenum">
              <a:rPr lang="en-US" smtClean="0"/>
              <a:t>‹#›</a:t>
            </a:fld>
            <a:endParaRPr lang="en-US"/>
          </a:p>
        </p:txBody>
      </p:sp>
    </p:spTree>
    <p:extLst>
      <p:ext uri="{BB962C8B-B14F-4D97-AF65-F5344CB8AC3E}">
        <p14:creationId xmlns:p14="http://schemas.microsoft.com/office/powerpoint/2010/main" val="4161410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564BE-2780-0B40-E2D4-475340EABA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756867-A756-1F5B-0B1E-143440E65D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2577E1-9440-D12F-9CD2-41CEABAC8E6C}"/>
              </a:ext>
            </a:extLst>
          </p:cNvPr>
          <p:cNvSpPr>
            <a:spLocks noGrp="1"/>
          </p:cNvSpPr>
          <p:nvPr>
            <p:ph type="dt" sz="half" idx="10"/>
          </p:nvPr>
        </p:nvSpPr>
        <p:spPr>
          <a:xfrm>
            <a:off x="838200" y="6176963"/>
            <a:ext cx="2743200" cy="365125"/>
          </a:xfrm>
        </p:spPr>
        <p:txBody>
          <a:bodyPr/>
          <a:lstStyle/>
          <a:p>
            <a:fld id="{7D39319C-09DB-0242-919D-D0AC73AE989D}" type="datetime1">
              <a:rPr lang="en-US" smtClean="0"/>
              <a:t>9/12/2025</a:t>
            </a:fld>
            <a:endParaRPr lang="en-US"/>
          </a:p>
        </p:txBody>
      </p:sp>
      <p:sp>
        <p:nvSpPr>
          <p:cNvPr id="5" name="Footer Placeholder 4">
            <a:extLst>
              <a:ext uri="{FF2B5EF4-FFF2-40B4-BE49-F238E27FC236}">
                <a16:creationId xmlns:a16="http://schemas.microsoft.com/office/drawing/2014/main" id="{FABE5EED-5ED1-FBAF-2FFE-9F1BB1AA32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F77189-F381-7EBE-B963-BEF2CCE51715}"/>
              </a:ext>
            </a:extLst>
          </p:cNvPr>
          <p:cNvSpPr>
            <a:spLocks noGrp="1"/>
          </p:cNvSpPr>
          <p:nvPr>
            <p:ph type="sldNum" sz="quarter" idx="12"/>
          </p:nvPr>
        </p:nvSpPr>
        <p:spPr/>
        <p:txBody>
          <a:bodyPr/>
          <a:lstStyle/>
          <a:p>
            <a:fld id="{91B74589-0D09-D145-BB48-584242E5F840}" type="slidenum">
              <a:rPr lang="en-US" smtClean="0"/>
              <a:t>‹#›</a:t>
            </a:fld>
            <a:endParaRPr lang="en-US"/>
          </a:p>
        </p:txBody>
      </p:sp>
    </p:spTree>
    <p:extLst>
      <p:ext uri="{BB962C8B-B14F-4D97-AF65-F5344CB8AC3E}">
        <p14:creationId xmlns:p14="http://schemas.microsoft.com/office/powerpoint/2010/main" val="379481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BABB2-4883-B9A4-EBF4-DBCBD21129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003945-BE2B-3DA4-FB3D-DE0F853304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D7F92C-2824-CC7A-A558-507052C789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3A73B10-A982-0288-3501-B349B65523C8}"/>
              </a:ext>
            </a:extLst>
          </p:cNvPr>
          <p:cNvSpPr>
            <a:spLocks noGrp="1"/>
          </p:cNvSpPr>
          <p:nvPr>
            <p:ph type="dt" sz="half" idx="10"/>
          </p:nvPr>
        </p:nvSpPr>
        <p:spPr/>
        <p:txBody>
          <a:bodyPr/>
          <a:lstStyle/>
          <a:p>
            <a:fld id="{D343134A-2431-C442-8553-E25D61AA9B8E}" type="datetime1">
              <a:rPr lang="en-US" smtClean="0"/>
              <a:t>9/12/2025</a:t>
            </a:fld>
            <a:endParaRPr lang="en-US"/>
          </a:p>
        </p:txBody>
      </p:sp>
      <p:sp>
        <p:nvSpPr>
          <p:cNvPr id="6" name="Footer Placeholder 5">
            <a:extLst>
              <a:ext uri="{FF2B5EF4-FFF2-40B4-BE49-F238E27FC236}">
                <a16:creationId xmlns:a16="http://schemas.microsoft.com/office/drawing/2014/main" id="{4C47D0C7-0615-3E88-0017-125E6DC3E8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4A73EA-2FAC-116B-1510-12B5AA59C600}"/>
              </a:ext>
            </a:extLst>
          </p:cNvPr>
          <p:cNvSpPr>
            <a:spLocks noGrp="1"/>
          </p:cNvSpPr>
          <p:nvPr>
            <p:ph type="sldNum" sz="quarter" idx="12"/>
          </p:nvPr>
        </p:nvSpPr>
        <p:spPr/>
        <p:txBody>
          <a:bodyPr/>
          <a:lstStyle/>
          <a:p>
            <a:fld id="{91B74589-0D09-D145-BB48-584242E5F840}" type="slidenum">
              <a:rPr lang="en-US" smtClean="0"/>
              <a:t>‹#›</a:t>
            </a:fld>
            <a:endParaRPr lang="en-US"/>
          </a:p>
        </p:txBody>
      </p:sp>
    </p:spTree>
    <p:extLst>
      <p:ext uri="{BB962C8B-B14F-4D97-AF65-F5344CB8AC3E}">
        <p14:creationId xmlns:p14="http://schemas.microsoft.com/office/powerpoint/2010/main" val="2033862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FFED1-E81A-D897-06DE-06AD982429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87B90A4-7047-445C-0872-55706B9F3F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42C9DB-F986-CCB0-A627-6BFA38568A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7479796-FFAC-8EC5-6B13-14153558F5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DE661D-1D73-1CD7-43CE-9E30CC967F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DB144A-8F9F-E39C-5BA5-2D4943D04828}"/>
              </a:ext>
            </a:extLst>
          </p:cNvPr>
          <p:cNvSpPr>
            <a:spLocks noGrp="1"/>
          </p:cNvSpPr>
          <p:nvPr>
            <p:ph type="dt" sz="half" idx="10"/>
          </p:nvPr>
        </p:nvSpPr>
        <p:spPr/>
        <p:txBody>
          <a:bodyPr/>
          <a:lstStyle/>
          <a:p>
            <a:fld id="{C2C9CF0D-124A-4044-960C-29CB56262085}" type="datetime1">
              <a:rPr lang="en-US" smtClean="0"/>
              <a:t>9/12/2025</a:t>
            </a:fld>
            <a:endParaRPr lang="en-US"/>
          </a:p>
        </p:txBody>
      </p:sp>
      <p:sp>
        <p:nvSpPr>
          <p:cNvPr id="8" name="Footer Placeholder 7">
            <a:extLst>
              <a:ext uri="{FF2B5EF4-FFF2-40B4-BE49-F238E27FC236}">
                <a16:creationId xmlns:a16="http://schemas.microsoft.com/office/drawing/2014/main" id="{0A8487C3-284F-B890-803D-6AC5BDD370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717EE7-790F-6504-1123-D0B8152D4AD8}"/>
              </a:ext>
            </a:extLst>
          </p:cNvPr>
          <p:cNvSpPr>
            <a:spLocks noGrp="1"/>
          </p:cNvSpPr>
          <p:nvPr>
            <p:ph type="sldNum" sz="quarter" idx="12"/>
          </p:nvPr>
        </p:nvSpPr>
        <p:spPr/>
        <p:txBody>
          <a:bodyPr/>
          <a:lstStyle/>
          <a:p>
            <a:fld id="{91B74589-0D09-D145-BB48-584242E5F840}" type="slidenum">
              <a:rPr lang="en-US" smtClean="0"/>
              <a:t>‹#›</a:t>
            </a:fld>
            <a:endParaRPr lang="en-US"/>
          </a:p>
        </p:txBody>
      </p:sp>
    </p:spTree>
    <p:extLst>
      <p:ext uri="{BB962C8B-B14F-4D97-AF65-F5344CB8AC3E}">
        <p14:creationId xmlns:p14="http://schemas.microsoft.com/office/powerpoint/2010/main" val="536949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AAAFC-C5FF-A43A-40C0-E2919020A7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157836-392C-1EA4-2D2D-5ACC1EEA2689}"/>
              </a:ext>
            </a:extLst>
          </p:cNvPr>
          <p:cNvSpPr>
            <a:spLocks noGrp="1"/>
          </p:cNvSpPr>
          <p:nvPr>
            <p:ph type="dt" sz="half" idx="10"/>
          </p:nvPr>
        </p:nvSpPr>
        <p:spPr/>
        <p:txBody>
          <a:bodyPr/>
          <a:lstStyle/>
          <a:p>
            <a:fld id="{4FC0E6C4-53D9-D54F-AFFF-6B93C354C77E}" type="datetime1">
              <a:rPr lang="en-US" smtClean="0"/>
              <a:t>9/12/2025</a:t>
            </a:fld>
            <a:endParaRPr lang="en-US"/>
          </a:p>
        </p:txBody>
      </p:sp>
      <p:sp>
        <p:nvSpPr>
          <p:cNvPr id="4" name="Footer Placeholder 3">
            <a:extLst>
              <a:ext uri="{FF2B5EF4-FFF2-40B4-BE49-F238E27FC236}">
                <a16:creationId xmlns:a16="http://schemas.microsoft.com/office/drawing/2014/main" id="{FD09FCC1-4AF8-CFFE-8190-49D6D9B5E9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4DC8EAB-9E5F-2AAF-D814-B7ECFDCE8CEC}"/>
              </a:ext>
            </a:extLst>
          </p:cNvPr>
          <p:cNvSpPr>
            <a:spLocks noGrp="1"/>
          </p:cNvSpPr>
          <p:nvPr>
            <p:ph type="sldNum" sz="quarter" idx="12"/>
          </p:nvPr>
        </p:nvSpPr>
        <p:spPr/>
        <p:txBody>
          <a:bodyPr/>
          <a:lstStyle/>
          <a:p>
            <a:fld id="{91B74589-0D09-D145-BB48-584242E5F840}" type="slidenum">
              <a:rPr lang="en-US" smtClean="0"/>
              <a:t>‹#›</a:t>
            </a:fld>
            <a:endParaRPr lang="en-US"/>
          </a:p>
        </p:txBody>
      </p:sp>
    </p:spTree>
    <p:extLst>
      <p:ext uri="{BB962C8B-B14F-4D97-AF65-F5344CB8AC3E}">
        <p14:creationId xmlns:p14="http://schemas.microsoft.com/office/powerpoint/2010/main" val="744139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E6F232-C18B-B8EC-73B6-2EF525F9275F}"/>
              </a:ext>
            </a:extLst>
          </p:cNvPr>
          <p:cNvSpPr>
            <a:spLocks noGrp="1"/>
          </p:cNvSpPr>
          <p:nvPr>
            <p:ph type="dt" sz="half" idx="10"/>
          </p:nvPr>
        </p:nvSpPr>
        <p:spPr/>
        <p:txBody>
          <a:bodyPr/>
          <a:lstStyle/>
          <a:p>
            <a:fld id="{3E64B507-F7C7-6746-89FF-599635BB54A6}" type="datetime1">
              <a:rPr lang="en-US" smtClean="0"/>
              <a:t>9/12/2025</a:t>
            </a:fld>
            <a:endParaRPr lang="en-US"/>
          </a:p>
        </p:txBody>
      </p:sp>
      <p:sp>
        <p:nvSpPr>
          <p:cNvPr id="3" name="Footer Placeholder 2">
            <a:extLst>
              <a:ext uri="{FF2B5EF4-FFF2-40B4-BE49-F238E27FC236}">
                <a16:creationId xmlns:a16="http://schemas.microsoft.com/office/drawing/2014/main" id="{41890D1E-0FA5-614C-99B8-DD0064963F4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A5FEE1-3CD1-0F7D-C77E-43ECBB7FCB65}"/>
              </a:ext>
            </a:extLst>
          </p:cNvPr>
          <p:cNvSpPr>
            <a:spLocks noGrp="1"/>
          </p:cNvSpPr>
          <p:nvPr>
            <p:ph type="sldNum" sz="quarter" idx="12"/>
          </p:nvPr>
        </p:nvSpPr>
        <p:spPr/>
        <p:txBody>
          <a:bodyPr/>
          <a:lstStyle/>
          <a:p>
            <a:fld id="{91B74589-0D09-D145-BB48-584242E5F840}" type="slidenum">
              <a:rPr lang="en-US" smtClean="0"/>
              <a:t>‹#›</a:t>
            </a:fld>
            <a:endParaRPr lang="en-US"/>
          </a:p>
        </p:txBody>
      </p:sp>
    </p:spTree>
    <p:extLst>
      <p:ext uri="{BB962C8B-B14F-4D97-AF65-F5344CB8AC3E}">
        <p14:creationId xmlns:p14="http://schemas.microsoft.com/office/powerpoint/2010/main" val="2960780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BA80F-51F9-99A6-9959-4B4C443E9F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824A6FA-65E7-B39D-27D4-872F777521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96EF0E-9118-37A2-401A-1D685C91A9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0FD68B-8642-39F5-F5CB-1F9CC9264A19}"/>
              </a:ext>
            </a:extLst>
          </p:cNvPr>
          <p:cNvSpPr>
            <a:spLocks noGrp="1"/>
          </p:cNvSpPr>
          <p:nvPr>
            <p:ph type="dt" sz="half" idx="10"/>
          </p:nvPr>
        </p:nvSpPr>
        <p:spPr/>
        <p:txBody>
          <a:bodyPr/>
          <a:lstStyle/>
          <a:p>
            <a:fld id="{34C21C91-0181-C946-A1EC-7C6BCC75E277}" type="datetime1">
              <a:rPr lang="en-US" smtClean="0"/>
              <a:t>9/12/2025</a:t>
            </a:fld>
            <a:endParaRPr lang="en-US"/>
          </a:p>
        </p:txBody>
      </p:sp>
      <p:sp>
        <p:nvSpPr>
          <p:cNvPr id="6" name="Footer Placeholder 5">
            <a:extLst>
              <a:ext uri="{FF2B5EF4-FFF2-40B4-BE49-F238E27FC236}">
                <a16:creationId xmlns:a16="http://schemas.microsoft.com/office/drawing/2014/main" id="{9D530B20-3134-DC53-8B59-D6D857B227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6FBF9A-A8AB-F89F-DAA6-EC8E35B5CB12}"/>
              </a:ext>
            </a:extLst>
          </p:cNvPr>
          <p:cNvSpPr>
            <a:spLocks noGrp="1"/>
          </p:cNvSpPr>
          <p:nvPr>
            <p:ph type="sldNum" sz="quarter" idx="12"/>
          </p:nvPr>
        </p:nvSpPr>
        <p:spPr/>
        <p:txBody>
          <a:bodyPr/>
          <a:lstStyle/>
          <a:p>
            <a:fld id="{91B74589-0D09-D145-BB48-584242E5F840}" type="slidenum">
              <a:rPr lang="en-US" smtClean="0"/>
              <a:t>‹#›</a:t>
            </a:fld>
            <a:endParaRPr lang="en-US"/>
          </a:p>
        </p:txBody>
      </p:sp>
    </p:spTree>
    <p:extLst>
      <p:ext uri="{BB962C8B-B14F-4D97-AF65-F5344CB8AC3E}">
        <p14:creationId xmlns:p14="http://schemas.microsoft.com/office/powerpoint/2010/main" val="3278033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F6D52-75CC-5A39-F881-FFE2407961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34ACDFB-E872-3D8C-0F33-C87E0F38CF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B95D64-16F0-BBEE-031B-57EA42CAF8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7E14F6-CD1F-DAD9-569C-07AD7ACEB0EF}"/>
              </a:ext>
            </a:extLst>
          </p:cNvPr>
          <p:cNvSpPr>
            <a:spLocks noGrp="1"/>
          </p:cNvSpPr>
          <p:nvPr>
            <p:ph type="dt" sz="half" idx="10"/>
          </p:nvPr>
        </p:nvSpPr>
        <p:spPr/>
        <p:txBody>
          <a:bodyPr/>
          <a:lstStyle/>
          <a:p>
            <a:fld id="{784035B3-F62D-DC4A-A252-E81F7B46D3BC}" type="datetime1">
              <a:rPr lang="en-US" smtClean="0"/>
              <a:t>9/12/2025</a:t>
            </a:fld>
            <a:endParaRPr lang="en-US"/>
          </a:p>
        </p:txBody>
      </p:sp>
      <p:sp>
        <p:nvSpPr>
          <p:cNvPr id="6" name="Footer Placeholder 5">
            <a:extLst>
              <a:ext uri="{FF2B5EF4-FFF2-40B4-BE49-F238E27FC236}">
                <a16:creationId xmlns:a16="http://schemas.microsoft.com/office/drawing/2014/main" id="{D6D77B0C-613A-CEAE-B05B-604BE07F4A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379B0B-1E62-5A88-0487-0BB6AD7DA707}"/>
              </a:ext>
            </a:extLst>
          </p:cNvPr>
          <p:cNvSpPr>
            <a:spLocks noGrp="1"/>
          </p:cNvSpPr>
          <p:nvPr>
            <p:ph type="sldNum" sz="quarter" idx="12"/>
          </p:nvPr>
        </p:nvSpPr>
        <p:spPr/>
        <p:txBody>
          <a:bodyPr/>
          <a:lstStyle/>
          <a:p>
            <a:fld id="{91B74589-0D09-D145-BB48-584242E5F840}" type="slidenum">
              <a:rPr lang="en-US" smtClean="0"/>
              <a:t>‹#›</a:t>
            </a:fld>
            <a:endParaRPr lang="en-US"/>
          </a:p>
        </p:txBody>
      </p:sp>
    </p:spTree>
    <p:extLst>
      <p:ext uri="{BB962C8B-B14F-4D97-AF65-F5344CB8AC3E}">
        <p14:creationId xmlns:p14="http://schemas.microsoft.com/office/powerpoint/2010/main" val="2362419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CEEC4-C592-A6CB-FB2E-332CA0D11D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F5EF87F-BB1E-A22B-CFC9-D7F253734D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709DBB-0815-CFD5-0369-C167AA3624F5}"/>
              </a:ext>
            </a:extLst>
          </p:cNvPr>
          <p:cNvSpPr>
            <a:spLocks noGrp="1"/>
          </p:cNvSpPr>
          <p:nvPr>
            <p:ph type="dt" sz="half" idx="10"/>
          </p:nvPr>
        </p:nvSpPr>
        <p:spPr/>
        <p:txBody>
          <a:bodyPr/>
          <a:lstStyle/>
          <a:p>
            <a:fld id="{42AED636-68C9-F143-87F6-3ED616BEAB91}" type="datetime1">
              <a:rPr lang="en-US" smtClean="0"/>
              <a:t>9/12/2025</a:t>
            </a:fld>
            <a:endParaRPr lang="en-US"/>
          </a:p>
        </p:txBody>
      </p:sp>
      <p:sp>
        <p:nvSpPr>
          <p:cNvPr id="5" name="Footer Placeholder 4">
            <a:extLst>
              <a:ext uri="{FF2B5EF4-FFF2-40B4-BE49-F238E27FC236}">
                <a16:creationId xmlns:a16="http://schemas.microsoft.com/office/drawing/2014/main" id="{56FF8024-B8DB-D6EF-CB08-E2BBAFEB9C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46E9EF-A1AC-0EE1-543A-1DEEF4356806}"/>
              </a:ext>
            </a:extLst>
          </p:cNvPr>
          <p:cNvSpPr>
            <a:spLocks noGrp="1"/>
          </p:cNvSpPr>
          <p:nvPr>
            <p:ph type="sldNum" sz="quarter" idx="12"/>
          </p:nvPr>
        </p:nvSpPr>
        <p:spPr/>
        <p:txBody>
          <a:bodyPr/>
          <a:lstStyle/>
          <a:p>
            <a:fld id="{91B74589-0D09-D145-BB48-584242E5F840}" type="slidenum">
              <a:rPr lang="en-US" smtClean="0"/>
              <a:t>‹#›</a:t>
            </a:fld>
            <a:endParaRPr lang="en-US"/>
          </a:p>
        </p:txBody>
      </p:sp>
    </p:spTree>
    <p:extLst>
      <p:ext uri="{BB962C8B-B14F-4D97-AF65-F5344CB8AC3E}">
        <p14:creationId xmlns:p14="http://schemas.microsoft.com/office/powerpoint/2010/main" val="2070437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89A2A1-709F-4378-96F6-38DEB4CBFE4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59C1BC0-CF9B-07FF-7DF1-6EE684687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899FC6-DE47-AFEF-83E0-1D58B5EC22F5}"/>
              </a:ext>
            </a:extLst>
          </p:cNvPr>
          <p:cNvSpPr>
            <a:spLocks noGrp="1"/>
          </p:cNvSpPr>
          <p:nvPr>
            <p:ph type="dt" sz="half" idx="10"/>
          </p:nvPr>
        </p:nvSpPr>
        <p:spPr/>
        <p:txBody>
          <a:bodyPr/>
          <a:lstStyle/>
          <a:p>
            <a:fld id="{108AEED7-AD81-1D45-9CDB-B80701D0CE2B}" type="datetime1">
              <a:rPr lang="en-US" smtClean="0"/>
              <a:t>9/12/2025</a:t>
            </a:fld>
            <a:endParaRPr lang="en-US"/>
          </a:p>
        </p:txBody>
      </p:sp>
      <p:sp>
        <p:nvSpPr>
          <p:cNvPr id="5" name="Footer Placeholder 4">
            <a:extLst>
              <a:ext uri="{FF2B5EF4-FFF2-40B4-BE49-F238E27FC236}">
                <a16:creationId xmlns:a16="http://schemas.microsoft.com/office/drawing/2014/main" id="{26726B9E-F99D-1020-E3AB-2AB2E73C38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4BF8F7-FCD6-616C-D05A-C74E22445636}"/>
              </a:ext>
            </a:extLst>
          </p:cNvPr>
          <p:cNvSpPr>
            <a:spLocks noGrp="1"/>
          </p:cNvSpPr>
          <p:nvPr>
            <p:ph type="sldNum" sz="quarter" idx="12"/>
          </p:nvPr>
        </p:nvSpPr>
        <p:spPr/>
        <p:txBody>
          <a:bodyPr/>
          <a:lstStyle/>
          <a:p>
            <a:fld id="{91B74589-0D09-D145-BB48-584242E5F840}" type="slidenum">
              <a:rPr lang="en-US" smtClean="0"/>
              <a:t>‹#›</a:t>
            </a:fld>
            <a:endParaRPr lang="en-US"/>
          </a:p>
        </p:txBody>
      </p:sp>
    </p:spTree>
    <p:extLst>
      <p:ext uri="{BB962C8B-B14F-4D97-AF65-F5344CB8AC3E}">
        <p14:creationId xmlns:p14="http://schemas.microsoft.com/office/powerpoint/2010/main" val="2457479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B00756-9683-A746-1037-4241611687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1CA9B7-3EA3-2751-0CAD-E2513AADF0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A6487D-A5AE-DC75-C9F1-82A837C805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1A136D-EEF7-684E-A3D6-CFFD26C87B70}" type="datetime1">
              <a:rPr lang="en-US" smtClean="0"/>
              <a:t>9/12/2025</a:t>
            </a:fld>
            <a:endParaRPr lang="en-US"/>
          </a:p>
        </p:txBody>
      </p:sp>
      <p:sp>
        <p:nvSpPr>
          <p:cNvPr id="5" name="Footer Placeholder 4">
            <a:extLst>
              <a:ext uri="{FF2B5EF4-FFF2-40B4-BE49-F238E27FC236}">
                <a16:creationId xmlns:a16="http://schemas.microsoft.com/office/drawing/2014/main" id="{7D8FDC58-231E-FE9A-E740-754396EE3C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DF9FDC8-371F-E079-1EEA-7C0CE6CAD6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B74589-0D09-D145-BB48-584242E5F840}" type="slidenum">
              <a:rPr lang="en-US" smtClean="0"/>
              <a:t>‹#›</a:t>
            </a:fld>
            <a:endParaRPr lang="en-US"/>
          </a:p>
        </p:txBody>
      </p:sp>
    </p:spTree>
    <p:extLst>
      <p:ext uri="{BB962C8B-B14F-4D97-AF65-F5344CB8AC3E}">
        <p14:creationId xmlns:p14="http://schemas.microsoft.com/office/powerpoint/2010/main" val="1386821325"/>
      </p:ext>
    </p:extLst>
  </p:cSld>
  <p:clrMap bg1="lt1" tx1="dk1" bg2="lt2" tx2="dk2" accent1="accent1" accent2="accent2" accent3="accent3" accent4="accent4" accent5="accent5" accent6="accent6" hlink="hlink" folHlink="folHlink"/>
  <p:sldLayoutIdLst>
    <p:sldLayoutId id="2147483651"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hyperlink" Target="http://www.citoolkit.com/"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customXml" Target="../ink/ink1.xml"/><Relationship Id="rId7"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customXml" Target="../ink/ink2.xml"/><Relationship Id="rId4" Type="http://schemas.openxmlformats.org/officeDocument/2006/relationships/image" Target="../media/image11.png"/><Relationship Id="rId9"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hyperlink" Target="http://www.citoolkit.com/"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customXml" Target="../ink/ink3.xml"/><Relationship Id="rId7" Type="http://schemas.openxmlformats.org/officeDocument/2006/relationships/image" Target="../media/image13.jpeg"/><Relationship Id="rId2" Type="http://schemas.openxmlformats.org/officeDocument/2006/relationships/notesSlide" Target="../notesSlides/notesSlide39.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customXml" Target="../ink/ink4.xml"/><Relationship Id="rId4" Type="http://schemas.openxmlformats.org/officeDocument/2006/relationships/image" Target="../media/image11.png"/><Relationship Id="rId9" Type="http://schemas.openxmlformats.org/officeDocument/2006/relationships/image" Target="../media/image1.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02F0ED-CFA8-FA82-7CB0-626323D4497F}"/>
              </a:ext>
            </a:extLst>
          </p:cNvPr>
          <p:cNvSpPr>
            <a:spLocks noGrp="1"/>
          </p:cNvSpPr>
          <p:nvPr>
            <p:ph type="title"/>
          </p:nvPr>
        </p:nvSpPr>
        <p:spPr>
          <a:xfrm>
            <a:off x="642253" y="1877961"/>
            <a:ext cx="4657334" cy="3040186"/>
          </a:xfrm>
        </p:spPr>
        <p:txBody>
          <a:bodyPr>
            <a:noAutofit/>
          </a:bodyPr>
          <a:lstStyle/>
          <a:p>
            <a:pPr algn="ctr"/>
            <a:r>
              <a:rPr lang="en-US" sz="6000" spc="-150"/>
              <a:t>STATISTICS</a:t>
            </a:r>
            <a:br>
              <a:rPr lang="en-US" sz="6000" spc="-150"/>
            </a:br>
            <a:r>
              <a:rPr lang="en-US" sz="6000" spc="-150"/>
              <a:t>(PART 1)</a:t>
            </a:r>
          </a:p>
        </p:txBody>
      </p:sp>
      <p:sp>
        <p:nvSpPr>
          <p:cNvPr id="5" name="TextBox 4">
            <a:extLst>
              <a:ext uri="{FF2B5EF4-FFF2-40B4-BE49-F238E27FC236}">
                <a16:creationId xmlns:a16="http://schemas.microsoft.com/office/drawing/2014/main" id="{7EFF0AAB-3D61-418B-10F3-17E43179E5C8}"/>
              </a:ext>
            </a:extLst>
          </p:cNvPr>
          <p:cNvSpPr txBox="1"/>
          <p:nvPr/>
        </p:nvSpPr>
        <p:spPr>
          <a:xfrm>
            <a:off x="751114" y="5797732"/>
            <a:ext cx="2202180" cy="276999"/>
          </a:xfrm>
          <a:prstGeom prst="rect">
            <a:avLst/>
          </a:prstGeom>
          <a:solidFill>
            <a:srgbClr val="880058"/>
          </a:solidFill>
        </p:spPr>
        <p:txBody>
          <a:bodyPr wrap="square" rtlCol="0">
            <a:spAutoFit/>
          </a:bodyPr>
          <a:lstStyle/>
          <a:p>
            <a:r>
              <a:rPr lang="en-US" sz="1200">
                <a:solidFill>
                  <a:schemeClr val="bg1"/>
                </a:solidFill>
                <a:latin typeface="Arial" panose="020B0604020202020204" pitchFamily="34" charset="0"/>
                <a:cs typeface="Arial" panose="020B0604020202020204" pitchFamily="34" charset="0"/>
              </a:rPr>
              <a:t>09/09/2025</a:t>
            </a:r>
          </a:p>
        </p:txBody>
      </p:sp>
      <p:pic>
        <p:nvPicPr>
          <p:cNvPr id="8" name="Picture 7">
            <a:extLst>
              <a:ext uri="{FF2B5EF4-FFF2-40B4-BE49-F238E27FC236}">
                <a16:creationId xmlns:a16="http://schemas.microsoft.com/office/drawing/2014/main" id="{AAAD6643-41C9-8727-58CF-F1D8DB413F5B}"/>
              </a:ext>
            </a:extLst>
          </p:cNvPr>
          <p:cNvPicPr>
            <a:picLocks noChangeAspect="1"/>
          </p:cNvPicPr>
          <p:nvPr/>
        </p:nvPicPr>
        <p:blipFill>
          <a:blip r:embed="rId2"/>
          <a:stretch>
            <a:fillRect/>
          </a:stretch>
        </p:blipFill>
        <p:spPr>
          <a:xfrm>
            <a:off x="4621218" y="-1385494"/>
            <a:ext cx="8481437" cy="10601797"/>
          </a:xfrm>
          <a:prstGeom prst="rect">
            <a:avLst/>
          </a:prstGeom>
        </p:spPr>
      </p:pic>
    </p:spTree>
    <p:extLst>
      <p:ext uri="{BB962C8B-B14F-4D97-AF65-F5344CB8AC3E}">
        <p14:creationId xmlns:p14="http://schemas.microsoft.com/office/powerpoint/2010/main" val="381597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3C6B5E-5F7C-CA1D-FE0C-5A471754931C}"/>
              </a:ext>
            </a:extLst>
          </p:cNvPr>
          <p:cNvSpPr/>
          <p:nvPr/>
        </p:nvSpPr>
        <p:spPr>
          <a:xfrm>
            <a:off x="0" y="0"/>
            <a:ext cx="12192000" cy="6858000"/>
          </a:xfrm>
          <a:prstGeom prst="rect">
            <a:avLst/>
          </a:prstGeom>
          <a:solidFill>
            <a:srgbClr val="72006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07D5BA-84C4-B7FA-A67D-367C974D72F0}"/>
              </a:ext>
            </a:extLst>
          </p:cNvPr>
          <p:cNvSpPr>
            <a:spLocks noGrp="1"/>
          </p:cNvSpPr>
          <p:nvPr>
            <p:ph type="ctrTitle"/>
          </p:nvPr>
        </p:nvSpPr>
        <p:spPr>
          <a:xfrm>
            <a:off x="746578" y="639475"/>
            <a:ext cx="3646714" cy="612383"/>
          </a:xfrm>
          <a:solidFill>
            <a:schemeClr val="bg1"/>
          </a:solidFill>
        </p:spPr>
        <p:txBody>
          <a:bodyPr anchor="ctr">
            <a:normAutofit fontScale="90000"/>
          </a:bodyPr>
          <a:lstStyle/>
          <a:p>
            <a:pPr algn="l"/>
            <a:r>
              <a:rPr lang="en-US" sz="4000" spc="-150">
                <a:solidFill>
                  <a:srgbClr val="720062"/>
                </a:solidFill>
                <a:latin typeface="Arial" panose="020B0604020202020204" pitchFamily="34" charset="0"/>
                <a:cs typeface="Arial" panose="020B0604020202020204" pitchFamily="34" charset="0"/>
              </a:rPr>
              <a:t>Contents</a:t>
            </a:r>
          </a:p>
        </p:txBody>
      </p:sp>
      <p:pic>
        <p:nvPicPr>
          <p:cNvPr id="5" name="Picture 4">
            <a:extLst>
              <a:ext uri="{FF2B5EF4-FFF2-40B4-BE49-F238E27FC236}">
                <a16:creationId xmlns:a16="http://schemas.microsoft.com/office/drawing/2014/main" id="{77EB176E-7148-D36C-4477-259E8BB887EC}"/>
              </a:ext>
            </a:extLst>
          </p:cNvPr>
          <p:cNvPicPr>
            <a:picLocks noChangeAspect="1"/>
          </p:cNvPicPr>
          <p:nvPr/>
        </p:nvPicPr>
        <p:blipFill>
          <a:blip r:embed="rId2"/>
          <a:srcRect/>
          <a:stretch/>
        </p:blipFill>
        <p:spPr>
          <a:xfrm>
            <a:off x="10319658" y="617704"/>
            <a:ext cx="1125764" cy="412583"/>
          </a:xfrm>
          <a:prstGeom prst="rect">
            <a:avLst/>
          </a:prstGeom>
        </p:spPr>
      </p:pic>
      <p:sp>
        <p:nvSpPr>
          <p:cNvPr id="4" name="Slide Number Placeholder 3">
            <a:extLst>
              <a:ext uri="{FF2B5EF4-FFF2-40B4-BE49-F238E27FC236}">
                <a16:creationId xmlns:a16="http://schemas.microsoft.com/office/drawing/2014/main" id="{727C33A4-6994-DC31-D08C-06401104F27D}"/>
              </a:ext>
            </a:extLst>
          </p:cNvPr>
          <p:cNvSpPr>
            <a:spLocks noGrp="1"/>
          </p:cNvSpPr>
          <p:nvPr>
            <p:ph type="sldNum" sz="quarter" idx="12"/>
          </p:nvPr>
        </p:nvSpPr>
        <p:spPr/>
        <p:txBody>
          <a:bodyPr/>
          <a:lstStyle/>
          <a:p>
            <a:fld id="{91B74589-0D09-D145-BB48-584242E5F840}" type="slidenum">
              <a:rPr lang="en-US" smtClean="0">
                <a:solidFill>
                  <a:schemeClr val="bg1"/>
                </a:solidFill>
              </a:rPr>
              <a:t>1</a:t>
            </a:fld>
            <a:endParaRPr lang="en-US">
              <a:solidFill>
                <a:schemeClr val="bg1"/>
              </a:solidFill>
            </a:endParaRPr>
          </a:p>
        </p:txBody>
      </p:sp>
      <p:sp>
        <p:nvSpPr>
          <p:cNvPr id="7" name="Content Placeholder 2">
            <a:extLst>
              <a:ext uri="{FF2B5EF4-FFF2-40B4-BE49-F238E27FC236}">
                <a16:creationId xmlns:a16="http://schemas.microsoft.com/office/drawing/2014/main" id="{388542CC-F027-F170-3E05-FE76F19A9790}"/>
              </a:ext>
            </a:extLst>
          </p:cNvPr>
          <p:cNvSpPr>
            <a:spLocks noGrp="1"/>
          </p:cNvSpPr>
          <p:nvPr>
            <p:ph type="subTitle" idx="1"/>
          </p:nvPr>
        </p:nvSpPr>
        <p:spPr>
          <a:xfrm>
            <a:off x="746125" y="1376517"/>
            <a:ext cx="10699750" cy="4752822"/>
          </a:xfrm>
        </p:spPr>
        <p:txBody>
          <a:bodyPr anchor="t">
            <a:noAutofit/>
          </a:bodyPr>
          <a:lstStyle/>
          <a:p>
            <a:pPr marL="457200" indent="-457200" algn="l">
              <a:spcBef>
                <a:spcPts val="1200"/>
              </a:spcBef>
              <a:buFont typeface="+mj-lt"/>
              <a:buAutoNum type="arabicPeriod"/>
            </a:pPr>
            <a:r>
              <a:rPr lang="en-US" sz="2800" b="1">
                <a:solidFill>
                  <a:schemeClr val="bg1"/>
                </a:solidFill>
              </a:rPr>
              <a:t>Introduction (What is  statistics, why do we need statistics, use case examples).</a:t>
            </a:r>
          </a:p>
          <a:p>
            <a:pPr marL="457200" indent="-457200" algn="l">
              <a:spcBef>
                <a:spcPts val="1200"/>
              </a:spcBef>
              <a:buFont typeface="+mj-lt"/>
              <a:buAutoNum type="arabicPeriod"/>
            </a:pPr>
            <a:r>
              <a:rPr lang="en-US" sz="2800" b="1">
                <a:solidFill>
                  <a:schemeClr val="bg1"/>
                </a:solidFill>
              </a:rPr>
              <a:t>Statistics (Statistical methods, Use in data science)</a:t>
            </a:r>
          </a:p>
          <a:p>
            <a:pPr marL="457200" indent="-457200" algn="l">
              <a:spcBef>
                <a:spcPts val="1200"/>
              </a:spcBef>
              <a:buFont typeface="+mj-lt"/>
              <a:buAutoNum type="arabicPeriod"/>
            </a:pPr>
            <a:r>
              <a:rPr lang="en-US" sz="2800" b="1">
                <a:solidFill>
                  <a:schemeClr val="bg1"/>
                </a:solidFill>
              </a:rPr>
              <a:t>Descriptive Statistics (Definition, measures, Examples).</a:t>
            </a:r>
          </a:p>
          <a:p>
            <a:pPr marL="457200" indent="-457200" algn="l">
              <a:spcBef>
                <a:spcPts val="1200"/>
              </a:spcBef>
              <a:buFont typeface="+mj-lt"/>
              <a:buAutoNum type="arabicPeriod"/>
            </a:pPr>
            <a:r>
              <a:rPr lang="en-US" sz="2800" b="1">
                <a:solidFill>
                  <a:schemeClr val="bg1"/>
                </a:solidFill>
              </a:rPr>
              <a:t>Outliers</a:t>
            </a:r>
          </a:p>
          <a:p>
            <a:pPr marL="457200" indent="-457200" algn="l">
              <a:spcBef>
                <a:spcPts val="1200"/>
              </a:spcBef>
              <a:buFont typeface="+mj-lt"/>
              <a:buAutoNum type="arabicPeriod"/>
            </a:pPr>
            <a:r>
              <a:rPr lang="en-US" sz="2800" b="1">
                <a:solidFill>
                  <a:schemeClr val="bg1"/>
                </a:solidFill>
              </a:rPr>
              <a:t>Inferential statistics (Definition, types, examples).</a:t>
            </a:r>
          </a:p>
          <a:p>
            <a:pPr marL="457200" indent="-457200" algn="l">
              <a:spcBef>
                <a:spcPts val="1200"/>
              </a:spcBef>
              <a:buFont typeface="+mj-lt"/>
              <a:buAutoNum type="arabicPeriod"/>
            </a:pPr>
            <a:r>
              <a:rPr lang="en-US" sz="2800" b="1">
                <a:solidFill>
                  <a:schemeClr val="bg1"/>
                </a:solidFill>
              </a:rPr>
              <a:t>Differences between inferential and descriptive statistics</a:t>
            </a:r>
          </a:p>
          <a:p>
            <a:pPr marL="457200" indent="-457200" algn="l">
              <a:spcBef>
                <a:spcPts val="1200"/>
              </a:spcBef>
              <a:buFont typeface="+mj-lt"/>
              <a:buAutoNum type="arabicPeriod"/>
            </a:pPr>
            <a:r>
              <a:rPr lang="en-US" sz="2800" b="1">
                <a:solidFill>
                  <a:schemeClr val="bg1"/>
                </a:solidFill>
              </a:rPr>
              <a:t>Types of data</a:t>
            </a:r>
          </a:p>
          <a:p>
            <a:pPr marL="457200" indent="-457200" algn="l">
              <a:spcBef>
                <a:spcPts val="1200"/>
              </a:spcBef>
              <a:buFont typeface="+mj-lt"/>
              <a:buAutoNum type="arabicPeriod"/>
            </a:pPr>
            <a:r>
              <a:rPr lang="en-US" sz="2800" b="1">
                <a:solidFill>
                  <a:schemeClr val="bg1"/>
                </a:solidFill>
              </a:rPr>
              <a:t>Recap</a:t>
            </a:r>
          </a:p>
        </p:txBody>
      </p:sp>
    </p:spTree>
    <p:extLst>
      <p:ext uri="{BB962C8B-B14F-4D97-AF65-F5344CB8AC3E}">
        <p14:creationId xmlns:p14="http://schemas.microsoft.com/office/powerpoint/2010/main" val="3190972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F204D-7E00-61F6-BB3F-9A538D3DEF3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58AA297-2CB2-3617-6EA1-4C4997D90540}"/>
              </a:ext>
            </a:extLst>
          </p:cNvPr>
          <p:cNvSpPr/>
          <p:nvPr/>
        </p:nvSpPr>
        <p:spPr>
          <a:xfrm>
            <a:off x="23446" y="294289"/>
            <a:ext cx="12192000"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5731E78-4349-0F48-699E-3CF0E3B818C6}"/>
              </a:ext>
            </a:extLst>
          </p:cNvPr>
          <p:cNvSpPr/>
          <p:nvPr/>
        </p:nvSpPr>
        <p:spPr>
          <a:xfrm>
            <a:off x="746578" y="1719943"/>
            <a:ext cx="10393370" cy="4498582"/>
          </a:xfrm>
          <a:prstGeom prst="rect">
            <a:avLst/>
          </a:prstGeom>
          <a:solidFill>
            <a:srgbClr val="7200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19B46B-7F30-31BD-2DB6-0F6A4D35C99F}"/>
              </a:ext>
            </a:extLst>
          </p:cNvPr>
          <p:cNvSpPr>
            <a:spLocks noGrp="1"/>
          </p:cNvSpPr>
          <p:nvPr>
            <p:ph type="ctrTitle"/>
          </p:nvPr>
        </p:nvSpPr>
        <p:spPr>
          <a:xfrm>
            <a:off x="746578" y="639475"/>
            <a:ext cx="3646714" cy="612383"/>
          </a:xfrm>
          <a:solidFill>
            <a:schemeClr val="tx1"/>
          </a:solidFill>
        </p:spPr>
        <p:txBody>
          <a:bodyPr anchor="ctr">
            <a:normAutofit fontScale="90000"/>
          </a:bodyPr>
          <a:lstStyle/>
          <a:p>
            <a:pPr algn="l"/>
            <a:r>
              <a:rPr lang="en-US" sz="3200" b="1" spc="-150">
                <a:solidFill>
                  <a:schemeClr val="bg1"/>
                </a:solidFill>
                <a:latin typeface="Arial" panose="020B0604020202020204" pitchFamily="34" charset="0"/>
                <a:cs typeface="Arial" panose="020B0604020202020204" pitchFamily="34" charset="0"/>
              </a:rPr>
              <a:t>WHAT IS STATISTICS</a:t>
            </a:r>
          </a:p>
        </p:txBody>
      </p:sp>
      <p:pic>
        <p:nvPicPr>
          <p:cNvPr id="5" name="Picture 4">
            <a:extLst>
              <a:ext uri="{FF2B5EF4-FFF2-40B4-BE49-F238E27FC236}">
                <a16:creationId xmlns:a16="http://schemas.microsoft.com/office/drawing/2014/main" id="{367FF45A-F911-1F1F-15C6-B3DB95AF9675}"/>
              </a:ext>
            </a:extLst>
          </p:cNvPr>
          <p:cNvPicPr>
            <a:picLocks noChangeAspect="1"/>
          </p:cNvPicPr>
          <p:nvPr/>
        </p:nvPicPr>
        <p:blipFill>
          <a:blip r:embed="rId2"/>
          <a:stretch>
            <a:fillRect/>
          </a:stretch>
        </p:blipFill>
        <p:spPr>
          <a:xfrm>
            <a:off x="10319658" y="617704"/>
            <a:ext cx="1125764" cy="412584"/>
          </a:xfrm>
          <a:prstGeom prst="rect">
            <a:avLst/>
          </a:prstGeom>
        </p:spPr>
      </p:pic>
      <p:sp>
        <p:nvSpPr>
          <p:cNvPr id="11" name="Slide Number Placeholder 10">
            <a:extLst>
              <a:ext uri="{FF2B5EF4-FFF2-40B4-BE49-F238E27FC236}">
                <a16:creationId xmlns:a16="http://schemas.microsoft.com/office/drawing/2014/main" id="{8428F31C-9A52-DBFD-F1E9-3109BA0B9C30}"/>
              </a:ext>
            </a:extLst>
          </p:cNvPr>
          <p:cNvSpPr>
            <a:spLocks noGrp="1"/>
          </p:cNvSpPr>
          <p:nvPr>
            <p:ph type="sldNum" sz="quarter" idx="12"/>
          </p:nvPr>
        </p:nvSpPr>
        <p:spPr/>
        <p:txBody>
          <a:bodyPr/>
          <a:lstStyle/>
          <a:p>
            <a:fld id="{91B74589-0D09-D145-BB48-584242E5F840}" type="slidenum">
              <a:rPr lang="en-US" smtClean="0">
                <a:solidFill>
                  <a:schemeClr val="tx1"/>
                </a:solidFill>
              </a:rPr>
              <a:t>2</a:t>
            </a:fld>
            <a:endParaRPr lang="en-US">
              <a:solidFill>
                <a:schemeClr val="tx1"/>
              </a:solidFill>
            </a:endParaRPr>
          </a:p>
        </p:txBody>
      </p:sp>
      <p:sp>
        <p:nvSpPr>
          <p:cNvPr id="12" name="Content Placeholder 2">
            <a:extLst>
              <a:ext uri="{FF2B5EF4-FFF2-40B4-BE49-F238E27FC236}">
                <a16:creationId xmlns:a16="http://schemas.microsoft.com/office/drawing/2014/main" id="{37D531CD-6669-6A59-BCDB-FDFA5DD186B7}"/>
              </a:ext>
            </a:extLst>
          </p:cNvPr>
          <p:cNvSpPr>
            <a:spLocks noGrp="1"/>
          </p:cNvSpPr>
          <p:nvPr>
            <p:ph type="subTitle" idx="1"/>
          </p:nvPr>
        </p:nvSpPr>
        <p:spPr>
          <a:xfrm>
            <a:off x="989013" y="1779639"/>
            <a:ext cx="9747250" cy="4197299"/>
          </a:xfrm>
        </p:spPr>
        <p:txBody>
          <a:bodyPr anchor="t">
            <a:noAutofit/>
          </a:bodyPr>
          <a:lstStyle/>
          <a:p>
            <a:pPr algn="just"/>
            <a:r>
              <a:rPr lang="en-US">
                <a:solidFill>
                  <a:schemeClr val="bg1"/>
                </a:solidFill>
              </a:rPr>
              <a:t>Statistics is the science of collecting, analyzing, presenting and interpreting data. We can say what we now know as data science today is a combination of statistics and programming. </a:t>
            </a:r>
          </a:p>
          <a:p>
            <a:pPr algn="just"/>
            <a:endParaRPr lang="en-US">
              <a:solidFill>
                <a:schemeClr val="bg1"/>
              </a:solidFill>
            </a:endParaRPr>
          </a:p>
          <a:p>
            <a:pPr algn="just"/>
            <a:r>
              <a:rPr lang="en-US">
                <a:solidFill>
                  <a:schemeClr val="bg1"/>
                </a:solidFill>
              </a:rPr>
              <a:t>It is largely the branch of mathematics concerned with analyzing numerical data.</a:t>
            </a:r>
          </a:p>
          <a:p>
            <a:pPr algn="just"/>
            <a:endParaRPr lang="en-US">
              <a:solidFill>
                <a:schemeClr val="bg1"/>
              </a:solidFill>
            </a:endParaRPr>
          </a:p>
          <a:p>
            <a:pPr algn="just"/>
            <a:r>
              <a:rPr lang="en-US">
                <a:solidFill>
                  <a:schemeClr val="bg1"/>
                </a:solidFill>
              </a:rPr>
              <a:t>Statistics is often used (incorrectly) interchangeably with probability. Probability is more about chances while statistics is concerned about how we handle our data. Probability denotes the possibility of an event occurring while statistics is a method/science /mathematics of data </a:t>
            </a:r>
          </a:p>
        </p:txBody>
      </p:sp>
    </p:spTree>
    <p:extLst>
      <p:ext uri="{BB962C8B-B14F-4D97-AF65-F5344CB8AC3E}">
        <p14:creationId xmlns:p14="http://schemas.microsoft.com/office/powerpoint/2010/main" val="2949577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2B45D-3949-8EA8-A5DD-7A3DE042655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D140CC0-FBA5-D93D-EE6D-0A3E09606C98}"/>
              </a:ext>
            </a:extLst>
          </p:cNvPr>
          <p:cNvSpPr/>
          <p:nvPr/>
        </p:nvSpPr>
        <p:spPr>
          <a:xfrm>
            <a:off x="0" y="294289"/>
            <a:ext cx="12192000"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216E90A-8C52-D252-0DEA-4CECB775906B}"/>
              </a:ext>
            </a:extLst>
          </p:cNvPr>
          <p:cNvSpPr/>
          <p:nvPr/>
        </p:nvSpPr>
        <p:spPr>
          <a:xfrm>
            <a:off x="746578" y="1719943"/>
            <a:ext cx="10393370" cy="4498582"/>
          </a:xfrm>
          <a:prstGeom prst="rect">
            <a:avLst/>
          </a:prstGeom>
          <a:solidFill>
            <a:srgbClr val="7200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A85706-C463-BC88-EA18-B71DAD35D8A6}"/>
              </a:ext>
            </a:extLst>
          </p:cNvPr>
          <p:cNvSpPr>
            <a:spLocks noGrp="1"/>
          </p:cNvSpPr>
          <p:nvPr>
            <p:ph type="ctrTitle"/>
          </p:nvPr>
        </p:nvSpPr>
        <p:spPr>
          <a:xfrm>
            <a:off x="746578" y="639475"/>
            <a:ext cx="3646714" cy="612383"/>
          </a:xfrm>
          <a:solidFill>
            <a:schemeClr val="tx1"/>
          </a:solidFill>
        </p:spPr>
        <p:txBody>
          <a:bodyPr anchor="ctr">
            <a:normAutofit fontScale="90000"/>
          </a:bodyPr>
          <a:lstStyle/>
          <a:p>
            <a:pPr algn="l"/>
            <a:r>
              <a:rPr lang="en-US" sz="3200" b="1" spc="-150">
                <a:solidFill>
                  <a:schemeClr val="bg1"/>
                </a:solidFill>
                <a:latin typeface="Arial" panose="020B0604020202020204" pitchFamily="34" charset="0"/>
                <a:cs typeface="Arial" panose="020B0604020202020204" pitchFamily="34" charset="0"/>
              </a:rPr>
              <a:t>WHAT IS STATISTICS</a:t>
            </a:r>
          </a:p>
        </p:txBody>
      </p:sp>
      <p:pic>
        <p:nvPicPr>
          <p:cNvPr id="5" name="Picture 4">
            <a:extLst>
              <a:ext uri="{FF2B5EF4-FFF2-40B4-BE49-F238E27FC236}">
                <a16:creationId xmlns:a16="http://schemas.microsoft.com/office/drawing/2014/main" id="{820C4AD7-0CAB-8F68-9F0E-730C954F532B}"/>
              </a:ext>
            </a:extLst>
          </p:cNvPr>
          <p:cNvPicPr>
            <a:picLocks noChangeAspect="1"/>
          </p:cNvPicPr>
          <p:nvPr/>
        </p:nvPicPr>
        <p:blipFill>
          <a:blip r:embed="rId2"/>
          <a:stretch>
            <a:fillRect/>
          </a:stretch>
        </p:blipFill>
        <p:spPr>
          <a:xfrm>
            <a:off x="10319658" y="617704"/>
            <a:ext cx="1125764" cy="412584"/>
          </a:xfrm>
          <a:prstGeom prst="rect">
            <a:avLst/>
          </a:prstGeom>
        </p:spPr>
      </p:pic>
      <p:sp>
        <p:nvSpPr>
          <p:cNvPr id="11" name="Slide Number Placeholder 10">
            <a:extLst>
              <a:ext uri="{FF2B5EF4-FFF2-40B4-BE49-F238E27FC236}">
                <a16:creationId xmlns:a16="http://schemas.microsoft.com/office/drawing/2014/main" id="{13FDA348-1CCA-12A2-276A-7D1105FED435}"/>
              </a:ext>
            </a:extLst>
          </p:cNvPr>
          <p:cNvSpPr>
            <a:spLocks noGrp="1"/>
          </p:cNvSpPr>
          <p:nvPr>
            <p:ph type="sldNum" sz="quarter" idx="12"/>
          </p:nvPr>
        </p:nvSpPr>
        <p:spPr/>
        <p:txBody>
          <a:bodyPr/>
          <a:lstStyle/>
          <a:p>
            <a:fld id="{91B74589-0D09-D145-BB48-584242E5F840}" type="slidenum">
              <a:rPr lang="en-US" smtClean="0">
                <a:solidFill>
                  <a:schemeClr val="tx1"/>
                </a:solidFill>
              </a:rPr>
              <a:t>3</a:t>
            </a:fld>
            <a:endParaRPr lang="en-US">
              <a:solidFill>
                <a:schemeClr val="tx1"/>
              </a:solidFill>
            </a:endParaRPr>
          </a:p>
        </p:txBody>
      </p:sp>
      <p:sp>
        <p:nvSpPr>
          <p:cNvPr id="12" name="Content Placeholder 2">
            <a:extLst>
              <a:ext uri="{FF2B5EF4-FFF2-40B4-BE49-F238E27FC236}">
                <a16:creationId xmlns:a16="http://schemas.microsoft.com/office/drawing/2014/main" id="{EAEC1894-2B3B-A50D-017B-7892B11C0B09}"/>
              </a:ext>
            </a:extLst>
          </p:cNvPr>
          <p:cNvSpPr>
            <a:spLocks noGrp="1"/>
          </p:cNvSpPr>
          <p:nvPr>
            <p:ph type="subTitle" idx="1"/>
          </p:nvPr>
        </p:nvSpPr>
        <p:spPr>
          <a:xfrm>
            <a:off x="989013" y="1779639"/>
            <a:ext cx="9747250" cy="4197299"/>
          </a:xfrm>
        </p:spPr>
        <p:txBody>
          <a:bodyPr anchor="t">
            <a:noAutofit/>
          </a:bodyPr>
          <a:lstStyle/>
          <a:p>
            <a:pPr algn="just"/>
            <a:r>
              <a:rPr lang="en-US" sz="2800">
                <a:solidFill>
                  <a:schemeClr val="bg1"/>
                </a:solidFill>
              </a:rPr>
              <a:t>Statistics uses analytical methods which provide  the math to model and predict variation.</a:t>
            </a:r>
          </a:p>
          <a:p>
            <a:pPr algn="just"/>
            <a:endParaRPr lang="en-US" sz="2800">
              <a:solidFill>
                <a:schemeClr val="bg1"/>
              </a:solidFill>
            </a:endParaRPr>
          </a:p>
          <a:p>
            <a:pPr algn="just"/>
            <a:r>
              <a:rPr lang="en-US" sz="2800">
                <a:solidFill>
                  <a:schemeClr val="bg1"/>
                </a:solidFill>
              </a:rPr>
              <a:t>It also uses graphical methods to help making  numbers visible for communication  purposes.</a:t>
            </a:r>
          </a:p>
          <a:p>
            <a:pPr algn="just"/>
            <a:endParaRPr lang="en-US" sz="2800">
              <a:solidFill>
                <a:schemeClr val="bg1"/>
              </a:solidFill>
            </a:endParaRPr>
          </a:p>
        </p:txBody>
      </p:sp>
    </p:spTree>
    <p:extLst>
      <p:ext uri="{BB962C8B-B14F-4D97-AF65-F5344CB8AC3E}">
        <p14:creationId xmlns:p14="http://schemas.microsoft.com/office/powerpoint/2010/main" val="3280779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E839D-9B34-C2C6-8777-F853A3E93AE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CDAB679-13F3-240B-74C0-33C5473AAA00}"/>
              </a:ext>
            </a:extLst>
          </p:cNvPr>
          <p:cNvSpPr/>
          <p:nvPr/>
        </p:nvSpPr>
        <p:spPr>
          <a:xfrm>
            <a:off x="0" y="294289"/>
            <a:ext cx="12192000" cy="6858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2863225-2A32-7D20-052C-D09A0B5DD6A7}"/>
              </a:ext>
            </a:extLst>
          </p:cNvPr>
          <p:cNvSpPr/>
          <p:nvPr/>
        </p:nvSpPr>
        <p:spPr>
          <a:xfrm>
            <a:off x="746578" y="1719943"/>
            <a:ext cx="10393370" cy="4498582"/>
          </a:xfrm>
          <a:prstGeom prst="rect">
            <a:avLst/>
          </a:prstGeom>
          <a:solidFill>
            <a:srgbClr val="7200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A48732-7A9E-A2C6-8D43-BAFC19B43AE3}"/>
              </a:ext>
            </a:extLst>
          </p:cNvPr>
          <p:cNvSpPr>
            <a:spLocks noGrp="1"/>
          </p:cNvSpPr>
          <p:nvPr>
            <p:ph type="ctrTitle"/>
          </p:nvPr>
        </p:nvSpPr>
        <p:spPr>
          <a:xfrm>
            <a:off x="746578" y="639475"/>
            <a:ext cx="6253990" cy="612383"/>
          </a:xfrm>
          <a:solidFill>
            <a:schemeClr val="tx1"/>
          </a:solidFill>
        </p:spPr>
        <p:txBody>
          <a:bodyPr anchor="ctr">
            <a:normAutofit/>
          </a:bodyPr>
          <a:lstStyle/>
          <a:p>
            <a:pPr algn="l"/>
            <a:r>
              <a:rPr lang="en-US" sz="3200" b="1" spc="-150">
                <a:solidFill>
                  <a:schemeClr val="bg1"/>
                </a:solidFill>
                <a:latin typeface="Arial" panose="020B0604020202020204" pitchFamily="34" charset="0"/>
                <a:cs typeface="Arial" panose="020B0604020202020204" pitchFamily="34" charset="0"/>
              </a:rPr>
              <a:t>WHY DO WE NEED STATISTICS?</a:t>
            </a:r>
          </a:p>
        </p:txBody>
      </p:sp>
      <p:pic>
        <p:nvPicPr>
          <p:cNvPr id="5" name="Picture 4">
            <a:extLst>
              <a:ext uri="{FF2B5EF4-FFF2-40B4-BE49-F238E27FC236}">
                <a16:creationId xmlns:a16="http://schemas.microsoft.com/office/drawing/2014/main" id="{6C71F5E0-0746-B877-C307-6FD959C6FDD8}"/>
              </a:ext>
            </a:extLst>
          </p:cNvPr>
          <p:cNvPicPr>
            <a:picLocks noChangeAspect="1"/>
          </p:cNvPicPr>
          <p:nvPr/>
        </p:nvPicPr>
        <p:blipFill>
          <a:blip r:embed="rId2"/>
          <a:stretch>
            <a:fillRect/>
          </a:stretch>
        </p:blipFill>
        <p:spPr>
          <a:xfrm>
            <a:off x="10319658" y="617704"/>
            <a:ext cx="1125764" cy="412584"/>
          </a:xfrm>
          <a:prstGeom prst="rect">
            <a:avLst/>
          </a:prstGeom>
        </p:spPr>
      </p:pic>
      <p:sp>
        <p:nvSpPr>
          <p:cNvPr id="11" name="Slide Number Placeholder 10">
            <a:extLst>
              <a:ext uri="{FF2B5EF4-FFF2-40B4-BE49-F238E27FC236}">
                <a16:creationId xmlns:a16="http://schemas.microsoft.com/office/drawing/2014/main" id="{141FE013-DDBA-3D49-BE2F-6228F98C5433}"/>
              </a:ext>
            </a:extLst>
          </p:cNvPr>
          <p:cNvSpPr>
            <a:spLocks noGrp="1"/>
          </p:cNvSpPr>
          <p:nvPr>
            <p:ph type="sldNum" sz="quarter" idx="12"/>
          </p:nvPr>
        </p:nvSpPr>
        <p:spPr/>
        <p:txBody>
          <a:bodyPr/>
          <a:lstStyle/>
          <a:p>
            <a:fld id="{91B74589-0D09-D145-BB48-584242E5F840}" type="slidenum">
              <a:rPr lang="en-US" smtClean="0">
                <a:solidFill>
                  <a:schemeClr val="tx1"/>
                </a:solidFill>
              </a:rPr>
              <a:t>4</a:t>
            </a:fld>
            <a:endParaRPr lang="en-US">
              <a:solidFill>
                <a:schemeClr val="tx1"/>
              </a:solidFill>
            </a:endParaRPr>
          </a:p>
        </p:txBody>
      </p:sp>
      <p:sp>
        <p:nvSpPr>
          <p:cNvPr id="12" name="Content Placeholder 2">
            <a:extLst>
              <a:ext uri="{FF2B5EF4-FFF2-40B4-BE49-F238E27FC236}">
                <a16:creationId xmlns:a16="http://schemas.microsoft.com/office/drawing/2014/main" id="{C89D5388-DDED-ED0F-673F-91B68D7B558D}"/>
              </a:ext>
            </a:extLst>
          </p:cNvPr>
          <p:cNvSpPr>
            <a:spLocks noGrp="1"/>
          </p:cNvSpPr>
          <p:nvPr>
            <p:ph type="subTitle" idx="1"/>
          </p:nvPr>
        </p:nvSpPr>
        <p:spPr>
          <a:xfrm>
            <a:off x="989013" y="1779639"/>
            <a:ext cx="9747250" cy="4197299"/>
          </a:xfrm>
        </p:spPr>
        <p:txBody>
          <a:bodyPr anchor="t">
            <a:noAutofit/>
          </a:bodyPr>
          <a:lstStyle/>
          <a:p>
            <a:pPr algn="l"/>
            <a:r>
              <a:rPr lang="en-US" sz="2800" b="1">
                <a:solidFill>
                  <a:schemeClr val="bg1"/>
                </a:solidFill>
              </a:rPr>
              <a:t>Generally to aid decision making such as:</a:t>
            </a:r>
          </a:p>
          <a:p>
            <a:pPr algn="l"/>
            <a:endParaRPr lang="en-US" sz="2800">
              <a:solidFill>
                <a:schemeClr val="bg1"/>
              </a:solidFill>
            </a:endParaRPr>
          </a:p>
          <a:p>
            <a:pPr algn="l"/>
            <a:r>
              <a:rPr lang="en-US" sz="2800">
                <a:solidFill>
                  <a:schemeClr val="bg1"/>
                </a:solidFill>
              </a:rPr>
              <a:t>To find why a process behaves the way it does.</a:t>
            </a:r>
          </a:p>
          <a:p>
            <a:pPr algn="l"/>
            <a:r>
              <a:rPr lang="en-US" sz="2800">
                <a:solidFill>
                  <a:schemeClr val="bg1"/>
                </a:solidFill>
              </a:rPr>
              <a:t>To find why it produces defective goods or services.</a:t>
            </a:r>
          </a:p>
          <a:p>
            <a:pPr algn="l"/>
            <a:r>
              <a:rPr lang="en-US" sz="2800">
                <a:solidFill>
                  <a:schemeClr val="bg1"/>
                </a:solidFill>
              </a:rPr>
              <a:t>To summarize data for public use</a:t>
            </a:r>
          </a:p>
          <a:p>
            <a:pPr algn="l"/>
            <a:r>
              <a:rPr lang="en-US" sz="2800">
                <a:solidFill>
                  <a:schemeClr val="bg1"/>
                </a:solidFill>
              </a:rPr>
              <a:t>To check the accuracy and precision of the process.</a:t>
            </a:r>
          </a:p>
          <a:p>
            <a:pPr algn="l"/>
            <a:r>
              <a:rPr lang="en-US" sz="2800">
                <a:solidFill>
                  <a:schemeClr val="bg1"/>
                </a:solidFill>
              </a:rPr>
              <a:t>To prevent problems caused by assignable causes  of variation.</a:t>
            </a:r>
          </a:p>
          <a:p>
            <a:pPr algn="l"/>
            <a:r>
              <a:rPr lang="en-US" sz="2800">
                <a:solidFill>
                  <a:schemeClr val="bg1"/>
                </a:solidFill>
              </a:rPr>
              <a:t>To reduce variability and improve process capability.</a:t>
            </a:r>
          </a:p>
          <a:p>
            <a:pPr algn="l"/>
            <a:r>
              <a:rPr lang="en-US" sz="2800">
                <a:solidFill>
                  <a:schemeClr val="bg1"/>
                </a:solidFill>
              </a:rPr>
              <a:t>To know the truth about the real world.</a:t>
            </a:r>
          </a:p>
          <a:p>
            <a:pPr algn="l"/>
            <a:endParaRPr lang="en-GB" sz="2800">
              <a:solidFill>
                <a:schemeClr val="bg1"/>
              </a:solidFill>
            </a:endParaRPr>
          </a:p>
          <a:p>
            <a:pPr algn="l"/>
            <a:endParaRPr lang="en-US" sz="2800">
              <a:solidFill>
                <a:schemeClr val="bg1"/>
              </a:solidFill>
            </a:endParaRPr>
          </a:p>
        </p:txBody>
      </p:sp>
    </p:spTree>
    <p:extLst>
      <p:ext uri="{BB962C8B-B14F-4D97-AF65-F5344CB8AC3E}">
        <p14:creationId xmlns:p14="http://schemas.microsoft.com/office/powerpoint/2010/main" val="3960919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D689F-644B-3F78-2A85-B2412EB2F9CE}"/>
              </a:ext>
            </a:extLst>
          </p:cNvPr>
          <p:cNvSpPr>
            <a:spLocks noGrp="1"/>
          </p:cNvSpPr>
          <p:nvPr>
            <p:ph type="title"/>
          </p:nvPr>
        </p:nvSpPr>
        <p:spPr>
          <a:xfrm>
            <a:off x="526073" y="489439"/>
            <a:ext cx="11139854" cy="930447"/>
          </a:xfrm>
        </p:spPr>
        <p:txBody>
          <a:bodyPr vert="horz" lIns="91440" tIns="45720" rIns="91440" bIns="45720" rtlCol="0" anchor="b">
            <a:normAutofit/>
          </a:bodyPr>
          <a:lstStyle/>
          <a:p>
            <a:pPr algn="ctr"/>
            <a:r>
              <a:rPr lang="en-US" sz="5400" b="1" kern="1200">
                <a:solidFill>
                  <a:schemeClr val="bg1"/>
                </a:solidFill>
                <a:latin typeface="+mj-lt"/>
                <a:ea typeface="+mj-ea"/>
                <a:cs typeface="+mj-cs"/>
              </a:rPr>
              <a:t>Use case examples</a:t>
            </a:r>
          </a:p>
        </p:txBody>
      </p:sp>
      <p:sp>
        <p:nvSpPr>
          <p:cNvPr id="6" name="Content Placeholder 5">
            <a:extLst>
              <a:ext uri="{FF2B5EF4-FFF2-40B4-BE49-F238E27FC236}">
                <a16:creationId xmlns:a16="http://schemas.microsoft.com/office/drawing/2014/main" id="{FEFBFCE3-7C0B-ADF4-6C38-5B528E61B05E}"/>
              </a:ext>
            </a:extLst>
          </p:cNvPr>
          <p:cNvSpPr>
            <a:spLocks noGrp="1"/>
          </p:cNvSpPr>
          <p:nvPr>
            <p:ph idx="1"/>
          </p:nvPr>
        </p:nvSpPr>
        <p:spPr>
          <a:xfrm>
            <a:off x="324492" y="2298654"/>
            <a:ext cx="10515600" cy="4351338"/>
          </a:xfrm>
        </p:spPr>
        <p:txBody>
          <a:bodyPr/>
          <a:lstStyle/>
          <a:p>
            <a:pPr algn="just"/>
            <a:r>
              <a:rPr lang="en-MY"/>
              <a:t>In biological and medical sciences, it helps personnel / researcher discover relationship worthy of further investigation</a:t>
            </a:r>
          </a:p>
          <a:p>
            <a:pPr marL="0" indent="0" algn="just">
              <a:buNone/>
            </a:pPr>
            <a:r>
              <a:rPr lang="en-MY"/>
              <a:t>   ex. 	A doctor can find if there is a correlation between drinking and      	kidney failure </a:t>
            </a:r>
          </a:p>
          <a:p>
            <a:pPr algn="just"/>
            <a:r>
              <a:rPr lang="en-MY"/>
              <a:t>Helps to prove theories and hypothesis that cannot be justified using rationale or ideas that are generally counter intuitive.   </a:t>
            </a:r>
          </a:p>
          <a:p>
            <a:pPr marL="0" indent="0" algn="just">
              <a:buNone/>
            </a:pPr>
            <a:r>
              <a:rPr lang="en-MY"/>
              <a:t> ex. 	There are studies that proof that shorter length of courtship and lower age of marriage reduces the chance of divorce  </a:t>
            </a:r>
          </a:p>
        </p:txBody>
      </p:sp>
      <p:pic>
        <p:nvPicPr>
          <p:cNvPr id="3" name="Picture 2">
            <a:extLst>
              <a:ext uri="{FF2B5EF4-FFF2-40B4-BE49-F238E27FC236}">
                <a16:creationId xmlns:a16="http://schemas.microsoft.com/office/drawing/2014/main" id="{0D373BAF-CFF6-1BEE-7104-98D7CD1E5255}"/>
              </a:ext>
            </a:extLst>
          </p:cNvPr>
          <p:cNvPicPr>
            <a:picLocks noChangeAspect="1"/>
          </p:cNvPicPr>
          <p:nvPr/>
        </p:nvPicPr>
        <p:blipFill>
          <a:blip r:embed="rId2"/>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2452044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11480" y="991443"/>
            <a:ext cx="5451992" cy="1087819"/>
          </a:xfrm>
          <a:prstGeom prst="rect">
            <a:avLst/>
          </a:prstGeom>
        </p:spPr>
        <p:txBody>
          <a:bodyPr vert="horz" lIns="91440" tIns="45720" rIns="91440" bIns="45720" rtlCol="0" anchor="b">
            <a:normAutofit/>
          </a:bodyPr>
          <a:lstStyle/>
          <a:p>
            <a:pPr marL="16933" algn="ctr"/>
            <a:r>
              <a:rPr lang="en-US" sz="3400" b="1" kern="1200" spc="7">
                <a:solidFill>
                  <a:schemeClr val="tx1"/>
                </a:solidFill>
                <a:latin typeface="+mj-lt"/>
                <a:ea typeface="+mj-ea"/>
                <a:cs typeface="+mj-cs"/>
              </a:rPr>
              <a:t>Relevance to data science</a:t>
            </a:r>
            <a:endParaRPr lang="en-US" sz="3400" b="1" kern="1200">
              <a:solidFill>
                <a:schemeClr val="tx1"/>
              </a:solidFill>
              <a:latin typeface="+mj-lt"/>
              <a:ea typeface="+mj-ea"/>
              <a:cs typeface="+mj-cs"/>
            </a:endParaRPr>
          </a:p>
        </p:txBody>
      </p:sp>
      <p:sp>
        <p:nvSpPr>
          <p:cNvPr id="4" name="object 4"/>
          <p:cNvSpPr txBox="1"/>
          <p:nvPr/>
        </p:nvSpPr>
        <p:spPr>
          <a:xfrm>
            <a:off x="411480" y="2684095"/>
            <a:ext cx="5133366" cy="3492868"/>
          </a:xfrm>
          <a:prstGeom prst="rect">
            <a:avLst/>
          </a:prstGeom>
        </p:spPr>
        <p:txBody>
          <a:bodyPr vert="horz" lIns="91440" tIns="45720" rIns="91440" bIns="45720" rtlCol="0" anchor="t">
            <a:normAutofit lnSpcReduction="10000"/>
          </a:bodyPr>
          <a:lstStyle/>
          <a:p>
            <a:pPr marL="16510" indent="-228600" algn="just">
              <a:lnSpc>
                <a:spcPct val="90000"/>
              </a:lnSpc>
              <a:spcBef>
                <a:spcPts val="1200"/>
              </a:spcBef>
              <a:buFont typeface="Arial" panose="020B0604020202020204" pitchFamily="34" charset="0"/>
              <a:buChar char="•"/>
            </a:pPr>
            <a:r>
              <a:rPr lang="en-US" sz="2000"/>
              <a:t>The basis of data science is statistics. Data science is essentially statistics and programming.</a:t>
            </a:r>
            <a:endParaRPr lang="en-US" sz="2000">
              <a:ea typeface="Calibri" panose="020F0502020204030204"/>
              <a:cs typeface="Calibri" panose="020F0502020204030204"/>
            </a:endParaRPr>
          </a:p>
          <a:p>
            <a:pPr marL="16510" indent="-228600" algn="just">
              <a:lnSpc>
                <a:spcPct val="90000"/>
              </a:lnSpc>
              <a:spcBef>
                <a:spcPts val="1200"/>
              </a:spcBef>
              <a:buFont typeface="Arial" panose="020B0604020202020204" pitchFamily="34" charset="0"/>
              <a:buChar char="•"/>
            </a:pPr>
            <a:r>
              <a:rPr lang="en-US" sz="2000"/>
              <a:t>Most data science concepts have roots in statistics, thus an understanding of statistics is required in understanding key data science concept</a:t>
            </a:r>
            <a:endParaRPr lang="en-US" sz="2000">
              <a:ea typeface="Calibri" panose="020F0502020204030204"/>
              <a:cs typeface="Calibri" panose="020F0502020204030204"/>
            </a:endParaRPr>
          </a:p>
          <a:p>
            <a:pPr marL="16510" indent="-228600" algn="just">
              <a:lnSpc>
                <a:spcPct val="90000"/>
              </a:lnSpc>
              <a:spcBef>
                <a:spcPts val="1200"/>
              </a:spcBef>
              <a:buFont typeface="Arial" panose="020B0604020202020204" pitchFamily="34" charset="0"/>
              <a:buChar char="•"/>
            </a:pPr>
            <a:r>
              <a:rPr lang="en-US" sz="2000"/>
              <a:t>Our approach to data in data science is rooted in statistics. For example, without stat, how do we recognize the type of distribution a data </a:t>
            </a:r>
            <a:r>
              <a:rPr lang="en-US" sz="2000" err="1"/>
              <a:t>has,or</a:t>
            </a:r>
            <a:r>
              <a:rPr lang="en-US" sz="2000"/>
              <a:t> know what effect distribution types has on handling data.</a:t>
            </a:r>
            <a:endParaRPr lang="en-US" sz="2000">
              <a:ea typeface="Calibri"/>
              <a:cs typeface="Calibri"/>
            </a:endParaRPr>
          </a:p>
        </p:txBody>
      </p:sp>
      <p:pic>
        <p:nvPicPr>
          <p:cNvPr id="6" name="Picture 5">
            <a:extLst>
              <a:ext uri="{FF2B5EF4-FFF2-40B4-BE49-F238E27FC236}">
                <a16:creationId xmlns:a16="http://schemas.microsoft.com/office/drawing/2014/main" id="{7CC36B3B-4AF3-0910-A8EB-B58F292893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5774" y="1770565"/>
            <a:ext cx="4649911" cy="4216445"/>
          </a:xfrm>
          <a:prstGeom prst="rect">
            <a:avLst/>
          </a:prstGeom>
        </p:spPr>
      </p:pic>
      <p:pic>
        <p:nvPicPr>
          <p:cNvPr id="2" name="Picture 1">
            <a:extLst>
              <a:ext uri="{FF2B5EF4-FFF2-40B4-BE49-F238E27FC236}">
                <a16:creationId xmlns:a16="http://schemas.microsoft.com/office/drawing/2014/main" id="{DA98F2BB-E696-B48C-496A-512BFD9754A4}"/>
              </a:ext>
            </a:extLst>
          </p:cNvPr>
          <p:cNvPicPr>
            <a:picLocks noChangeAspect="1"/>
          </p:cNvPicPr>
          <p:nvPr/>
        </p:nvPicPr>
        <p:blipFill>
          <a:blip r:embed="rId4"/>
          <a:stretch>
            <a:fillRect/>
          </a:stretch>
        </p:blipFill>
        <p:spPr>
          <a:xfrm>
            <a:off x="10319658" y="617704"/>
            <a:ext cx="1125764" cy="41258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1790" y="1695925"/>
            <a:ext cx="8168093" cy="555772"/>
          </a:xfrm>
          <a:prstGeom prst="rect">
            <a:avLst/>
          </a:prstGeom>
        </p:spPr>
        <p:txBody>
          <a:bodyPr vert="horz" wrap="square" lIns="0" tIns="22013" rIns="0" bIns="0" rtlCol="0">
            <a:spAutoFit/>
          </a:bodyPr>
          <a:lstStyle/>
          <a:p>
            <a:pPr marL="16933">
              <a:spcBef>
                <a:spcPts val="173"/>
              </a:spcBef>
            </a:pPr>
            <a:r>
              <a:rPr sz="3467" b="1" spc="73">
                <a:solidFill>
                  <a:srgbClr val="1A1A1A"/>
                </a:solidFill>
                <a:latin typeface="Trebuchet MS"/>
                <a:cs typeface="Trebuchet MS"/>
              </a:rPr>
              <a:t>T</a:t>
            </a:r>
            <a:r>
              <a:rPr sz="3467" b="1" spc="40">
                <a:solidFill>
                  <a:srgbClr val="1A1A1A"/>
                </a:solidFill>
                <a:latin typeface="Trebuchet MS"/>
                <a:cs typeface="Trebuchet MS"/>
              </a:rPr>
              <a:t>h</a:t>
            </a:r>
            <a:r>
              <a:rPr sz="3467" b="1" spc="-13">
                <a:solidFill>
                  <a:srgbClr val="1A1A1A"/>
                </a:solidFill>
                <a:latin typeface="Trebuchet MS"/>
                <a:cs typeface="Trebuchet MS"/>
              </a:rPr>
              <a:t>e</a:t>
            </a:r>
            <a:r>
              <a:rPr sz="3467" b="1" spc="27">
                <a:solidFill>
                  <a:srgbClr val="1A1A1A"/>
                </a:solidFill>
                <a:latin typeface="Trebuchet MS"/>
                <a:cs typeface="Trebuchet MS"/>
              </a:rPr>
              <a:t>r</a:t>
            </a:r>
            <a:r>
              <a:rPr sz="3467" b="1" spc="107">
                <a:solidFill>
                  <a:srgbClr val="1A1A1A"/>
                </a:solidFill>
                <a:latin typeface="Trebuchet MS"/>
                <a:cs typeface="Trebuchet MS"/>
              </a:rPr>
              <a:t>e</a:t>
            </a:r>
            <a:r>
              <a:rPr sz="3467" spc="-167">
                <a:solidFill>
                  <a:srgbClr val="1A1A1A"/>
                </a:solidFill>
                <a:latin typeface="Times New Roman"/>
                <a:cs typeface="Times New Roman"/>
              </a:rPr>
              <a:t> </a:t>
            </a:r>
            <a:r>
              <a:rPr sz="3467" b="1" spc="20">
                <a:solidFill>
                  <a:srgbClr val="1A1A1A"/>
                </a:solidFill>
                <a:latin typeface="Trebuchet MS"/>
                <a:cs typeface="Trebuchet MS"/>
              </a:rPr>
              <a:t>a</a:t>
            </a:r>
            <a:r>
              <a:rPr sz="3467" b="1" spc="40">
                <a:solidFill>
                  <a:srgbClr val="1A1A1A"/>
                </a:solidFill>
                <a:latin typeface="Trebuchet MS"/>
                <a:cs typeface="Trebuchet MS"/>
              </a:rPr>
              <a:t>r</a:t>
            </a:r>
            <a:r>
              <a:rPr sz="3467" b="1" spc="107">
                <a:solidFill>
                  <a:srgbClr val="1A1A1A"/>
                </a:solidFill>
                <a:latin typeface="Trebuchet MS"/>
                <a:cs typeface="Trebuchet MS"/>
              </a:rPr>
              <a:t>e</a:t>
            </a:r>
            <a:r>
              <a:rPr sz="3467" spc="-167">
                <a:solidFill>
                  <a:srgbClr val="1A1A1A"/>
                </a:solidFill>
                <a:latin typeface="Times New Roman"/>
                <a:cs typeface="Times New Roman"/>
              </a:rPr>
              <a:t> </a:t>
            </a:r>
            <a:r>
              <a:rPr lang="en-MY" sz="3467" b="1" spc="-167">
                <a:solidFill>
                  <a:srgbClr val="1A1A1A"/>
                </a:solidFill>
                <a:latin typeface="Times New Roman"/>
                <a:cs typeface="Times New Roman"/>
              </a:rPr>
              <a:t>majorly</a:t>
            </a:r>
            <a:r>
              <a:rPr lang="en-MY" sz="3467" spc="-167">
                <a:solidFill>
                  <a:srgbClr val="1A1A1A"/>
                </a:solidFill>
                <a:latin typeface="Times New Roman"/>
                <a:cs typeface="Times New Roman"/>
              </a:rPr>
              <a:t> </a:t>
            </a:r>
            <a:r>
              <a:rPr sz="3467" b="1" spc="-60">
                <a:solidFill>
                  <a:srgbClr val="1A1A1A"/>
                </a:solidFill>
                <a:latin typeface="Trebuchet MS"/>
                <a:cs typeface="Trebuchet MS"/>
              </a:rPr>
              <a:t>2</a:t>
            </a:r>
            <a:endParaRPr sz="3467">
              <a:latin typeface="Trebuchet MS"/>
              <a:cs typeface="Trebuchet MS"/>
            </a:endParaRPr>
          </a:p>
        </p:txBody>
      </p:sp>
      <p:sp>
        <p:nvSpPr>
          <p:cNvPr id="3" name="object 3"/>
          <p:cNvSpPr txBox="1"/>
          <p:nvPr/>
        </p:nvSpPr>
        <p:spPr>
          <a:xfrm>
            <a:off x="1337735" y="2715244"/>
            <a:ext cx="4008967" cy="1489296"/>
          </a:xfrm>
          <a:prstGeom prst="rect">
            <a:avLst/>
          </a:prstGeom>
          <a:ln w="9534">
            <a:solidFill>
              <a:srgbClr val="000000"/>
            </a:solidFill>
          </a:ln>
        </p:spPr>
        <p:txBody>
          <a:bodyPr vert="horz" wrap="square" lIns="0" tIns="255693" rIns="0" bIns="0" rtlCol="0">
            <a:spAutoFit/>
          </a:bodyPr>
          <a:lstStyle/>
          <a:p>
            <a:pPr marL="2540" algn="ctr">
              <a:spcBef>
                <a:spcPts val="2013"/>
              </a:spcBef>
            </a:pPr>
            <a:r>
              <a:rPr lang="en-MY" sz="4000" spc="152">
                <a:latin typeface="Tahoma"/>
                <a:cs typeface="Tahoma"/>
              </a:rPr>
              <a:t>Descriptive statistics</a:t>
            </a:r>
            <a:endParaRPr sz="4000">
              <a:latin typeface="Tahoma"/>
              <a:cs typeface="Tahoma"/>
            </a:endParaRPr>
          </a:p>
        </p:txBody>
      </p:sp>
      <p:sp>
        <p:nvSpPr>
          <p:cNvPr id="4" name="object 4"/>
          <p:cNvSpPr txBox="1"/>
          <p:nvPr/>
        </p:nvSpPr>
        <p:spPr>
          <a:xfrm>
            <a:off x="7105256" y="4035787"/>
            <a:ext cx="4008967" cy="1490152"/>
          </a:xfrm>
          <a:prstGeom prst="rect">
            <a:avLst/>
          </a:prstGeom>
          <a:ln w="9534">
            <a:solidFill>
              <a:srgbClr val="000000"/>
            </a:solidFill>
          </a:ln>
        </p:spPr>
        <p:txBody>
          <a:bodyPr vert="horz" wrap="square" lIns="0" tIns="256540" rIns="0" bIns="0" rtlCol="0">
            <a:spAutoFit/>
          </a:bodyPr>
          <a:lstStyle/>
          <a:p>
            <a:pPr algn="ctr">
              <a:spcBef>
                <a:spcPts val="2020"/>
              </a:spcBef>
            </a:pPr>
            <a:r>
              <a:rPr lang="en-MY" sz="4000" spc="120">
                <a:latin typeface="Tahoma"/>
                <a:cs typeface="Tahoma"/>
              </a:rPr>
              <a:t>Inferential statistics</a:t>
            </a:r>
            <a:endParaRPr sz="4000">
              <a:latin typeface="Tahoma"/>
              <a:cs typeface="Tahoma"/>
            </a:endParaRPr>
          </a:p>
        </p:txBody>
      </p:sp>
      <p:sp>
        <p:nvSpPr>
          <p:cNvPr id="5" name="object 5"/>
          <p:cNvSpPr txBox="1"/>
          <p:nvPr/>
        </p:nvSpPr>
        <p:spPr>
          <a:xfrm>
            <a:off x="357717" y="4365599"/>
            <a:ext cx="4173185" cy="1160340"/>
          </a:xfrm>
          <a:prstGeom prst="rect">
            <a:avLst/>
          </a:prstGeom>
        </p:spPr>
        <p:txBody>
          <a:bodyPr vert="horz" wrap="square" lIns="0" tIns="21167" rIns="0" bIns="0" rtlCol="0">
            <a:spAutoFit/>
          </a:bodyPr>
          <a:lstStyle/>
          <a:p>
            <a:pPr marL="16933">
              <a:spcBef>
                <a:spcPts val="167"/>
              </a:spcBef>
            </a:pPr>
            <a:r>
              <a:rPr lang="en-MY" sz="2467" b="1" spc="-13">
                <a:solidFill>
                  <a:srgbClr val="1A9887"/>
                </a:solidFill>
                <a:latin typeface="Tahoma"/>
                <a:cs typeface="Tahoma"/>
              </a:rPr>
              <a:t>Methods concerned with Collection, description, analysing…</a:t>
            </a:r>
            <a:endParaRPr sz="2467">
              <a:latin typeface="Tahoma"/>
              <a:cs typeface="Tahoma"/>
            </a:endParaRPr>
          </a:p>
        </p:txBody>
      </p:sp>
      <p:sp>
        <p:nvSpPr>
          <p:cNvPr id="6" name="object 6"/>
          <p:cNvSpPr txBox="1"/>
          <p:nvPr/>
        </p:nvSpPr>
        <p:spPr>
          <a:xfrm>
            <a:off x="8167957" y="2715244"/>
            <a:ext cx="4177060" cy="1185988"/>
          </a:xfrm>
          <a:prstGeom prst="rect">
            <a:avLst/>
          </a:prstGeom>
        </p:spPr>
        <p:txBody>
          <a:bodyPr vert="horz" wrap="square" lIns="0" tIns="21167" rIns="0" bIns="0" rtlCol="0">
            <a:spAutoFit/>
          </a:bodyPr>
          <a:lstStyle/>
          <a:p>
            <a:pPr marL="16933">
              <a:spcBef>
                <a:spcPts val="167"/>
              </a:spcBef>
            </a:pPr>
            <a:r>
              <a:rPr lang="en-MY" sz="2467" b="1" spc="-20">
                <a:solidFill>
                  <a:srgbClr val="EB5500"/>
                </a:solidFill>
                <a:latin typeface="Tahoma"/>
                <a:cs typeface="Tahoma"/>
              </a:rPr>
              <a:t>Methods concerned with Prediction, inferences, </a:t>
            </a:r>
          </a:p>
          <a:p>
            <a:pPr marL="16933">
              <a:spcBef>
                <a:spcPts val="167"/>
              </a:spcBef>
            </a:pPr>
            <a:r>
              <a:rPr lang="en-MY" sz="2467" b="1" spc="-20">
                <a:solidFill>
                  <a:srgbClr val="EB5500"/>
                </a:solidFill>
                <a:latin typeface="Tahoma"/>
                <a:cs typeface="Tahoma"/>
              </a:rPr>
              <a:t>conclusion</a:t>
            </a:r>
            <a:endParaRPr sz="2467">
              <a:latin typeface="Tahoma"/>
              <a:cs typeface="Tahoma"/>
            </a:endParaRPr>
          </a:p>
        </p:txBody>
      </p:sp>
      <p:sp>
        <p:nvSpPr>
          <p:cNvPr id="7" name="Title 1">
            <a:extLst>
              <a:ext uri="{FF2B5EF4-FFF2-40B4-BE49-F238E27FC236}">
                <a16:creationId xmlns:a16="http://schemas.microsoft.com/office/drawing/2014/main" id="{D744BEFA-1C89-B04D-74B1-B6375F7439BD}"/>
              </a:ext>
            </a:extLst>
          </p:cNvPr>
          <p:cNvSpPr txBox="1">
            <a:spLocks/>
          </p:cNvSpPr>
          <p:nvPr/>
        </p:nvSpPr>
        <p:spPr>
          <a:xfrm>
            <a:off x="467377" y="594546"/>
            <a:ext cx="10515600" cy="671823"/>
          </a:xfrm>
          <a:prstGeom prst="rect">
            <a:avLst/>
          </a:prstGeom>
        </p:spPr>
        <p:txBody>
          <a:bodyP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effectLst>
                  <a:outerShdw blurRad="38100" dist="38100" dir="2700000" algn="tl">
                    <a:srgbClr val="000000">
                      <a:alpha val="43137"/>
                    </a:srgbClr>
                  </a:outerShdw>
                </a:effectLst>
              </a:rPr>
              <a:t>Main statistical methods</a:t>
            </a:r>
            <a:endParaRPr lang="en-US">
              <a:effectLst>
                <a:outerShdw blurRad="38100" dist="38100" dir="2700000" algn="tl">
                  <a:srgbClr val="000000">
                    <a:alpha val="43137"/>
                  </a:srgbClr>
                </a:outerShdw>
              </a:effectLst>
            </a:endParaRPr>
          </a:p>
        </p:txBody>
      </p:sp>
      <p:pic>
        <p:nvPicPr>
          <p:cNvPr id="8" name="Picture 7">
            <a:extLst>
              <a:ext uri="{FF2B5EF4-FFF2-40B4-BE49-F238E27FC236}">
                <a16:creationId xmlns:a16="http://schemas.microsoft.com/office/drawing/2014/main" id="{F306E3A1-F6C7-3211-D84D-4B74EE1FC76C}"/>
              </a:ext>
            </a:extLst>
          </p:cNvPr>
          <p:cNvPicPr>
            <a:picLocks noChangeAspect="1"/>
          </p:cNvPicPr>
          <p:nvPr/>
        </p:nvPicPr>
        <p:blipFill>
          <a:blip r:embed="rId2"/>
          <a:stretch>
            <a:fillRect/>
          </a:stretch>
        </p:blipFill>
        <p:spPr>
          <a:xfrm>
            <a:off x="10319658" y="617704"/>
            <a:ext cx="1125764" cy="41258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9601" y="666052"/>
            <a:ext cx="7379547" cy="555772"/>
          </a:xfrm>
          <a:prstGeom prst="rect">
            <a:avLst/>
          </a:prstGeom>
        </p:spPr>
        <p:txBody>
          <a:bodyPr vert="horz" wrap="square" lIns="0" tIns="22013" rIns="0" bIns="0" rtlCol="0" anchor="ctr">
            <a:spAutoFit/>
          </a:bodyPr>
          <a:lstStyle/>
          <a:p>
            <a:pPr marL="16933">
              <a:lnSpc>
                <a:spcPct val="100000"/>
              </a:lnSpc>
              <a:spcBef>
                <a:spcPts val="173"/>
              </a:spcBef>
            </a:pPr>
            <a:r>
              <a:rPr lang="en-MY" sz="3400" spc="160">
                <a:latin typeface="Abadi" panose="020B0604020104020204" pitchFamily="34" charset="0"/>
              </a:rPr>
              <a:t>Descriptive statistics</a:t>
            </a:r>
          </a:p>
        </p:txBody>
      </p:sp>
      <p:sp>
        <p:nvSpPr>
          <p:cNvPr id="8" name="TextBox 7">
            <a:extLst>
              <a:ext uri="{FF2B5EF4-FFF2-40B4-BE49-F238E27FC236}">
                <a16:creationId xmlns:a16="http://schemas.microsoft.com/office/drawing/2014/main" id="{3E2D95B1-37FB-0176-014E-26934E85BAE1}"/>
              </a:ext>
            </a:extLst>
          </p:cNvPr>
          <p:cNvSpPr txBox="1"/>
          <p:nvPr/>
        </p:nvSpPr>
        <p:spPr>
          <a:xfrm>
            <a:off x="739600" y="1594755"/>
            <a:ext cx="10726359" cy="4401205"/>
          </a:xfrm>
          <a:prstGeom prst="rect">
            <a:avLst/>
          </a:prstGeom>
          <a:noFill/>
        </p:spPr>
        <p:txBody>
          <a:bodyPr wrap="square">
            <a:spAutoFit/>
          </a:bodyPr>
          <a:lstStyle/>
          <a:p>
            <a:pPr marL="457200" indent="-457200" algn="just">
              <a:buFontTx/>
              <a:buChar char="-"/>
            </a:pPr>
            <a:r>
              <a:rPr lang="en-US" sz="2800"/>
              <a:t>Descriptive statistics just like its name merely describes a dataset. It summarizes the properties of the data. We can think of it as data exploration</a:t>
            </a:r>
          </a:p>
          <a:p>
            <a:pPr marL="457200" indent="-457200" algn="just">
              <a:buFontTx/>
              <a:buChar char="-"/>
            </a:pPr>
            <a:endParaRPr lang="en-US" sz="2800"/>
          </a:p>
          <a:p>
            <a:pPr marL="457200" indent="-457200" algn="just">
              <a:buFontTx/>
              <a:buChar char="-"/>
            </a:pPr>
            <a:r>
              <a:rPr lang="en-US" sz="2800"/>
              <a:t>This is usually the first step in statistical analysis. The dataset is described to observe relationships between variables, or just observe general characteristics of the data</a:t>
            </a:r>
          </a:p>
          <a:p>
            <a:pPr marL="457200" indent="-457200" algn="just">
              <a:buFontTx/>
              <a:buChar char="-"/>
            </a:pPr>
            <a:endParaRPr lang="en-US" sz="2800"/>
          </a:p>
          <a:p>
            <a:pPr marL="457200" indent="-457200" algn="just">
              <a:buFontTx/>
              <a:buChar char="-"/>
            </a:pPr>
            <a:r>
              <a:rPr lang="en-US" sz="2800"/>
              <a:t>It allows us to make sense of the data</a:t>
            </a:r>
          </a:p>
          <a:p>
            <a:pPr marL="457200" indent="-457200" algn="just">
              <a:buFontTx/>
              <a:buChar char="-"/>
            </a:pPr>
            <a:endParaRPr lang="en-US" sz="2800"/>
          </a:p>
        </p:txBody>
      </p:sp>
      <p:pic>
        <p:nvPicPr>
          <p:cNvPr id="3" name="Picture 2">
            <a:extLst>
              <a:ext uri="{FF2B5EF4-FFF2-40B4-BE49-F238E27FC236}">
                <a16:creationId xmlns:a16="http://schemas.microsoft.com/office/drawing/2014/main" id="{3CD38AAF-E095-9D6F-30F9-D6F2792D527B}"/>
              </a:ext>
            </a:extLst>
          </p:cNvPr>
          <p:cNvPicPr>
            <a:picLocks noChangeAspect="1"/>
          </p:cNvPicPr>
          <p:nvPr/>
        </p:nvPicPr>
        <p:blipFill>
          <a:blip r:embed="rId2"/>
          <a:stretch>
            <a:fillRect/>
          </a:stretch>
        </p:blipFill>
        <p:spPr>
          <a:xfrm>
            <a:off x="10319658" y="617704"/>
            <a:ext cx="1125764" cy="41258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9" y="1393049"/>
            <a:ext cx="4890094"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11479" y="2684095"/>
            <a:ext cx="4890093" cy="3492868"/>
          </a:xfrm>
          <a:prstGeom prst="rect">
            <a:avLst/>
          </a:prstGeom>
        </p:spPr>
        <p:txBody>
          <a:bodyPr vert="horz" lIns="91440" tIns="45720" rIns="91440" bIns="45720" rtlCol="0">
            <a:normAutofit/>
          </a:bodyPr>
          <a:lstStyle/>
          <a:p>
            <a:pPr marL="228600" lvl="1">
              <a:lnSpc>
                <a:spcPct val="90000"/>
              </a:lnSpc>
              <a:spcAft>
                <a:spcPts val="600"/>
              </a:spcAft>
            </a:pPr>
            <a:r>
              <a:rPr lang="en-US" sz="2400"/>
              <a:t>For example, we may be concerned about describing:</a:t>
            </a:r>
          </a:p>
          <a:p>
            <a:pPr lvl="1" indent="-228600">
              <a:lnSpc>
                <a:spcPct val="90000"/>
              </a:lnSpc>
              <a:spcAft>
                <a:spcPts val="600"/>
              </a:spcAft>
              <a:buFont typeface="Arial" panose="020B0604020202020204" pitchFamily="34" charset="0"/>
              <a:buChar char="•"/>
            </a:pPr>
            <a:r>
              <a:rPr lang="en-US" sz="2400"/>
              <a:t>The weight of a product in a production line.</a:t>
            </a:r>
          </a:p>
          <a:p>
            <a:pPr lvl="1" indent="-228600">
              <a:lnSpc>
                <a:spcPct val="90000"/>
              </a:lnSpc>
              <a:spcAft>
                <a:spcPts val="600"/>
              </a:spcAft>
              <a:buFont typeface="Arial" panose="020B0604020202020204" pitchFamily="34" charset="0"/>
              <a:buChar char="•"/>
            </a:pPr>
            <a:r>
              <a:rPr lang="en-US" sz="2400"/>
              <a:t>The time taken to process an application.</a:t>
            </a:r>
          </a:p>
        </p:txBody>
      </p:sp>
      <p:sp>
        <p:nvSpPr>
          <p:cNvPr id="3" name="object 3"/>
          <p:cNvSpPr txBox="1"/>
          <p:nvPr/>
        </p:nvSpPr>
        <p:spPr>
          <a:xfrm>
            <a:off x="1078648" y="2842007"/>
            <a:ext cx="6082453" cy="396241"/>
          </a:xfrm>
          <a:prstGeom prst="rect">
            <a:avLst/>
          </a:prstGeom>
        </p:spPr>
        <p:txBody>
          <a:bodyPr vert="horz" wrap="square" lIns="0" tIns="14393" rIns="0" bIns="0" rtlCol="0">
            <a:spAutoFit/>
          </a:bodyPr>
          <a:lstStyle/>
          <a:p>
            <a:pPr marL="16933" marR="6773">
              <a:lnSpc>
                <a:spcPct val="115300"/>
              </a:lnSpc>
              <a:spcBef>
                <a:spcPts val="113"/>
              </a:spcBef>
            </a:pPr>
            <a:endParaRPr sz="2400">
              <a:latin typeface="Tahoma"/>
              <a:cs typeface="Tahoma"/>
            </a:endParaRPr>
          </a:p>
        </p:txBody>
      </p:sp>
      <p:sp>
        <p:nvSpPr>
          <p:cNvPr id="5" name="TextBox 4">
            <a:extLst>
              <a:ext uri="{FF2B5EF4-FFF2-40B4-BE49-F238E27FC236}">
                <a16:creationId xmlns:a16="http://schemas.microsoft.com/office/drawing/2014/main" id="{06A2284D-6769-61DC-B5D1-C4AF35CD7EAF}"/>
              </a:ext>
            </a:extLst>
          </p:cNvPr>
          <p:cNvSpPr txBox="1"/>
          <p:nvPr/>
        </p:nvSpPr>
        <p:spPr>
          <a:xfrm>
            <a:off x="5968741" y="2684095"/>
            <a:ext cx="5599960" cy="1569660"/>
          </a:xfrm>
          <a:prstGeom prst="rect">
            <a:avLst/>
          </a:prstGeom>
          <a:noFill/>
        </p:spPr>
        <p:txBody>
          <a:bodyPr wrap="square" rtlCol="0">
            <a:spAutoFit/>
          </a:bodyPr>
          <a:lstStyle/>
          <a:p>
            <a:pPr algn="just"/>
            <a:r>
              <a:rPr lang="en-US" sz="2400">
                <a:solidFill>
                  <a:srgbClr val="002060"/>
                </a:solidFill>
              </a:rPr>
              <a:t>In summary, </a:t>
            </a:r>
          </a:p>
          <a:p>
            <a:pPr marL="342900" indent="-342900" algn="just">
              <a:buFont typeface="Arial" panose="020B0604020202020204" pitchFamily="34" charset="0"/>
              <a:buChar char="•"/>
            </a:pPr>
            <a:r>
              <a:rPr lang="en-US" sz="2400">
                <a:solidFill>
                  <a:srgbClr val="002060"/>
                </a:solidFill>
              </a:rPr>
              <a:t>Descriptive statistics involves describing, summarizing and  organizing the data so it can be easily understood.</a:t>
            </a:r>
          </a:p>
        </p:txBody>
      </p:sp>
      <p:pic>
        <p:nvPicPr>
          <p:cNvPr id="4" name="Picture 3">
            <a:extLst>
              <a:ext uri="{FF2B5EF4-FFF2-40B4-BE49-F238E27FC236}">
                <a16:creationId xmlns:a16="http://schemas.microsoft.com/office/drawing/2014/main" id="{3B4D2897-3B6D-715C-9FFE-67A837D3AB22}"/>
              </a:ext>
            </a:extLst>
          </p:cNvPr>
          <p:cNvPicPr>
            <a:picLocks noChangeAspect="1"/>
          </p:cNvPicPr>
          <p:nvPr/>
        </p:nvPicPr>
        <p:blipFill>
          <a:blip r:embed="rId2"/>
          <a:stretch>
            <a:fillRect/>
          </a:stretch>
        </p:blipFill>
        <p:spPr>
          <a:xfrm>
            <a:off x="10319658" y="617704"/>
            <a:ext cx="1125764" cy="4125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11520" y="729491"/>
            <a:ext cx="7379547" cy="555772"/>
          </a:xfrm>
          <a:prstGeom prst="rect">
            <a:avLst/>
          </a:prstGeom>
        </p:spPr>
        <p:txBody>
          <a:bodyPr vert="horz" wrap="square" lIns="0" tIns="22013" rIns="0" bIns="0" rtlCol="0" anchor="ctr">
            <a:spAutoFit/>
          </a:bodyPr>
          <a:lstStyle/>
          <a:p>
            <a:pPr marL="16933">
              <a:lnSpc>
                <a:spcPct val="100000"/>
              </a:lnSpc>
              <a:spcBef>
                <a:spcPts val="173"/>
              </a:spcBef>
            </a:pPr>
            <a:r>
              <a:rPr lang="en-MY" sz="3400" spc="160">
                <a:latin typeface="Abadi" panose="020B0604020104020204" pitchFamily="34" charset="0"/>
              </a:rPr>
              <a:t>Descriptive statistics</a:t>
            </a:r>
          </a:p>
        </p:txBody>
      </p:sp>
      <p:pic>
        <p:nvPicPr>
          <p:cNvPr id="3" name="Picture 2">
            <a:extLst>
              <a:ext uri="{FF2B5EF4-FFF2-40B4-BE49-F238E27FC236}">
                <a16:creationId xmlns:a16="http://schemas.microsoft.com/office/drawing/2014/main" id="{ED892F74-55C9-9D75-498A-FBE14CB992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470" y="1285076"/>
            <a:ext cx="8551786" cy="5195210"/>
          </a:xfrm>
          <a:prstGeom prst="rect">
            <a:avLst/>
          </a:prstGeom>
        </p:spPr>
      </p:pic>
      <p:sp>
        <p:nvSpPr>
          <p:cNvPr id="5" name="TextBox 4">
            <a:extLst>
              <a:ext uri="{FF2B5EF4-FFF2-40B4-BE49-F238E27FC236}">
                <a16:creationId xmlns:a16="http://schemas.microsoft.com/office/drawing/2014/main" id="{C38873A7-0F17-A656-E2A1-3D4BFFEC55C8}"/>
              </a:ext>
            </a:extLst>
          </p:cNvPr>
          <p:cNvSpPr txBox="1"/>
          <p:nvPr/>
        </p:nvSpPr>
        <p:spPr>
          <a:xfrm>
            <a:off x="9404969" y="1006576"/>
            <a:ext cx="2519737" cy="1477328"/>
          </a:xfrm>
          <a:prstGeom prst="rect">
            <a:avLst/>
          </a:prstGeom>
          <a:noFill/>
        </p:spPr>
        <p:txBody>
          <a:bodyPr wrap="square">
            <a:spAutoFit/>
          </a:bodyPr>
          <a:lstStyle/>
          <a:p>
            <a:r>
              <a:rPr lang="en-US" sz="1800"/>
              <a:t>Graphical displays are often used along with the quantitative measures to enable clarity of communication</a:t>
            </a:r>
            <a:endParaRPr lang="en-MY" sz="1800"/>
          </a:p>
        </p:txBody>
      </p:sp>
      <p:pic>
        <p:nvPicPr>
          <p:cNvPr id="4" name="Picture 3">
            <a:extLst>
              <a:ext uri="{FF2B5EF4-FFF2-40B4-BE49-F238E27FC236}">
                <a16:creationId xmlns:a16="http://schemas.microsoft.com/office/drawing/2014/main" id="{011A122B-B11D-9E6B-DEC1-C3D84A266A41}"/>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3995982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9" y="1393049"/>
            <a:ext cx="4890094"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70" y="2399809"/>
            <a:ext cx="10818175" cy="3492868"/>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2400">
                <a:latin typeface="Calibri"/>
                <a:cs typeface="Calibri"/>
              </a:rPr>
              <a:t>When</a:t>
            </a:r>
            <a:r>
              <a:rPr lang="en-US" sz="2400" spc="-15">
                <a:latin typeface="Calibri"/>
                <a:cs typeface="Calibri"/>
              </a:rPr>
              <a:t> </a:t>
            </a:r>
            <a:r>
              <a:rPr lang="en-US" sz="2400" spc="-5">
                <a:latin typeface="Calibri"/>
                <a:cs typeface="Calibri"/>
              </a:rPr>
              <a:t>analyzing</a:t>
            </a:r>
            <a:r>
              <a:rPr lang="en-US" sz="2400" spc="-15">
                <a:latin typeface="Calibri"/>
                <a:cs typeface="Calibri"/>
              </a:rPr>
              <a:t> </a:t>
            </a:r>
            <a:r>
              <a:rPr lang="en-US" sz="2400">
                <a:latin typeface="Calibri"/>
                <a:cs typeface="Calibri"/>
              </a:rPr>
              <a:t>a</a:t>
            </a:r>
            <a:r>
              <a:rPr lang="en-US" sz="2400" spc="-10">
                <a:latin typeface="Calibri"/>
                <a:cs typeface="Calibri"/>
              </a:rPr>
              <a:t> </a:t>
            </a:r>
            <a:r>
              <a:rPr lang="en-US" sz="2400">
                <a:latin typeface="Calibri"/>
                <a:cs typeface="Calibri"/>
              </a:rPr>
              <a:t>graphical</a:t>
            </a:r>
            <a:r>
              <a:rPr lang="en-US" sz="2400" spc="-20">
                <a:latin typeface="Calibri"/>
                <a:cs typeface="Calibri"/>
              </a:rPr>
              <a:t> </a:t>
            </a:r>
            <a:r>
              <a:rPr lang="en-US" sz="2400" spc="-5">
                <a:latin typeface="Calibri"/>
                <a:cs typeface="Calibri"/>
              </a:rPr>
              <a:t>display, </a:t>
            </a:r>
            <a:r>
              <a:rPr lang="en-US" sz="2400">
                <a:latin typeface="Calibri"/>
                <a:cs typeface="Calibri"/>
              </a:rPr>
              <a:t>you</a:t>
            </a:r>
            <a:r>
              <a:rPr lang="en-US" sz="2400" spc="-10">
                <a:latin typeface="Calibri"/>
                <a:cs typeface="Calibri"/>
              </a:rPr>
              <a:t> </a:t>
            </a:r>
            <a:r>
              <a:rPr lang="en-US" sz="2400">
                <a:latin typeface="Calibri"/>
                <a:cs typeface="Calibri"/>
              </a:rPr>
              <a:t>can</a:t>
            </a:r>
            <a:r>
              <a:rPr lang="en-US" sz="2400" spc="-15">
                <a:latin typeface="Calibri"/>
                <a:cs typeface="Calibri"/>
              </a:rPr>
              <a:t> </a:t>
            </a:r>
            <a:r>
              <a:rPr lang="en-US" sz="2400" spc="-5">
                <a:latin typeface="Calibri"/>
                <a:cs typeface="Calibri"/>
              </a:rPr>
              <a:t>draw</a:t>
            </a:r>
            <a:r>
              <a:rPr lang="en-US" sz="2400" spc="-20">
                <a:latin typeface="Calibri"/>
                <a:cs typeface="Calibri"/>
              </a:rPr>
              <a:t> </a:t>
            </a:r>
            <a:r>
              <a:rPr lang="en-US" sz="2400">
                <a:latin typeface="Calibri"/>
                <a:cs typeface="Calibri"/>
              </a:rPr>
              <a:t>conclusions </a:t>
            </a:r>
            <a:r>
              <a:rPr lang="en-US" sz="2400" spc="-530">
                <a:latin typeface="Calibri"/>
                <a:cs typeface="Calibri"/>
              </a:rPr>
              <a:t> </a:t>
            </a:r>
            <a:r>
              <a:rPr lang="en-US" sz="2400" spc="-5">
                <a:latin typeface="Calibri"/>
                <a:cs typeface="Calibri"/>
              </a:rPr>
              <a:t>based</a:t>
            </a:r>
            <a:r>
              <a:rPr lang="en-US" sz="2400" spc="-10">
                <a:latin typeface="Calibri"/>
                <a:cs typeface="Calibri"/>
              </a:rPr>
              <a:t> </a:t>
            </a:r>
            <a:r>
              <a:rPr lang="en-US" sz="2400" spc="-5">
                <a:latin typeface="Calibri"/>
                <a:cs typeface="Calibri"/>
              </a:rPr>
              <a:t>on</a:t>
            </a:r>
            <a:r>
              <a:rPr lang="en-US" sz="2400" spc="5">
                <a:latin typeface="Calibri"/>
                <a:cs typeface="Calibri"/>
              </a:rPr>
              <a:t> </a:t>
            </a:r>
            <a:r>
              <a:rPr lang="en-US" sz="2400" spc="-5">
                <a:latin typeface="Calibri"/>
                <a:cs typeface="Calibri"/>
              </a:rPr>
              <a:t>several </a:t>
            </a:r>
            <a:r>
              <a:rPr lang="en-US" sz="2400">
                <a:latin typeface="Calibri"/>
                <a:cs typeface="Calibri"/>
              </a:rPr>
              <a:t>characteristics</a:t>
            </a:r>
            <a:r>
              <a:rPr lang="en-US" sz="2400" spc="-35">
                <a:latin typeface="Calibri"/>
                <a:cs typeface="Calibri"/>
              </a:rPr>
              <a:t> </a:t>
            </a:r>
            <a:r>
              <a:rPr lang="en-US" sz="2400" spc="-5">
                <a:latin typeface="Calibri"/>
                <a:cs typeface="Calibri"/>
              </a:rPr>
              <a:t>of</a:t>
            </a:r>
            <a:r>
              <a:rPr lang="en-US" sz="2400" spc="-10">
                <a:latin typeface="Calibri"/>
                <a:cs typeface="Calibri"/>
              </a:rPr>
              <a:t> </a:t>
            </a:r>
            <a:r>
              <a:rPr lang="en-US" sz="2400">
                <a:latin typeface="Calibri"/>
                <a:cs typeface="Calibri"/>
              </a:rPr>
              <a:t>the graph </a:t>
            </a:r>
            <a:r>
              <a:rPr lang="en-US" sz="2400" b="1">
                <a:latin typeface="Calibri"/>
                <a:cs typeface="Calibri"/>
              </a:rPr>
              <a:t>You</a:t>
            </a:r>
            <a:r>
              <a:rPr lang="en-US" sz="2400" b="1" spc="-15">
                <a:latin typeface="Calibri"/>
                <a:cs typeface="Calibri"/>
              </a:rPr>
              <a:t> </a:t>
            </a:r>
            <a:r>
              <a:rPr lang="en-US" sz="2400" b="1" spc="-5">
                <a:latin typeface="Calibri"/>
                <a:cs typeface="Calibri"/>
              </a:rPr>
              <a:t>may</a:t>
            </a:r>
            <a:r>
              <a:rPr lang="en-US" sz="2400" b="1" spc="-30">
                <a:latin typeface="Calibri"/>
                <a:cs typeface="Calibri"/>
              </a:rPr>
              <a:t> </a:t>
            </a:r>
            <a:r>
              <a:rPr lang="en-US" sz="2400" b="1">
                <a:latin typeface="Calibri"/>
                <a:cs typeface="Calibri"/>
              </a:rPr>
              <a:t>ask</a:t>
            </a:r>
            <a:r>
              <a:rPr lang="en-US" sz="2400" b="1" spc="-25">
                <a:latin typeface="Calibri"/>
                <a:cs typeface="Calibri"/>
              </a:rPr>
              <a:t> </a:t>
            </a:r>
            <a:r>
              <a:rPr lang="en-US" sz="2400" b="1" spc="-5">
                <a:latin typeface="Calibri"/>
                <a:cs typeface="Calibri"/>
              </a:rPr>
              <a:t>questions</a:t>
            </a:r>
            <a:r>
              <a:rPr lang="en-US" sz="2400" b="1">
                <a:latin typeface="Calibri"/>
                <a:cs typeface="Calibri"/>
              </a:rPr>
              <a:t> such</a:t>
            </a:r>
            <a:r>
              <a:rPr lang="en-US" sz="2400" b="1" spc="-35">
                <a:latin typeface="Calibri"/>
                <a:cs typeface="Calibri"/>
              </a:rPr>
              <a:t> </a:t>
            </a:r>
            <a:r>
              <a:rPr lang="en-US" sz="2400" b="1">
                <a:latin typeface="Calibri"/>
                <a:cs typeface="Calibri"/>
              </a:rPr>
              <a:t>ask:</a:t>
            </a:r>
            <a:endParaRPr lang="en-US" sz="2400">
              <a:latin typeface="Calibri"/>
              <a:cs typeface="Calibri"/>
            </a:endParaRPr>
          </a:p>
          <a:p>
            <a:pPr marL="812165" lvl="1" indent="-342900">
              <a:lnSpc>
                <a:spcPct val="100000"/>
              </a:lnSpc>
              <a:spcBef>
                <a:spcPts val="320"/>
              </a:spcBef>
              <a:buClr>
                <a:srgbClr val="16165D"/>
              </a:buClr>
              <a:buSzPct val="68181"/>
              <a:buFont typeface="Arial" panose="020B0604020202020204" pitchFamily="34" charset="0"/>
              <a:buChar char="•"/>
              <a:tabLst>
                <a:tab pos="756285" algn="l"/>
                <a:tab pos="756920" algn="l"/>
              </a:tabLst>
            </a:pPr>
            <a:r>
              <a:rPr lang="en-US" sz="2400" spc="-5">
                <a:latin typeface="Calibri"/>
                <a:cs typeface="Calibri"/>
              </a:rPr>
              <a:t>Where</a:t>
            </a:r>
            <a:r>
              <a:rPr lang="en-US" sz="2400" spc="10">
                <a:latin typeface="Calibri"/>
                <a:cs typeface="Calibri"/>
              </a:rPr>
              <a:t> </a:t>
            </a:r>
            <a:r>
              <a:rPr lang="en-US" sz="2400" spc="-5">
                <a:latin typeface="Calibri"/>
                <a:cs typeface="Calibri"/>
              </a:rPr>
              <a:t>is</a:t>
            </a:r>
            <a:r>
              <a:rPr lang="en-US" sz="2400">
                <a:latin typeface="Calibri"/>
                <a:cs typeface="Calibri"/>
              </a:rPr>
              <a:t> </a:t>
            </a:r>
            <a:r>
              <a:rPr lang="en-US" sz="2400" spc="-5">
                <a:latin typeface="Calibri"/>
                <a:cs typeface="Calibri"/>
              </a:rPr>
              <a:t>the</a:t>
            </a:r>
            <a:r>
              <a:rPr lang="en-US" sz="2400" spc="10">
                <a:latin typeface="Calibri"/>
                <a:cs typeface="Calibri"/>
              </a:rPr>
              <a:t> </a:t>
            </a:r>
            <a:r>
              <a:rPr lang="en-US" sz="2400" spc="-5">
                <a:latin typeface="Calibri"/>
                <a:cs typeface="Calibri"/>
              </a:rPr>
              <a:t>approximate</a:t>
            </a:r>
            <a:r>
              <a:rPr lang="en-US" sz="2400" spc="-15">
                <a:latin typeface="Calibri"/>
                <a:cs typeface="Calibri"/>
              </a:rPr>
              <a:t> </a:t>
            </a:r>
            <a:r>
              <a:rPr lang="en-US" sz="2400" spc="-5">
                <a:latin typeface="Calibri"/>
                <a:cs typeface="Calibri"/>
              </a:rPr>
              <a:t>middle,</a:t>
            </a:r>
            <a:r>
              <a:rPr lang="en-US" sz="2400">
                <a:latin typeface="Calibri"/>
                <a:cs typeface="Calibri"/>
              </a:rPr>
              <a:t> or </a:t>
            </a:r>
            <a:r>
              <a:rPr lang="en-US" sz="2400" spc="-5">
                <a:latin typeface="Calibri"/>
                <a:cs typeface="Calibri"/>
              </a:rPr>
              <a:t>center,</a:t>
            </a:r>
            <a:r>
              <a:rPr lang="en-US" sz="2400" spc="20">
                <a:latin typeface="Calibri"/>
                <a:cs typeface="Calibri"/>
              </a:rPr>
              <a:t> </a:t>
            </a:r>
            <a:r>
              <a:rPr lang="en-US" sz="2400" spc="-5">
                <a:latin typeface="Calibri"/>
                <a:cs typeface="Calibri"/>
              </a:rPr>
              <a:t>of</a:t>
            </a:r>
            <a:r>
              <a:rPr lang="en-US" sz="2400" spc="5">
                <a:latin typeface="Calibri"/>
                <a:cs typeface="Calibri"/>
              </a:rPr>
              <a:t> </a:t>
            </a:r>
            <a:r>
              <a:rPr lang="en-US" sz="2400" spc="-5">
                <a:latin typeface="Calibri"/>
                <a:cs typeface="Calibri"/>
              </a:rPr>
              <a:t>the</a:t>
            </a:r>
            <a:r>
              <a:rPr lang="en-US" sz="2400" spc="10">
                <a:latin typeface="Calibri"/>
                <a:cs typeface="Calibri"/>
              </a:rPr>
              <a:t> </a:t>
            </a:r>
            <a:r>
              <a:rPr lang="en-US" sz="2400" spc="-5">
                <a:latin typeface="Calibri"/>
                <a:cs typeface="Calibri"/>
              </a:rPr>
              <a:t>graph?</a:t>
            </a:r>
            <a:endParaRPr lang="en-US" sz="2400">
              <a:latin typeface="Calibri"/>
              <a:cs typeface="Calibri"/>
            </a:endParaRPr>
          </a:p>
          <a:p>
            <a:pPr marL="812165" lvl="1" indent="-342900">
              <a:lnSpc>
                <a:spcPct val="100000"/>
              </a:lnSpc>
              <a:spcBef>
                <a:spcPts val="300"/>
              </a:spcBef>
              <a:buClr>
                <a:srgbClr val="16165D"/>
              </a:buClr>
              <a:buSzPct val="68181"/>
              <a:buFont typeface="Arial" panose="020B0604020202020204" pitchFamily="34" charset="0"/>
              <a:buChar char="•"/>
              <a:tabLst>
                <a:tab pos="756285" algn="l"/>
                <a:tab pos="756920" algn="l"/>
              </a:tabLst>
            </a:pPr>
            <a:r>
              <a:rPr lang="en-US" sz="2400" spc="-5">
                <a:latin typeface="Calibri"/>
                <a:cs typeface="Calibri"/>
              </a:rPr>
              <a:t>How</a:t>
            </a:r>
            <a:r>
              <a:rPr lang="en-US" sz="2400" spc="10">
                <a:latin typeface="Calibri"/>
                <a:cs typeface="Calibri"/>
              </a:rPr>
              <a:t> </a:t>
            </a:r>
            <a:r>
              <a:rPr lang="en-US" sz="2400" spc="-5">
                <a:latin typeface="Calibri"/>
                <a:cs typeface="Calibri"/>
              </a:rPr>
              <a:t>spread out are</a:t>
            </a:r>
            <a:r>
              <a:rPr lang="en-US" sz="2400" spc="10">
                <a:latin typeface="Calibri"/>
                <a:cs typeface="Calibri"/>
              </a:rPr>
              <a:t> </a:t>
            </a:r>
            <a:r>
              <a:rPr lang="en-US" sz="2400" spc="-5">
                <a:latin typeface="Calibri"/>
                <a:cs typeface="Calibri"/>
              </a:rPr>
              <a:t>the data</a:t>
            </a:r>
            <a:r>
              <a:rPr lang="en-US" sz="2400" spc="5">
                <a:latin typeface="Calibri"/>
                <a:cs typeface="Calibri"/>
              </a:rPr>
              <a:t> </a:t>
            </a:r>
            <a:r>
              <a:rPr lang="en-US" sz="2400" spc="-5">
                <a:latin typeface="Calibri"/>
                <a:cs typeface="Calibri"/>
              </a:rPr>
              <a:t>values</a:t>
            </a:r>
            <a:r>
              <a:rPr lang="en-US" sz="2400" spc="5">
                <a:latin typeface="Calibri"/>
                <a:cs typeface="Calibri"/>
              </a:rPr>
              <a:t> </a:t>
            </a:r>
            <a:r>
              <a:rPr lang="en-US" sz="2400">
                <a:latin typeface="Calibri"/>
                <a:cs typeface="Calibri"/>
              </a:rPr>
              <a:t>on</a:t>
            </a:r>
            <a:r>
              <a:rPr lang="en-US" sz="2400" spc="-5">
                <a:latin typeface="Calibri"/>
                <a:cs typeface="Calibri"/>
              </a:rPr>
              <a:t> the</a:t>
            </a:r>
            <a:r>
              <a:rPr lang="en-US" sz="2400" spc="10">
                <a:latin typeface="Calibri"/>
                <a:cs typeface="Calibri"/>
              </a:rPr>
              <a:t> </a:t>
            </a:r>
            <a:r>
              <a:rPr lang="en-US" sz="2400" spc="-5">
                <a:latin typeface="Calibri"/>
                <a:cs typeface="Calibri"/>
              </a:rPr>
              <a:t>graph?</a:t>
            </a:r>
            <a:endParaRPr lang="en-US" sz="2400">
              <a:latin typeface="Calibri"/>
              <a:cs typeface="Calibri"/>
            </a:endParaRPr>
          </a:p>
          <a:p>
            <a:pPr marL="812165" lvl="1" indent="-342900">
              <a:lnSpc>
                <a:spcPct val="100000"/>
              </a:lnSpc>
              <a:spcBef>
                <a:spcPts val="300"/>
              </a:spcBef>
              <a:buClr>
                <a:srgbClr val="16165D"/>
              </a:buClr>
              <a:buSzPct val="68181"/>
              <a:buFont typeface="Arial" panose="020B0604020202020204" pitchFamily="34" charset="0"/>
              <a:buChar char="•"/>
              <a:tabLst>
                <a:tab pos="756285" algn="l"/>
                <a:tab pos="756920" algn="l"/>
              </a:tabLst>
            </a:pPr>
            <a:r>
              <a:rPr lang="en-US" sz="2400" spc="-5">
                <a:latin typeface="Calibri"/>
                <a:cs typeface="Calibri"/>
              </a:rPr>
              <a:t>What</a:t>
            </a:r>
            <a:r>
              <a:rPr lang="en-US" sz="2400">
                <a:latin typeface="Calibri"/>
                <a:cs typeface="Calibri"/>
              </a:rPr>
              <a:t> </a:t>
            </a:r>
            <a:r>
              <a:rPr lang="en-US" sz="2400" spc="-5">
                <a:latin typeface="Calibri"/>
                <a:cs typeface="Calibri"/>
              </a:rPr>
              <a:t>is</a:t>
            </a:r>
            <a:r>
              <a:rPr lang="en-US" sz="2400">
                <a:latin typeface="Calibri"/>
                <a:cs typeface="Calibri"/>
              </a:rPr>
              <a:t> </a:t>
            </a:r>
            <a:r>
              <a:rPr lang="en-US" sz="2400" spc="-5">
                <a:latin typeface="Calibri"/>
                <a:cs typeface="Calibri"/>
              </a:rPr>
              <a:t>the</a:t>
            </a:r>
            <a:r>
              <a:rPr lang="en-US" sz="2400" spc="10">
                <a:latin typeface="Calibri"/>
                <a:cs typeface="Calibri"/>
              </a:rPr>
              <a:t> </a:t>
            </a:r>
            <a:r>
              <a:rPr lang="en-US" sz="2400" spc="-5">
                <a:latin typeface="Calibri"/>
                <a:cs typeface="Calibri"/>
              </a:rPr>
              <a:t>overall</a:t>
            </a:r>
            <a:r>
              <a:rPr lang="en-US" sz="2400" spc="-20">
                <a:latin typeface="Calibri"/>
                <a:cs typeface="Calibri"/>
              </a:rPr>
              <a:t> </a:t>
            </a:r>
            <a:r>
              <a:rPr lang="en-US" sz="2400" spc="-5">
                <a:latin typeface="Calibri"/>
                <a:cs typeface="Calibri"/>
              </a:rPr>
              <a:t>shape</a:t>
            </a:r>
            <a:r>
              <a:rPr lang="en-US" sz="2400" spc="-10">
                <a:latin typeface="Calibri"/>
                <a:cs typeface="Calibri"/>
              </a:rPr>
              <a:t> </a:t>
            </a:r>
            <a:r>
              <a:rPr lang="en-US" sz="2400" spc="-5">
                <a:latin typeface="Calibri"/>
                <a:cs typeface="Calibri"/>
              </a:rPr>
              <a:t>of</a:t>
            </a:r>
            <a:r>
              <a:rPr lang="en-US" sz="2400" spc="5">
                <a:latin typeface="Calibri"/>
                <a:cs typeface="Calibri"/>
              </a:rPr>
              <a:t> </a:t>
            </a:r>
            <a:r>
              <a:rPr lang="en-US" sz="2400" spc="-5">
                <a:latin typeface="Calibri"/>
                <a:cs typeface="Calibri"/>
              </a:rPr>
              <a:t>the</a:t>
            </a:r>
            <a:r>
              <a:rPr lang="en-US" sz="2400" spc="10">
                <a:latin typeface="Calibri"/>
                <a:cs typeface="Calibri"/>
              </a:rPr>
              <a:t> </a:t>
            </a:r>
            <a:r>
              <a:rPr lang="en-US" sz="2400" spc="-5">
                <a:latin typeface="Calibri"/>
                <a:cs typeface="Calibri"/>
              </a:rPr>
              <a:t>graph?</a:t>
            </a:r>
            <a:endParaRPr lang="en-US" sz="2400">
              <a:latin typeface="Calibri"/>
              <a:cs typeface="Calibri"/>
            </a:endParaRPr>
          </a:p>
          <a:p>
            <a:pPr marL="812165" lvl="1" indent="-342900">
              <a:lnSpc>
                <a:spcPct val="100000"/>
              </a:lnSpc>
              <a:spcBef>
                <a:spcPts val="305"/>
              </a:spcBef>
              <a:buClr>
                <a:srgbClr val="16165D"/>
              </a:buClr>
              <a:buSzPct val="68181"/>
              <a:buFont typeface="Arial" panose="020B0604020202020204" pitchFamily="34" charset="0"/>
              <a:buChar char="•"/>
              <a:tabLst>
                <a:tab pos="756285" algn="l"/>
                <a:tab pos="756920" algn="l"/>
              </a:tabLst>
            </a:pPr>
            <a:r>
              <a:rPr lang="en-US" sz="2400" spc="-5">
                <a:latin typeface="Calibri"/>
                <a:cs typeface="Calibri"/>
              </a:rPr>
              <a:t>Does</a:t>
            </a:r>
            <a:r>
              <a:rPr lang="en-US" sz="2400" spc="5">
                <a:latin typeface="Calibri"/>
                <a:cs typeface="Calibri"/>
              </a:rPr>
              <a:t> </a:t>
            </a:r>
            <a:r>
              <a:rPr lang="en-US" sz="2400" spc="-5">
                <a:latin typeface="Calibri"/>
                <a:cs typeface="Calibri"/>
              </a:rPr>
              <a:t>it</a:t>
            </a:r>
            <a:r>
              <a:rPr lang="en-US" sz="2400" spc="-10">
                <a:latin typeface="Calibri"/>
                <a:cs typeface="Calibri"/>
              </a:rPr>
              <a:t> </a:t>
            </a:r>
            <a:r>
              <a:rPr lang="en-US" sz="2400" spc="-5">
                <a:latin typeface="Calibri"/>
                <a:cs typeface="Calibri"/>
              </a:rPr>
              <a:t>have</a:t>
            </a:r>
            <a:r>
              <a:rPr lang="en-US" sz="2400">
                <a:latin typeface="Calibri"/>
                <a:cs typeface="Calibri"/>
              </a:rPr>
              <a:t> </a:t>
            </a:r>
            <a:r>
              <a:rPr lang="en-US" sz="2400" spc="-5">
                <a:latin typeface="Calibri"/>
                <a:cs typeface="Calibri"/>
              </a:rPr>
              <a:t>any</a:t>
            </a:r>
            <a:r>
              <a:rPr lang="en-US" sz="2400" spc="5">
                <a:latin typeface="Calibri"/>
                <a:cs typeface="Calibri"/>
              </a:rPr>
              <a:t> </a:t>
            </a:r>
            <a:r>
              <a:rPr lang="en-US" sz="2400" spc="-5">
                <a:latin typeface="Calibri"/>
                <a:cs typeface="Calibri"/>
              </a:rPr>
              <a:t>interesting</a:t>
            </a:r>
            <a:r>
              <a:rPr lang="en-US" sz="2400" spc="10">
                <a:latin typeface="Calibri"/>
                <a:cs typeface="Calibri"/>
              </a:rPr>
              <a:t> </a:t>
            </a:r>
            <a:r>
              <a:rPr lang="en-US" sz="2400" spc="-5">
                <a:latin typeface="Calibri"/>
                <a:cs typeface="Calibri"/>
              </a:rPr>
              <a:t>patterns?</a:t>
            </a:r>
            <a:endParaRPr lang="en-US" sz="2400"/>
          </a:p>
        </p:txBody>
      </p:sp>
      <p:grpSp>
        <p:nvGrpSpPr>
          <p:cNvPr id="8" name="object 4">
            <a:extLst>
              <a:ext uri="{FF2B5EF4-FFF2-40B4-BE49-F238E27FC236}">
                <a16:creationId xmlns:a16="http://schemas.microsoft.com/office/drawing/2014/main" id="{8BE6CCD2-E117-FA0F-FC3A-341CB5DCA868}"/>
              </a:ext>
            </a:extLst>
          </p:cNvPr>
          <p:cNvGrpSpPr/>
          <p:nvPr/>
        </p:nvGrpSpPr>
        <p:grpSpPr>
          <a:xfrm>
            <a:off x="2682496" y="5102249"/>
            <a:ext cx="1637030" cy="1278890"/>
            <a:chOff x="1973579" y="4788408"/>
            <a:chExt cx="1637030" cy="1278890"/>
          </a:xfrm>
        </p:grpSpPr>
        <p:sp>
          <p:nvSpPr>
            <p:cNvPr id="9" name="object 5">
              <a:extLst>
                <a:ext uri="{FF2B5EF4-FFF2-40B4-BE49-F238E27FC236}">
                  <a16:creationId xmlns:a16="http://schemas.microsoft.com/office/drawing/2014/main" id="{7381D5A0-E013-8EC4-833F-F3267A599687}"/>
                </a:ext>
              </a:extLst>
            </p:cNvPr>
            <p:cNvSpPr/>
            <p:nvPr/>
          </p:nvSpPr>
          <p:spPr>
            <a:xfrm>
              <a:off x="3059429" y="5092446"/>
              <a:ext cx="269875" cy="965200"/>
            </a:xfrm>
            <a:custGeom>
              <a:avLst/>
              <a:gdLst/>
              <a:ahLst/>
              <a:cxnLst/>
              <a:rect l="l" t="t" r="r" b="b"/>
              <a:pathLst>
                <a:path w="269875" h="965200">
                  <a:moveTo>
                    <a:pt x="269747" y="0"/>
                  </a:moveTo>
                  <a:lnTo>
                    <a:pt x="0" y="0"/>
                  </a:lnTo>
                  <a:lnTo>
                    <a:pt x="0" y="964691"/>
                  </a:lnTo>
                  <a:lnTo>
                    <a:pt x="269747" y="964691"/>
                  </a:lnTo>
                  <a:lnTo>
                    <a:pt x="269747" y="0"/>
                  </a:lnTo>
                  <a:close/>
                </a:path>
              </a:pathLst>
            </a:custGeom>
            <a:solidFill>
              <a:srgbClr val="F1F1F1"/>
            </a:solidFill>
          </p:spPr>
          <p:txBody>
            <a:bodyPr wrap="square" lIns="0" tIns="0" rIns="0" bIns="0" rtlCol="0"/>
            <a:lstStyle/>
            <a:p>
              <a:endParaRPr/>
            </a:p>
          </p:txBody>
        </p:sp>
        <p:sp>
          <p:nvSpPr>
            <p:cNvPr id="10" name="object 6">
              <a:extLst>
                <a:ext uri="{FF2B5EF4-FFF2-40B4-BE49-F238E27FC236}">
                  <a16:creationId xmlns:a16="http://schemas.microsoft.com/office/drawing/2014/main" id="{3C2CC443-DF29-4517-58FE-ED6E860BA661}"/>
                </a:ext>
              </a:extLst>
            </p:cNvPr>
            <p:cNvSpPr/>
            <p:nvPr/>
          </p:nvSpPr>
          <p:spPr>
            <a:xfrm>
              <a:off x="3059429" y="5092446"/>
              <a:ext cx="269875" cy="965200"/>
            </a:xfrm>
            <a:custGeom>
              <a:avLst/>
              <a:gdLst/>
              <a:ahLst/>
              <a:cxnLst/>
              <a:rect l="l" t="t" r="r" b="b"/>
              <a:pathLst>
                <a:path w="269875" h="965200">
                  <a:moveTo>
                    <a:pt x="0" y="964691"/>
                  </a:moveTo>
                  <a:lnTo>
                    <a:pt x="269747" y="964691"/>
                  </a:lnTo>
                  <a:lnTo>
                    <a:pt x="269747" y="0"/>
                  </a:lnTo>
                  <a:lnTo>
                    <a:pt x="0" y="0"/>
                  </a:lnTo>
                  <a:lnTo>
                    <a:pt x="0" y="964691"/>
                  </a:lnTo>
                  <a:close/>
                </a:path>
              </a:pathLst>
            </a:custGeom>
            <a:ln w="19812">
              <a:solidFill>
                <a:srgbClr val="181866"/>
              </a:solidFill>
            </a:ln>
          </p:spPr>
          <p:txBody>
            <a:bodyPr wrap="square" lIns="0" tIns="0" rIns="0" bIns="0" rtlCol="0"/>
            <a:lstStyle/>
            <a:p>
              <a:endParaRPr/>
            </a:p>
          </p:txBody>
        </p:sp>
        <p:sp>
          <p:nvSpPr>
            <p:cNvPr id="12" name="object 7">
              <a:extLst>
                <a:ext uri="{FF2B5EF4-FFF2-40B4-BE49-F238E27FC236}">
                  <a16:creationId xmlns:a16="http://schemas.microsoft.com/office/drawing/2014/main" id="{B6457DD4-4906-2D9F-FA31-1774241EF5D4}"/>
                </a:ext>
              </a:extLst>
            </p:cNvPr>
            <p:cNvSpPr/>
            <p:nvPr/>
          </p:nvSpPr>
          <p:spPr>
            <a:xfrm>
              <a:off x="2788157" y="4798314"/>
              <a:ext cx="271780" cy="1259205"/>
            </a:xfrm>
            <a:custGeom>
              <a:avLst/>
              <a:gdLst/>
              <a:ahLst/>
              <a:cxnLst/>
              <a:rect l="l" t="t" r="r" b="b"/>
              <a:pathLst>
                <a:path w="271780" h="1259204">
                  <a:moveTo>
                    <a:pt x="271271" y="0"/>
                  </a:moveTo>
                  <a:lnTo>
                    <a:pt x="0" y="0"/>
                  </a:lnTo>
                  <a:lnTo>
                    <a:pt x="0" y="1258824"/>
                  </a:lnTo>
                  <a:lnTo>
                    <a:pt x="271271" y="1258824"/>
                  </a:lnTo>
                  <a:lnTo>
                    <a:pt x="271271" y="0"/>
                  </a:lnTo>
                  <a:close/>
                </a:path>
              </a:pathLst>
            </a:custGeom>
            <a:solidFill>
              <a:srgbClr val="F1F1F1"/>
            </a:solidFill>
          </p:spPr>
          <p:txBody>
            <a:bodyPr wrap="square" lIns="0" tIns="0" rIns="0" bIns="0" rtlCol="0"/>
            <a:lstStyle/>
            <a:p>
              <a:endParaRPr/>
            </a:p>
          </p:txBody>
        </p:sp>
        <p:sp>
          <p:nvSpPr>
            <p:cNvPr id="14" name="object 8">
              <a:extLst>
                <a:ext uri="{FF2B5EF4-FFF2-40B4-BE49-F238E27FC236}">
                  <a16:creationId xmlns:a16="http://schemas.microsoft.com/office/drawing/2014/main" id="{E20FD59A-C5B8-96DA-9F62-99327B626693}"/>
                </a:ext>
              </a:extLst>
            </p:cNvPr>
            <p:cNvSpPr/>
            <p:nvPr/>
          </p:nvSpPr>
          <p:spPr>
            <a:xfrm>
              <a:off x="2788157" y="4798314"/>
              <a:ext cx="271780" cy="1259205"/>
            </a:xfrm>
            <a:custGeom>
              <a:avLst/>
              <a:gdLst/>
              <a:ahLst/>
              <a:cxnLst/>
              <a:rect l="l" t="t" r="r" b="b"/>
              <a:pathLst>
                <a:path w="271780" h="1259204">
                  <a:moveTo>
                    <a:pt x="0" y="1258824"/>
                  </a:moveTo>
                  <a:lnTo>
                    <a:pt x="271271" y="1258824"/>
                  </a:lnTo>
                  <a:lnTo>
                    <a:pt x="271271" y="0"/>
                  </a:lnTo>
                  <a:lnTo>
                    <a:pt x="0" y="0"/>
                  </a:lnTo>
                  <a:lnTo>
                    <a:pt x="0" y="1258824"/>
                  </a:lnTo>
                  <a:close/>
                </a:path>
              </a:pathLst>
            </a:custGeom>
            <a:ln w="19812">
              <a:solidFill>
                <a:srgbClr val="181866"/>
              </a:solidFill>
            </a:ln>
          </p:spPr>
          <p:txBody>
            <a:bodyPr wrap="square" lIns="0" tIns="0" rIns="0" bIns="0" rtlCol="0"/>
            <a:lstStyle/>
            <a:p>
              <a:endParaRPr/>
            </a:p>
          </p:txBody>
        </p:sp>
        <p:sp>
          <p:nvSpPr>
            <p:cNvPr id="16" name="object 9">
              <a:extLst>
                <a:ext uri="{FF2B5EF4-FFF2-40B4-BE49-F238E27FC236}">
                  <a16:creationId xmlns:a16="http://schemas.microsoft.com/office/drawing/2014/main" id="{6204B650-D5F0-393C-7E0E-7D982D1FF148}"/>
                </a:ext>
              </a:extLst>
            </p:cNvPr>
            <p:cNvSpPr/>
            <p:nvPr/>
          </p:nvSpPr>
          <p:spPr>
            <a:xfrm>
              <a:off x="2515361" y="5004054"/>
              <a:ext cx="273050" cy="1053465"/>
            </a:xfrm>
            <a:custGeom>
              <a:avLst/>
              <a:gdLst/>
              <a:ahLst/>
              <a:cxnLst/>
              <a:rect l="l" t="t" r="r" b="b"/>
              <a:pathLst>
                <a:path w="273050" h="1053464">
                  <a:moveTo>
                    <a:pt x="272795" y="0"/>
                  </a:moveTo>
                  <a:lnTo>
                    <a:pt x="0" y="0"/>
                  </a:lnTo>
                  <a:lnTo>
                    <a:pt x="0" y="1053084"/>
                  </a:lnTo>
                  <a:lnTo>
                    <a:pt x="272795" y="1053084"/>
                  </a:lnTo>
                  <a:lnTo>
                    <a:pt x="272795" y="0"/>
                  </a:lnTo>
                  <a:close/>
                </a:path>
              </a:pathLst>
            </a:custGeom>
            <a:solidFill>
              <a:srgbClr val="F1F1F1"/>
            </a:solidFill>
          </p:spPr>
          <p:txBody>
            <a:bodyPr wrap="square" lIns="0" tIns="0" rIns="0" bIns="0" rtlCol="0"/>
            <a:lstStyle/>
            <a:p>
              <a:endParaRPr/>
            </a:p>
          </p:txBody>
        </p:sp>
        <p:sp>
          <p:nvSpPr>
            <p:cNvPr id="17" name="object 10">
              <a:extLst>
                <a:ext uri="{FF2B5EF4-FFF2-40B4-BE49-F238E27FC236}">
                  <a16:creationId xmlns:a16="http://schemas.microsoft.com/office/drawing/2014/main" id="{1045F677-F2E7-505E-DDF5-FFA97E7AF9A1}"/>
                </a:ext>
              </a:extLst>
            </p:cNvPr>
            <p:cNvSpPr/>
            <p:nvPr/>
          </p:nvSpPr>
          <p:spPr>
            <a:xfrm>
              <a:off x="2515361" y="5004054"/>
              <a:ext cx="273050" cy="1053465"/>
            </a:xfrm>
            <a:custGeom>
              <a:avLst/>
              <a:gdLst/>
              <a:ahLst/>
              <a:cxnLst/>
              <a:rect l="l" t="t" r="r" b="b"/>
              <a:pathLst>
                <a:path w="273050" h="1053464">
                  <a:moveTo>
                    <a:pt x="0" y="1053084"/>
                  </a:moveTo>
                  <a:lnTo>
                    <a:pt x="272795" y="1053084"/>
                  </a:lnTo>
                  <a:lnTo>
                    <a:pt x="272795" y="0"/>
                  </a:lnTo>
                  <a:lnTo>
                    <a:pt x="0" y="0"/>
                  </a:lnTo>
                  <a:lnTo>
                    <a:pt x="0" y="1053084"/>
                  </a:lnTo>
                  <a:close/>
                </a:path>
              </a:pathLst>
            </a:custGeom>
            <a:ln w="19812">
              <a:solidFill>
                <a:srgbClr val="181866"/>
              </a:solidFill>
            </a:ln>
          </p:spPr>
          <p:txBody>
            <a:bodyPr wrap="square" lIns="0" tIns="0" rIns="0" bIns="0" rtlCol="0"/>
            <a:lstStyle/>
            <a:p>
              <a:endParaRPr/>
            </a:p>
          </p:txBody>
        </p:sp>
        <p:sp>
          <p:nvSpPr>
            <p:cNvPr id="18" name="object 11">
              <a:extLst>
                <a:ext uri="{FF2B5EF4-FFF2-40B4-BE49-F238E27FC236}">
                  <a16:creationId xmlns:a16="http://schemas.microsoft.com/office/drawing/2014/main" id="{AB0EAA71-3FE4-8366-C9DD-AB4F1055B4A5}"/>
                </a:ext>
              </a:extLst>
            </p:cNvPr>
            <p:cNvSpPr/>
            <p:nvPr/>
          </p:nvSpPr>
          <p:spPr>
            <a:xfrm>
              <a:off x="2244089" y="5430774"/>
              <a:ext cx="271780" cy="626745"/>
            </a:xfrm>
            <a:custGeom>
              <a:avLst/>
              <a:gdLst/>
              <a:ahLst/>
              <a:cxnLst/>
              <a:rect l="l" t="t" r="r" b="b"/>
              <a:pathLst>
                <a:path w="271780" h="626745">
                  <a:moveTo>
                    <a:pt x="271272" y="0"/>
                  </a:moveTo>
                  <a:lnTo>
                    <a:pt x="0" y="0"/>
                  </a:lnTo>
                  <a:lnTo>
                    <a:pt x="0" y="626363"/>
                  </a:lnTo>
                  <a:lnTo>
                    <a:pt x="271272" y="626363"/>
                  </a:lnTo>
                  <a:lnTo>
                    <a:pt x="271272" y="0"/>
                  </a:lnTo>
                  <a:close/>
                </a:path>
              </a:pathLst>
            </a:custGeom>
            <a:solidFill>
              <a:srgbClr val="F1F1F1"/>
            </a:solidFill>
          </p:spPr>
          <p:txBody>
            <a:bodyPr wrap="square" lIns="0" tIns="0" rIns="0" bIns="0" rtlCol="0"/>
            <a:lstStyle/>
            <a:p>
              <a:endParaRPr/>
            </a:p>
          </p:txBody>
        </p:sp>
        <p:sp>
          <p:nvSpPr>
            <p:cNvPr id="19" name="object 12">
              <a:extLst>
                <a:ext uri="{FF2B5EF4-FFF2-40B4-BE49-F238E27FC236}">
                  <a16:creationId xmlns:a16="http://schemas.microsoft.com/office/drawing/2014/main" id="{E762D07A-60D8-7CA4-B04F-018810174488}"/>
                </a:ext>
              </a:extLst>
            </p:cNvPr>
            <p:cNvSpPr/>
            <p:nvPr/>
          </p:nvSpPr>
          <p:spPr>
            <a:xfrm>
              <a:off x="2244089" y="5430774"/>
              <a:ext cx="271780" cy="626745"/>
            </a:xfrm>
            <a:custGeom>
              <a:avLst/>
              <a:gdLst/>
              <a:ahLst/>
              <a:cxnLst/>
              <a:rect l="l" t="t" r="r" b="b"/>
              <a:pathLst>
                <a:path w="271780" h="626745">
                  <a:moveTo>
                    <a:pt x="0" y="626363"/>
                  </a:moveTo>
                  <a:lnTo>
                    <a:pt x="271272" y="626363"/>
                  </a:lnTo>
                  <a:lnTo>
                    <a:pt x="271272" y="0"/>
                  </a:lnTo>
                  <a:lnTo>
                    <a:pt x="0" y="0"/>
                  </a:lnTo>
                  <a:lnTo>
                    <a:pt x="0" y="626363"/>
                  </a:lnTo>
                  <a:close/>
                </a:path>
              </a:pathLst>
            </a:custGeom>
            <a:ln w="19812">
              <a:solidFill>
                <a:srgbClr val="181866"/>
              </a:solidFill>
            </a:ln>
          </p:spPr>
          <p:txBody>
            <a:bodyPr wrap="square" lIns="0" tIns="0" rIns="0" bIns="0" rtlCol="0"/>
            <a:lstStyle/>
            <a:p>
              <a:endParaRPr/>
            </a:p>
          </p:txBody>
        </p:sp>
        <p:sp>
          <p:nvSpPr>
            <p:cNvPr id="20" name="object 13">
              <a:extLst>
                <a:ext uri="{FF2B5EF4-FFF2-40B4-BE49-F238E27FC236}">
                  <a16:creationId xmlns:a16="http://schemas.microsoft.com/office/drawing/2014/main" id="{25384E11-6F5B-4E1F-6C84-2BD730D6449A}"/>
                </a:ext>
              </a:extLst>
            </p:cNvPr>
            <p:cNvSpPr/>
            <p:nvPr/>
          </p:nvSpPr>
          <p:spPr>
            <a:xfrm>
              <a:off x="1983485" y="5636514"/>
              <a:ext cx="260985" cy="421005"/>
            </a:xfrm>
            <a:custGeom>
              <a:avLst/>
              <a:gdLst/>
              <a:ahLst/>
              <a:cxnLst/>
              <a:rect l="l" t="t" r="r" b="b"/>
              <a:pathLst>
                <a:path w="260985" h="421004">
                  <a:moveTo>
                    <a:pt x="260604" y="0"/>
                  </a:moveTo>
                  <a:lnTo>
                    <a:pt x="0" y="0"/>
                  </a:lnTo>
                  <a:lnTo>
                    <a:pt x="0" y="420624"/>
                  </a:lnTo>
                  <a:lnTo>
                    <a:pt x="260604" y="420624"/>
                  </a:lnTo>
                  <a:lnTo>
                    <a:pt x="260604" y="0"/>
                  </a:lnTo>
                  <a:close/>
                </a:path>
              </a:pathLst>
            </a:custGeom>
            <a:solidFill>
              <a:srgbClr val="F1F1F1"/>
            </a:solidFill>
          </p:spPr>
          <p:txBody>
            <a:bodyPr wrap="square" lIns="0" tIns="0" rIns="0" bIns="0" rtlCol="0"/>
            <a:lstStyle/>
            <a:p>
              <a:endParaRPr/>
            </a:p>
          </p:txBody>
        </p:sp>
        <p:sp>
          <p:nvSpPr>
            <p:cNvPr id="21" name="object 14">
              <a:extLst>
                <a:ext uri="{FF2B5EF4-FFF2-40B4-BE49-F238E27FC236}">
                  <a16:creationId xmlns:a16="http://schemas.microsoft.com/office/drawing/2014/main" id="{76A2A92C-FE00-A2C9-35F6-EEEBF1E12BC8}"/>
                </a:ext>
              </a:extLst>
            </p:cNvPr>
            <p:cNvSpPr/>
            <p:nvPr/>
          </p:nvSpPr>
          <p:spPr>
            <a:xfrm>
              <a:off x="1983485" y="5636514"/>
              <a:ext cx="260985" cy="421005"/>
            </a:xfrm>
            <a:custGeom>
              <a:avLst/>
              <a:gdLst/>
              <a:ahLst/>
              <a:cxnLst/>
              <a:rect l="l" t="t" r="r" b="b"/>
              <a:pathLst>
                <a:path w="260985" h="421004">
                  <a:moveTo>
                    <a:pt x="0" y="420624"/>
                  </a:moveTo>
                  <a:lnTo>
                    <a:pt x="260604" y="420624"/>
                  </a:lnTo>
                  <a:lnTo>
                    <a:pt x="260604" y="0"/>
                  </a:lnTo>
                  <a:lnTo>
                    <a:pt x="0" y="0"/>
                  </a:lnTo>
                  <a:lnTo>
                    <a:pt x="0" y="420624"/>
                  </a:lnTo>
                  <a:close/>
                </a:path>
              </a:pathLst>
            </a:custGeom>
            <a:ln w="19812">
              <a:solidFill>
                <a:srgbClr val="181866"/>
              </a:solidFill>
            </a:ln>
          </p:spPr>
          <p:txBody>
            <a:bodyPr wrap="square" lIns="0" tIns="0" rIns="0" bIns="0" rtlCol="0"/>
            <a:lstStyle/>
            <a:p>
              <a:endParaRPr/>
            </a:p>
          </p:txBody>
        </p:sp>
        <p:sp>
          <p:nvSpPr>
            <p:cNvPr id="22" name="object 15">
              <a:extLst>
                <a:ext uri="{FF2B5EF4-FFF2-40B4-BE49-F238E27FC236}">
                  <a16:creationId xmlns:a16="http://schemas.microsoft.com/office/drawing/2014/main" id="{99CE851B-9B1B-0F8C-64F6-D7952198CDA5}"/>
                </a:ext>
              </a:extLst>
            </p:cNvPr>
            <p:cNvSpPr/>
            <p:nvPr/>
          </p:nvSpPr>
          <p:spPr>
            <a:xfrm>
              <a:off x="3329177" y="5636514"/>
              <a:ext cx="271780" cy="421005"/>
            </a:xfrm>
            <a:custGeom>
              <a:avLst/>
              <a:gdLst/>
              <a:ahLst/>
              <a:cxnLst/>
              <a:rect l="l" t="t" r="r" b="b"/>
              <a:pathLst>
                <a:path w="271779" h="421004">
                  <a:moveTo>
                    <a:pt x="271272" y="0"/>
                  </a:moveTo>
                  <a:lnTo>
                    <a:pt x="0" y="0"/>
                  </a:lnTo>
                  <a:lnTo>
                    <a:pt x="0" y="420624"/>
                  </a:lnTo>
                  <a:lnTo>
                    <a:pt x="271272" y="420624"/>
                  </a:lnTo>
                  <a:lnTo>
                    <a:pt x="271272" y="0"/>
                  </a:lnTo>
                  <a:close/>
                </a:path>
              </a:pathLst>
            </a:custGeom>
            <a:solidFill>
              <a:srgbClr val="F1F1F1"/>
            </a:solidFill>
          </p:spPr>
          <p:txBody>
            <a:bodyPr wrap="square" lIns="0" tIns="0" rIns="0" bIns="0" rtlCol="0"/>
            <a:lstStyle/>
            <a:p>
              <a:endParaRPr/>
            </a:p>
          </p:txBody>
        </p:sp>
        <p:sp>
          <p:nvSpPr>
            <p:cNvPr id="23" name="object 16">
              <a:extLst>
                <a:ext uri="{FF2B5EF4-FFF2-40B4-BE49-F238E27FC236}">
                  <a16:creationId xmlns:a16="http://schemas.microsoft.com/office/drawing/2014/main" id="{7ADCA994-731C-59FF-BC54-E808E93FFDD5}"/>
                </a:ext>
              </a:extLst>
            </p:cNvPr>
            <p:cNvSpPr/>
            <p:nvPr/>
          </p:nvSpPr>
          <p:spPr>
            <a:xfrm>
              <a:off x="3329177" y="5636514"/>
              <a:ext cx="271780" cy="421005"/>
            </a:xfrm>
            <a:custGeom>
              <a:avLst/>
              <a:gdLst/>
              <a:ahLst/>
              <a:cxnLst/>
              <a:rect l="l" t="t" r="r" b="b"/>
              <a:pathLst>
                <a:path w="271779" h="421004">
                  <a:moveTo>
                    <a:pt x="0" y="420624"/>
                  </a:moveTo>
                  <a:lnTo>
                    <a:pt x="271272" y="420624"/>
                  </a:lnTo>
                  <a:lnTo>
                    <a:pt x="271272" y="0"/>
                  </a:lnTo>
                  <a:lnTo>
                    <a:pt x="0" y="0"/>
                  </a:lnTo>
                  <a:lnTo>
                    <a:pt x="0" y="420624"/>
                  </a:lnTo>
                  <a:close/>
                </a:path>
              </a:pathLst>
            </a:custGeom>
            <a:ln w="19812">
              <a:solidFill>
                <a:srgbClr val="181866"/>
              </a:solidFill>
            </a:ln>
          </p:spPr>
          <p:txBody>
            <a:bodyPr wrap="square" lIns="0" tIns="0" rIns="0" bIns="0" rtlCol="0"/>
            <a:lstStyle/>
            <a:p>
              <a:endParaRPr/>
            </a:p>
          </p:txBody>
        </p:sp>
      </p:grpSp>
      <p:grpSp>
        <p:nvGrpSpPr>
          <p:cNvPr id="24" name="object 17">
            <a:extLst>
              <a:ext uri="{FF2B5EF4-FFF2-40B4-BE49-F238E27FC236}">
                <a16:creationId xmlns:a16="http://schemas.microsoft.com/office/drawing/2014/main" id="{A43FC7F2-4922-9FAF-3EB5-8E5DE2B54D5C}"/>
              </a:ext>
            </a:extLst>
          </p:cNvPr>
          <p:cNvGrpSpPr/>
          <p:nvPr/>
        </p:nvGrpSpPr>
        <p:grpSpPr>
          <a:xfrm>
            <a:off x="6919217" y="5302655"/>
            <a:ext cx="962025" cy="1068070"/>
            <a:chOff x="6210300" y="4988814"/>
            <a:chExt cx="962025" cy="1068070"/>
          </a:xfrm>
        </p:grpSpPr>
        <p:sp>
          <p:nvSpPr>
            <p:cNvPr id="25" name="object 18">
              <a:extLst>
                <a:ext uri="{FF2B5EF4-FFF2-40B4-BE49-F238E27FC236}">
                  <a16:creationId xmlns:a16="http://schemas.microsoft.com/office/drawing/2014/main" id="{5305DE9E-D75D-3002-30C5-401778E0DC86}"/>
                </a:ext>
              </a:extLst>
            </p:cNvPr>
            <p:cNvSpPr/>
            <p:nvPr/>
          </p:nvSpPr>
          <p:spPr>
            <a:xfrm>
              <a:off x="6691122" y="4988814"/>
              <a:ext cx="0" cy="1068070"/>
            </a:xfrm>
            <a:custGeom>
              <a:avLst/>
              <a:gdLst/>
              <a:ahLst/>
              <a:cxnLst/>
              <a:rect l="l" t="t" r="r" b="b"/>
              <a:pathLst>
                <a:path h="1068070">
                  <a:moveTo>
                    <a:pt x="0" y="725424"/>
                  </a:moveTo>
                  <a:lnTo>
                    <a:pt x="0" y="1067816"/>
                  </a:lnTo>
                </a:path>
                <a:path h="1068070">
                  <a:moveTo>
                    <a:pt x="0" y="0"/>
                  </a:moveTo>
                  <a:lnTo>
                    <a:pt x="0" y="431292"/>
                  </a:lnTo>
                </a:path>
              </a:pathLst>
            </a:custGeom>
            <a:ln w="19811">
              <a:solidFill>
                <a:srgbClr val="000000"/>
              </a:solidFill>
            </a:ln>
          </p:spPr>
          <p:txBody>
            <a:bodyPr wrap="square" lIns="0" tIns="0" rIns="0" bIns="0" rtlCol="0"/>
            <a:lstStyle/>
            <a:p>
              <a:endParaRPr/>
            </a:p>
          </p:txBody>
        </p:sp>
        <p:sp>
          <p:nvSpPr>
            <p:cNvPr id="26" name="object 19">
              <a:extLst>
                <a:ext uri="{FF2B5EF4-FFF2-40B4-BE49-F238E27FC236}">
                  <a16:creationId xmlns:a16="http://schemas.microsoft.com/office/drawing/2014/main" id="{78A21C5D-5195-896F-E8CC-CD1ADA230212}"/>
                </a:ext>
              </a:extLst>
            </p:cNvPr>
            <p:cNvSpPr/>
            <p:nvPr/>
          </p:nvSpPr>
          <p:spPr>
            <a:xfrm>
              <a:off x="6220205" y="5420106"/>
              <a:ext cx="942340" cy="294640"/>
            </a:xfrm>
            <a:custGeom>
              <a:avLst/>
              <a:gdLst/>
              <a:ahLst/>
              <a:cxnLst/>
              <a:rect l="l" t="t" r="r" b="b"/>
              <a:pathLst>
                <a:path w="942340" h="294639">
                  <a:moveTo>
                    <a:pt x="941831" y="0"/>
                  </a:moveTo>
                  <a:lnTo>
                    <a:pt x="0" y="0"/>
                  </a:lnTo>
                  <a:lnTo>
                    <a:pt x="0" y="294132"/>
                  </a:lnTo>
                  <a:lnTo>
                    <a:pt x="941831" y="294132"/>
                  </a:lnTo>
                  <a:lnTo>
                    <a:pt x="941831" y="0"/>
                  </a:lnTo>
                  <a:close/>
                </a:path>
              </a:pathLst>
            </a:custGeom>
            <a:solidFill>
              <a:srgbClr val="FF6464"/>
            </a:solidFill>
          </p:spPr>
          <p:txBody>
            <a:bodyPr wrap="square" lIns="0" tIns="0" rIns="0" bIns="0" rtlCol="0"/>
            <a:lstStyle/>
            <a:p>
              <a:endParaRPr/>
            </a:p>
          </p:txBody>
        </p:sp>
        <p:sp>
          <p:nvSpPr>
            <p:cNvPr id="27" name="object 20">
              <a:extLst>
                <a:ext uri="{FF2B5EF4-FFF2-40B4-BE49-F238E27FC236}">
                  <a16:creationId xmlns:a16="http://schemas.microsoft.com/office/drawing/2014/main" id="{8A604E1C-610E-EBC3-397D-8690A9FCCDE8}"/>
                </a:ext>
              </a:extLst>
            </p:cNvPr>
            <p:cNvSpPr/>
            <p:nvPr/>
          </p:nvSpPr>
          <p:spPr>
            <a:xfrm>
              <a:off x="6220205" y="5420106"/>
              <a:ext cx="942340" cy="294640"/>
            </a:xfrm>
            <a:custGeom>
              <a:avLst/>
              <a:gdLst/>
              <a:ahLst/>
              <a:cxnLst/>
              <a:rect l="l" t="t" r="r" b="b"/>
              <a:pathLst>
                <a:path w="942340" h="294639">
                  <a:moveTo>
                    <a:pt x="0" y="294132"/>
                  </a:moveTo>
                  <a:lnTo>
                    <a:pt x="941831" y="294132"/>
                  </a:lnTo>
                  <a:lnTo>
                    <a:pt x="941831" y="0"/>
                  </a:lnTo>
                  <a:lnTo>
                    <a:pt x="0" y="0"/>
                  </a:lnTo>
                  <a:lnTo>
                    <a:pt x="0" y="294132"/>
                  </a:lnTo>
                  <a:close/>
                </a:path>
              </a:pathLst>
            </a:custGeom>
            <a:ln w="19812">
              <a:solidFill>
                <a:srgbClr val="000000"/>
              </a:solidFill>
            </a:ln>
          </p:spPr>
          <p:txBody>
            <a:bodyPr wrap="square" lIns="0" tIns="0" rIns="0" bIns="0" rtlCol="0"/>
            <a:lstStyle/>
            <a:p>
              <a:endParaRPr/>
            </a:p>
          </p:txBody>
        </p:sp>
        <p:sp>
          <p:nvSpPr>
            <p:cNvPr id="28" name="object 21">
              <a:extLst>
                <a:ext uri="{FF2B5EF4-FFF2-40B4-BE49-F238E27FC236}">
                  <a16:creationId xmlns:a16="http://schemas.microsoft.com/office/drawing/2014/main" id="{CBD51531-5DF0-054D-A3A4-C3705F9C0D1C}"/>
                </a:ext>
              </a:extLst>
            </p:cNvPr>
            <p:cNvSpPr/>
            <p:nvPr/>
          </p:nvSpPr>
          <p:spPr>
            <a:xfrm>
              <a:off x="6220205" y="5530596"/>
              <a:ext cx="942340" cy="20320"/>
            </a:xfrm>
            <a:custGeom>
              <a:avLst/>
              <a:gdLst/>
              <a:ahLst/>
              <a:cxnLst/>
              <a:rect l="l" t="t" r="r" b="b"/>
              <a:pathLst>
                <a:path w="942340" h="20320">
                  <a:moveTo>
                    <a:pt x="0" y="19811"/>
                  </a:moveTo>
                  <a:lnTo>
                    <a:pt x="942213" y="19811"/>
                  </a:lnTo>
                  <a:lnTo>
                    <a:pt x="942213" y="0"/>
                  </a:lnTo>
                  <a:lnTo>
                    <a:pt x="0" y="0"/>
                  </a:lnTo>
                  <a:lnTo>
                    <a:pt x="0" y="19811"/>
                  </a:lnTo>
                  <a:close/>
                </a:path>
              </a:pathLst>
            </a:custGeom>
            <a:solidFill>
              <a:srgbClr val="000000"/>
            </a:solidFill>
          </p:spPr>
          <p:txBody>
            <a:bodyPr wrap="square" lIns="0" tIns="0" rIns="0" bIns="0" rtlCol="0"/>
            <a:lstStyle/>
            <a:p>
              <a:endParaRPr/>
            </a:p>
          </p:txBody>
        </p:sp>
      </p:grpSp>
      <p:pic>
        <p:nvPicPr>
          <p:cNvPr id="29" name="object 23">
            <a:extLst>
              <a:ext uri="{FF2B5EF4-FFF2-40B4-BE49-F238E27FC236}">
                <a16:creationId xmlns:a16="http://schemas.microsoft.com/office/drawing/2014/main" id="{C70DBF3D-7AEF-BC19-F632-789E1C9B7F59}"/>
              </a:ext>
            </a:extLst>
          </p:cNvPr>
          <p:cNvPicPr/>
          <p:nvPr/>
        </p:nvPicPr>
        <p:blipFill>
          <a:blip r:embed="rId3" cstate="print"/>
          <a:stretch>
            <a:fillRect/>
          </a:stretch>
        </p:blipFill>
        <p:spPr>
          <a:xfrm>
            <a:off x="5140708" y="5396381"/>
            <a:ext cx="1094232" cy="973836"/>
          </a:xfrm>
          <a:prstGeom prst="rect">
            <a:avLst/>
          </a:prstGeom>
        </p:spPr>
      </p:pic>
      <p:sp>
        <p:nvSpPr>
          <p:cNvPr id="30" name="TextBox 29">
            <a:extLst>
              <a:ext uri="{FF2B5EF4-FFF2-40B4-BE49-F238E27FC236}">
                <a16:creationId xmlns:a16="http://schemas.microsoft.com/office/drawing/2014/main" id="{F332E14A-5A10-8E3A-ECAD-5388E74CEB4B}"/>
              </a:ext>
            </a:extLst>
          </p:cNvPr>
          <p:cNvSpPr txBox="1"/>
          <p:nvPr/>
        </p:nvSpPr>
        <p:spPr>
          <a:xfrm>
            <a:off x="6497354" y="6470393"/>
            <a:ext cx="6098763" cy="646331"/>
          </a:xfrm>
          <a:prstGeom prst="rect">
            <a:avLst/>
          </a:prstGeom>
          <a:noFill/>
        </p:spPr>
        <p:txBody>
          <a:bodyPr wrap="square" rtlCol="0">
            <a:spAutoFit/>
          </a:bodyPr>
          <a:lstStyle/>
          <a:p>
            <a:r>
              <a:rPr lang="en-MY"/>
              <a:t>From </a:t>
            </a:r>
            <a:r>
              <a:rPr lang="en-MY" sz="1800" spc="-10">
                <a:solidFill>
                  <a:srgbClr val="585858"/>
                </a:solidFill>
                <a:latin typeface="Calibri"/>
                <a:cs typeface="Calibri"/>
              </a:rPr>
              <a:t>Continuous</a:t>
            </a:r>
            <a:r>
              <a:rPr lang="en-MY" sz="1800" spc="5">
                <a:solidFill>
                  <a:srgbClr val="585858"/>
                </a:solidFill>
                <a:latin typeface="Calibri"/>
                <a:cs typeface="Calibri"/>
              </a:rPr>
              <a:t> </a:t>
            </a:r>
            <a:r>
              <a:rPr lang="en-MY" sz="1800" spc="-10">
                <a:solidFill>
                  <a:srgbClr val="585858"/>
                </a:solidFill>
                <a:latin typeface="Calibri"/>
                <a:cs typeface="Calibri"/>
              </a:rPr>
              <a:t>Improvement</a:t>
            </a:r>
            <a:r>
              <a:rPr lang="en-MY" sz="1800" spc="30">
                <a:solidFill>
                  <a:srgbClr val="585858"/>
                </a:solidFill>
                <a:latin typeface="Calibri"/>
                <a:cs typeface="Calibri"/>
              </a:rPr>
              <a:t> </a:t>
            </a:r>
            <a:r>
              <a:rPr lang="en-MY" sz="1800" spc="-30">
                <a:solidFill>
                  <a:srgbClr val="585858"/>
                </a:solidFill>
                <a:latin typeface="Calibri"/>
                <a:cs typeface="Calibri"/>
              </a:rPr>
              <a:t>Toolkit</a:t>
            </a:r>
            <a:r>
              <a:rPr lang="en-MY" sz="1800" spc="40">
                <a:solidFill>
                  <a:srgbClr val="585858"/>
                </a:solidFill>
                <a:latin typeface="Calibri"/>
                <a:cs typeface="Calibri"/>
              </a:rPr>
              <a:t> </a:t>
            </a:r>
            <a:r>
              <a:rPr lang="en-MY" sz="1800" b="1" spc="-5">
                <a:solidFill>
                  <a:srgbClr val="585858"/>
                </a:solidFill>
                <a:latin typeface="Calibri"/>
                <a:cs typeface="Calibri"/>
              </a:rPr>
              <a:t>.</a:t>
            </a:r>
            <a:r>
              <a:rPr lang="en-MY" sz="1800" b="1">
                <a:solidFill>
                  <a:srgbClr val="585858"/>
                </a:solidFill>
                <a:latin typeface="Calibri"/>
                <a:cs typeface="Calibri"/>
              </a:rPr>
              <a:t> </a:t>
            </a:r>
            <a:r>
              <a:rPr lang="en-MY" sz="1800" u="heavy" spc="-15">
                <a:solidFill>
                  <a:srgbClr val="585858"/>
                </a:solidFill>
                <a:uFill>
                  <a:solidFill>
                    <a:srgbClr val="585858"/>
                  </a:solidFill>
                </a:uFill>
                <a:latin typeface="Calibri"/>
                <a:cs typeface="Calibri"/>
                <a:hlinkClick r:id="rId4"/>
              </a:rPr>
              <a:t>www.citoolkit.com</a:t>
            </a:r>
            <a:endParaRPr lang="en-MY" sz="1800">
              <a:latin typeface="Calibri"/>
              <a:cs typeface="Calibri"/>
            </a:endParaRPr>
          </a:p>
          <a:p>
            <a:endParaRPr lang="en-MY"/>
          </a:p>
        </p:txBody>
      </p:sp>
      <p:pic>
        <p:nvPicPr>
          <p:cNvPr id="3" name="Picture 2">
            <a:extLst>
              <a:ext uri="{FF2B5EF4-FFF2-40B4-BE49-F238E27FC236}">
                <a16:creationId xmlns:a16="http://schemas.microsoft.com/office/drawing/2014/main" id="{B3062A27-CD26-9278-E12A-31BEF8445965}"/>
              </a:ext>
            </a:extLst>
          </p:cNvPr>
          <p:cNvPicPr>
            <a:picLocks noChangeAspect="1"/>
          </p:cNvPicPr>
          <p:nvPr/>
        </p:nvPicPr>
        <p:blipFill>
          <a:blip r:embed="rId5"/>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40757885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70" y="2399809"/>
            <a:ext cx="10818175" cy="3492868"/>
          </a:xfrm>
          <a:prstGeom prst="rect">
            <a:avLst/>
          </a:prstGeom>
        </p:spPr>
        <p:txBody>
          <a:bodyPr vert="horz" lIns="91440" tIns="45720" rIns="91440" bIns="45720" rtlCol="0">
            <a:normAutofit/>
          </a:bodyPr>
          <a:lstStyle/>
          <a:p>
            <a:pPr marL="355600" marR="5080" indent="-342900">
              <a:lnSpc>
                <a:spcPct val="100000"/>
              </a:lnSpc>
              <a:spcBef>
                <a:spcPts val="100"/>
              </a:spcBef>
              <a:buClr>
                <a:srgbClr val="16165D"/>
              </a:buClr>
              <a:buSzPct val="68750"/>
              <a:buFont typeface="Arial" panose="020B0604020202020204" pitchFamily="34" charset="0"/>
              <a:buChar char="•"/>
              <a:tabLst>
                <a:tab pos="354965" algn="l"/>
                <a:tab pos="355600" algn="l"/>
              </a:tabLst>
            </a:pPr>
            <a:r>
              <a:rPr lang="en-US" sz="2400"/>
              <a:t>Measures of Frequency</a:t>
            </a:r>
          </a:p>
          <a:p>
            <a:pPr marL="355600" marR="5080" indent="-342900">
              <a:lnSpc>
                <a:spcPct val="100000"/>
              </a:lnSpc>
              <a:spcBef>
                <a:spcPts val="100"/>
              </a:spcBef>
              <a:buClr>
                <a:srgbClr val="16165D"/>
              </a:buClr>
              <a:buSzPct val="68750"/>
              <a:buFont typeface="Arial" panose="020B0604020202020204" pitchFamily="34" charset="0"/>
              <a:buChar char="•"/>
              <a:tabLst>
                <a:tab pos="354965" algn="l"/>
                <a:tab pos="355600" algn="l"/>
              </a:tabLst>
            </a:pPr>
            <a:r>
              <a:rPr lang="en-US" sz="2400"/>
              <a:t>Measures of Central Tendency</a:t>
            </a:r>
          </a:p>
          <a:p>
            <a:pPr marL="355600" marR="5080" indent="-342900">
              <a:lnSpc>
                <a:spcPct val="100000"/>
              </a:lnSpc>
              <a:spcBef>
                <a:spcPts val="100"/>
              </a:spcBef>
              <a:buClr>
                <a:srgbClr val="16165D"/>
              </a:buClr>
              <a:buSzPct val="68750"/>
              <a:buFont typeface="Arial" panose="020B0604020202020204" pitchFamily="34" charset="0"/>
              <a:buChar char="•"/>
              <a:tabLst>
                <a:tab pos="354965" algn="l"/>
                <a:tab pos="355600" algn="l"/>
              </a:tabLst>
            </a:pPr>
            <a:r>
              <a:rPr lang="en-US" sz="2400"/>
              <a:t>Measures of Dispersion or Variation</a:t>
            </a:r>
          </a:p>
        </p:txBody>
      </p:sp>
      <p:pic>
        <p:nvPicPr>
          <p:cNvPr id="3" name="Picture 2">
            <a:extLst>
              <a:ext uri="{FF2B5EF4-FFF2-40B4-BE49-F238E27FC236}">
                <a16:creationId xmlns:a16="http://schemas.microsoft.com/office/drawing/2014/main" id="{BE84A737-2F74-EA1A-9DF4-DB225FEF1C2B}"/>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3495823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70" y="2399809"/>
            <a:ext cx="10818175" cy="3492868"/>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2400" b="1"/>
              <a:t>Measures of Frequency</a:t>
            </a:r>
          </a:p>
          <a:p>
            <a:pPr marL="12700" marR="5080">
              <a:lnSpc>
                <a:spcPct val="100000"/>
              </a:lnSpc>
              <a:spcBef>
                <a:spcPts val="100"/>
              </a:spcBef>
              <a:buClr>
                <a:srgbClr val="16165D"/>
              </a:buClr>
              <a:buSzPct val="68750"/>
              <a:tabLst>
                <a:tab pos="354965" algn="l"/>
                <a:tab pos="355600" algn="l"/>
              </a:tabLst>
            </a:pPr>
            <a:endParaRPr lang="en-US" sz="2400" b="1"/>
          </a:p>
          <a:p>
            <a:pPr marL="355600" marR="5080" indent="-342900">
              <a:lnSpc>
                <a:spcPct val="100000"/>
              </a:lnSpc>
              <a:spcBef>
                <a:spcPts val="100"/>
              </a:spcBef>
              <a:buClr>
                <a:srgbClr val="16165D"/>
              </a:buClr>
              <a:buSzPct val="68750"/>
              <a:buFontTx/>
              <a:buChar char="-"/>
              <a:tabLst>
                <a:tab pos="354965" algn="l"/>
                <a:tab pos="355600" algn="l"/>
              </a:tabLst>
            </a:pPr>
            <a:r>
              <a:rPr lang="en-US" sz="2400"/>
              <a:t>It is also called measures of shape. It deals with how a data is distributed. Here we talk about variable count, frequency of occurrence, or even percent distribution. Essentially, it says how often something occurs. </a:t>
            </a:r>
          </a:p>
          <a:p>
            <a:pPr marL="355600" marR="5080" indent="-342900">
              <a:lnSpc>
                <a:spcPct val="100000"/>
              </a:lnSpc>
              <a:spcBef>
                <a:spcPts val="100"/>
              </a:spcBef>
              <a:buClr>
                <a:srgbClr val="16165D"/>
              </a:buClr>
              <a:buSzPct val="68750"/>
              <a:buFontTx/>
              <a:buChar char="-"/>
              <a:tabLst>
                <a:tab pos="354965" algn="l"/>
                <a:tab pos="355600" algn="l"/>
              </a:tabLst>
            </a:pPr>
            <a:r>
              <a:rPr lang="en-US" sz="2400"/>
              <a:t>Plotting the data into an histogram would reveal the shape of the data and thus shows its distribution. Data usually follows a particular distribution. This distribution/shape reveals a lot about the data</a:t>
            </a:r>
          </a:p>
        </p:txBody>
      </p:sp>
      <p:pic>
        <p:nvPicPr>
          <p:cNvPr id="3" name="Picture 2">
            <a:extLst>
              <a:ext uri="{FF2B5EF4-FFF2-40B4-BE49-F238E27FC236}">
                <a16:creationId xmlns:a16="http://schemas.microsoft.com/office/drawing/2014/main" id="{6839A566-1D20-4950-A934-8C21B1C8511D}"/>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3786504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70" y="2399809"/>
            <a:ext cx="4599741" cy="3492868"/>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2400" b="1"/>
              <a:t>Measures of Frequency</a:t>
            </a:r>
          </a:p>
          <a:p>
            <a:pPr marL="355600" marR="5080" indent="-342900">
              <a:lnSpc>
                <a:spcPct val="100000"/>
              </a:lnSpc>
              <a:spcBef>
                <a:spcPts val="100"/>
              </a:spcBef>
              <a:buClr>
                <a:srgbClr val="16165D"/>
              </a:buClr>
              <a:buSzPct val="68750"/>
              <a:buFontTx/>
              <a:buChar char="-"/>
              <a:tabLst>
                <a:tab pos="354965" algn="l"/>
                <a:tab pos="355600" algn="l"/>
              </a:tabLst>
            </a:pPr>
            <a:r>
              <a:rPr lang="en-US" sz="2400"/>
              <a:t>The distribution or shape can by </a:t>
            </a:r>
            <a:r>
              <a:rPr lang="en-US" sz="2400" i="1"/>
              <a:t>symmetrical</a:t>
            </a:r>
            <a:r>
              <a:rPr lang="en-US" sz="2400"/>
              <a:t> or </a:t>
            </a:r>
            <a:r>
              <a:rPr lang="en-US" sz="2400" i="1"/>
              <a:t>non-symmetrical.</a:t>
            </a:r>
          </a:p>
          <a:p>
            <a:pPr marL="355600" marR="5080" indent="-342900">
              <a:lnSpc>
                <a:spcPct val="100000"/>
              </a:lnSpc>
              <a:spcBef>
                <a:spcPts val="100"/>
              </a:spcBef>
              <a:buClr>
                <a:srgbClr val="16165D"/>
              </a:buClr>
              <a:buSzPct val="68750"/>
              <a:buFontTx/>
              <a:buChar char="-"/>
              <a:tabLst>
                <a:tab pos="354965" algn="l"/>
                <a:tab pos="355600" algn="l"/>
              </a:tabLst>
            </a:pPr>
            <a:r>
              <a:rPr lang="en-US" sz="2400"/>
              <a:t>Symmetrical means the sides of the distribution are mirror images</a:t>
            </a:r>
            <a:r>
              <a:rPr lang="en-US" sz="2400" i="1"/>
              <a:t> </a:t>
            </a:r>
            <a:r>
              <a:rPr lang="en-US" sz="2400"/>
              <a:t> </a:t>
            </a:r>
          </a:p>
          <a:p>
            <a:pPr marL="355600" marR="5080" indent="-342900">
              <a:lnSpc>
                <a:spcPct val="100000"/>
              </a:lnSpc>
              <a:spcBef>
                <a:spcPts val="100"/>
              </a:spcBef>
              <a:buClr>
                <a:srgbClr val="16165D"/>
              </a:buClr>
              <a:buSzPct val="68750"/>
              <a:buFontTx/>
              <a:buChar char="-"/>
              <a:tabLst>
                <a:tab pos="354965" algn="l"/>
                <a:tab pos="355600" algn="l"/>
              </a:tabLst>
            </a:pPr>
            <a:r>
              <a:rPr lang="en-US" sz="2400"/>
              <a:t>The shape tells us what descriptive statistical analysis is more appropriate for a dataset.</a:t>
            </a:r>
          </a:p>
        </p:txBody>
      </p:sp>
      <p:pic>
        <p:nvPicPr>
          <p:cNvPr id="4" name="Picture 3">
            <a:extLst>
              <a:ext uri="{FF2B5EF4-FFF2-40B4-BE49-F238E27FC236}">
                <a16:creationId xmlns:a16="http://schemas.microsoft.com/office/drawing/2014/main" id="{CE6E28E2-58AF-00DC-9AC5-8C62CD7A79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0229" y="2104725"/>
            <a:ext cx="6276997" cy="4371713"/>
          </a:xfrm>
          <a:prstGeom prst="rect">
            <a:avLst/>
          </a:prstGeom>
        </p:spPr>
      </p:pic>
      <p:pic>
        <p:nvPicPr>
          <p:cNvPr id="3" name="Picture 2">
            <a:extLst>
              <a:ext uri="{FF2B5EF4-FFF2-40B4-BE49-F238E27FC236}">
                <a16:creationId xmlns:a16="http://schemas.microsoft.com/office/drawing/2014/main" id="{E6609FE6-FDF7-864E-064F-CCCA12E8460F}"/>
              </a:ext>
            </a:extLst>
          </p:cNvPr>
          <p:cNvPicPr>
            <a:picLocks noChangeAspect="1"/>
          </p:cNvPicPr>
          <p:nvPr/>
        </p:nvPicPr>
        <p:blipFill>
          <a:blip r:embed="rId4"/>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3880295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70" y="2399809"/>
            <a:ext cx="10818175" cy="3492868"/>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2400" b="1"/>
              <a:t>Measures of Frequency</a:t>
            </a:r>
          </a:p>
          <a:p>
            <a:pPr marL="355600" marR="5080" indent="-342900">
              <a:lnSpc>
                <a:spcPct val="100000"/>
              </a:lnSpc>
              <a:spcBef>
                <a:spcPts val="100"/>
              </a:spcBef>
              <a:buClr>
                <a:srgbClr val="16165D"/>
              </a:buClr>
              <a:buSzPct val="68750"/>
              <a:buFontTx/>
              <a:buChar char="-"/>
              <a:tabLst>
                <a:tab pos="354965" algn="l"/>
                <a:tab pos="355600" algn="l"/>
              </a:tabLst>
            </a:pPr>
            <a:r>
              <a:rPr lang="en-US" sz="2400"/>
              <a:t>For example, a mean or median is an appropriate measure of central tendency for symmetrical data while median will be more useful in non-symmetrical data.</a:t>
            </a:r>
          </a:p>
          <a:p>
            <a:pPr marL="355600" marR="5080" indent="-342900">
              <a:lnSpc>
                <a:spcPct val="100000"/>
              </a:lnSpc>
              <a:spcBef>
                <a:spcPts val="100"/>
              </a:spcBef>
              <a:buClr>
                <a:srgbClr val="16165D"/>
              </a:buClr>
              <a:buSzPct val="68750"/>
              <a:buFontTx/>
              <a:buChar char="-"/>
              <a:tabLst>
                <a:tab pos="354965" algn="l"/>
                <a:tab pos="355600" algn="l"/>
              </a:tabLst>
            </a:pPr>
            <a:r>
              <a:rPr lang="en-US" sz="2400" b="1"/>
              <a:t>Skewness and Kurtosis </a:t>
            </a:r>
            <a:r>
              <a:rPr lang="en-US" sz="2400"/>
              <a:t>are concepts that are used in describing the shape of data. </a:t>
            </a:r>
          </a:p>
          <a:p>
            <a:pPr marL="355600" marR="5080" indent="-342900">
              <a:lnSpc>
                <a:spcPct val="100000"/>
              </a:lnSpc>
              <a:spcBef>
                <a:spcPts val="100"/>
              </a:spcBef>
              <a:buClr>
                <a:srgbClr val="16165D"/>
              </a:buClr>
              <a:buSzPct val="68750"/>
              <a:buFontTx/>
              <a:buChar char="-"/>
              <a:tabLst>
                <a:tab pos="354965" algn="l"/>
                <a:tab pos="355600" algn="l"/>
              </a:tabLst>
            </a:pPr>
            <a:r>
              <a:rPr lang="en-US" sz="2400"/>
              <a:t>Skewness answers the question of whether a dataset is distributed equally (symmetrically)around the mean</a:t>
            </a:r>
          </a:p>
          <a:p>
            <a:pPr marL="812800" marR="5080" lvl="1" indent="-342900">
              <a:spcBef>
                <a:spcPts val="100"/>
              </a:spcBef>
              <a:buClr>
                <a:srgbClr val="16165D"/>
              </a:buClr>
              <a:buSzPct val="68750"/>
              <a:buFont typeface="Arial" panose="020B0604020202020204" pitchFamily="34" charset="0"/>
              <a:buChar char="•"/>
              <a:tabLst>
                <a:tab pos="354965" algn="l"/>
                <a:tab pos="355600" algn="l"/>
              </a:tabLst>
            </a:pPr>
            <a:r>
              <a:rPr lang="en-US" sz="2400"/>
              <a:t>Skewness = 0 (symmetrical data) </a:t>
            </a:r>
          </a:p>
          <a:p>
            <a:pPr marL="812800" marR="5080" lvl="1" indent="-342900">
              <a:spcBef>
                <a:spcPts val="100"/>
              </a:spcBef>
              <a:buClr>
                <a:srgbClr val="16165D"/>
              </a:buClr>
              <a:buSzPct val="68750"/>
              <a:buFont typeface="Arial" panose="020B0604020202020204" pitchFamily="34" charset="0"/>
              <a:buChar char="•"/>
              <a:tabLst>
                <a:tab pos="354965" algn="l"/>
                <a:tab pos="355600" algn="l"/>
              </a:tabLst>
            </a:pPr>
            <a:r>
              <a:rPr lang="en-US" sz="2400"/>
              <a:t>Skewness = negative value (distribution is skewed to the left)</a:t>
            </a:r>
          </a:p>
          <a:p>
            <a:pPr marL="812800" marR="5080" lvl="1" indent="-342900">
              <a:spcBef>
                <a:spcPts val="100"/>
              </a:spcBef>
              <a:buClr>
                <a:srgbClr val="16165D"/>
              </a:buClr>
              <a:buSzPct val="68750"/>
              <a:buFont typeface="Arial" panose="020B0604020202020204" pitchFamily="34" charset="0"/>
              <a:buChar char="•"/>
              <a:tabLst>
                <a:tab pos="354965" algn="l"/>
                <a:tab pos="355600" algn="l"/>
              </a:tabLst>
            </a:pPr>
            <a:r>
              <a:rPr lang="en-US" sz="2400"/>
              <a:t>Skewness = positive values (distribution is skewed to the right)</a:t>
            </a:r>
          </a:p>
        </p:txBody>
      </p:sp>
      <p:pic>
        <p:nvPicPr>
          <p:cNvPr id="3" name="Picture 2">
            <a:extLst>
              <a:ext uri="{FF2B5EF4-FFF2-40B4-BE49-F238E27FC236}">
                <a16:creationId xmlns:a16="http://schemas.microsoft.com/office/drawing/2014/main" id="{5A27CCF6-840A-5036-AC4F-19451DD6092B}"/>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4284858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70" y="2399809"/>
            <a:ext cx="10818175" cy="3492868"/>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3200" b="1"/>
              <a:t>Measures of Frequency</a:t>
            </a:r>
          </a:p>
          <a:p>
            <a:pPr marL="12700" marR="5080">
              <a:lnSpc>
                <a:spcPct val="100000"/>
              </a:lnSpc>
              <a:spcBef>
                <a:spcPts val="100"/>
              </a:spcBef>
              <a:buClr>
                <a:srgbClr val="16165D"/>
              </a:buClr>
              <a:buSzPct val="68750"/>
              <a:tabLst>
                <a:tab pos="354965" algn="l"/>
                <a:tab pos="355600" algn="l"/>
              </a:tabLst>
            </a:pPr>
            <a:r>
              <a:rPr lang="en-US" sz="2400" b="1"/>
              <a:t>	</a:t>
            </a:r>
          </a:p>
          <a:p>
            <a:pPr marL="12700" marR="5080">
              <a:lnSpc>
                <a:spcPct val="100000"/>
              </a:lnSpc>
              <a:spcBef>
                <a:spcPts val="100"/>
              </a:spcBef>
              <a:buClr>
                <a:srgbClr val="16165D"/>
              </a:buClr>
              <a:buSzPct val="68750"/>
              <a:tabLst>
                <a:tab pos="354965" algn="l"/>
                <a:tab pos="355600" algn="l"/>
              </a:tabLst>
            </a:pPr>
            <a:endParaRPr lang="en-US" sz="2400" b="1"/>
          </a:p>
        </p:txBody>
      </p:sp>
      <p:sp>
        <p:nvSpPr>
          <p:cNvPr id="3" name="AutoShape 2" descr="Skewness of a distribution">
            <a:extLst>
              <a:ext uri="{FF2B5EF4-FFF2-40B4-BE49-F238E27FC236}">
                <a16:creationId xmlns:a16="http://schemas.microsoft.com/office/drawing/2014/main" id="{D0E11430-F130-B111-4217-E2F976B6AC92}"/>
              </a:ext>
            </a:extLst>
          </p:cNvPr>
          <p:cNvSpPr>
            <a:spLocks noChangeAspect="1" noChangeArrowheads="1"/>
          </p:cNvSpPr>
          <p:nvPr/>
        </p:nvSpPr>
        <p:spPr bwMode="auto">
          <a:xfrm>
            <a:off x="5943600" y="3276600"/>
            <a:ext cx="4238090" cy="423809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pic>
        <p:nvPicPr>
          <p:cNvPr id="5" name="Picture 4">
            <a:extLst>
              <a:ext uri="{FF2B5EF4-FFF2-40B4-BE49-F238E27FC236}">
                <a16:creationId xmlns:a16="http://schemas.microsoft.com/office/drawing/2014/main" id="{6A26A124-A4B8-C691-8402-6F2EDC9594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8813" y="2514730"/>
            <a:ext cx="7039989" cy="3703116"/>
          </a:xfrm>
          <a:prstGeom prst="rect">
            <a:avLst/>
          </a:prstGeom>
        </p:spPr>
      </p:pic>
      <p:pic>
        <p:nvPicPr>
          <p:cNvPr id="4" name="Picture 3">
            <a:extLst>
              <a:ext uri="{FF2B5EF4-FFF2-40B4-BE49-F238E27FC236}">
                <a16:creationId xmlns:a16="http://schemas.microsoft.com/office/drawing/2014/main" id="{41B23422-3607-8BD5-3313-080375C559CE}"/>
              </a:ext>
            </a:extLst>
          </p:cNvPr>
          <p:cNvPicPr>
            <a:picLocks noChangeAspect="1"/>
          </p:cNvPicPr>
          <p:nvPr/>
        </p:nvPicPr>
        <p:blipFill>
          <a:blip r:embed="rId4"/>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12677386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71" y="2399809"/>
            <a:ext cx="4784676" cy="3492868"/>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2400" b="1"/>
              <a:t>Measures of Frequency</a:t>
            </a:r>
          </a:p>
          <a:p>
            <a:pPr marL="12700" marR="5080">
              <a:lnSpc>
                <a:spcPct val="100000"/>
              </a:lnSpc>
              <a:spcBef>
                <a:spcPts val="100"/>
              </a:spcBef>
              <a:buClr>
                <a:srgbClr val="16165D"/>
              </a:buClr>
              <a:buSzPct val="68750"/>
              <a:tabLst>
                <a:tab pos="354965" algn="l"/>
                <a:tab pos="355600" algn="l"/>
              </a:tabLst>
            </a:pPr>
            <a:endParaRPr lang="en-US" sz="2400" b="1"/>
          </a:p>
          <a:p>
            <a:pPr marL="12700" marR="5080" algn="just">
              <a:lnSpc>
                <a:spcPct val="100000"/>
              </a:lnSpc>
              <a:spcBef>
                <a:spcPts val="100"/>
              </a:spcBef>
              <a:buClr>
                <a:srgbClr val="16165D"/>
              </a:buClr>
              <a:buSzPct val="68750"/>
              <a:tabLst>
                <a:tab pos="354965" algn="l"/>
                <a:tab pos="355600" algn="l"/>
              </a:tabLst>
            </a:pPr>
            <a:r>
              <a:rPr lang="en-US" sz="2400" b="1"/>
              <a:t>Kurtosis </a:t>
            </a:r>
            <a:r>
              <a:rPr lang="en-US" sz="2400"/>
              <a:t>is a measure of whether the data are heavy-tailed or light-tailed relative to a normal distribution. That is, data sets with high kurtosis tend to have heavy tails, or outliers. Data sets with low kurtosis tend to have light tails, or lack of outliers.</a:t>
            </a:r>
          </a:p>
        </p:txBody>
      </p:sp>
      <p:pic>
        <p:nvPicPr>
          <p:cNvPr id="4" name="Picture 3">
            <a:extLst>
              <a:ext uri="{FF2B5EF4-FFF2-40B4-BE49-F238E27FC236}">
                <a16:creationId xmlns:a16="http://schemas.microsoft.com/office/drawing/2014/main" id="{C93C7BC5-7FBD-7E2C-65F2-72AFFBE6BE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7290" y="2524000"/>
            <a:ext cx="6784710" cy="3692785"/>
          </a:xfrm>
          <a:prstGeom prst="rect">
            <a:avLst/>
          </a:prstGeom>
        </p:spPr>
      </p:pic>
      <p:pic>
        <p:nvPicPr>
          <p:cNvPr id="3" name="Picture 2">
            <a:extLst>
              <a:ext uri="{FF2B5EF4-FFF2-40B4-BE49-F238E27FC236}">
                <a16:creationId xmlns:a16="http://schemas.microsoft.com/office/drawing/2014/main" id="{706E1030-C208-FD3A-ED56-75D2287DD7D0}"/>
              </a:ext>
            </a:extLst>
          </p:cNvPr>
          <p:cNvPicPr>
            <a:picLocks noChangeAspect="1"/>
          </p:cNvPicPr>
          <p:nvPr/>
        </p:nvPicPr>
        <p:blipFill>
          <a:blip r:embed="rId4"/>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2268027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70" y="2399809"/>
            <a:ext cx="4680023" cy="3177606"/>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2400" b="1"/>
              <a:t>Measures of central tendency</a:t>
            </a:r>
          </a:p>
          <a:p>
            <a:pPr marL="12700" marR="5080" algn="just">
              <a:lnSpc>
                <a:spcPct val="100000"/>
              </a:lnSpc>
              <a:spcBef>
                <a:spcPts val="100"/>
              </a:spcBef>
              <a:buClr>
                <a:srgbClr val="16165D"/>
              </a:buClr>
              <a:buSzPct val="68750"/>
              <a:tabLst>
                <a:tab pos="354965" algn="l"/>
                <a:tab pos="355600" algn="l"/>
              </a:tabLst>
            </a:pPr>
            <a:r>
              <a:rPr lang="en-US" sz="2400"/>
              <a:t>This estimates the center or midpoint of a dataset. This is also called measures of position. Herein we deal with averages such as mean,  median, mode. Central tendency means where the data is centered. </a:t>
            </a:r>
          </a:p>
          <a:p>
            <a:pPr marL="12700" marR="5080">
              <a:lnSpc>
                <a:spcPct val="100000"/>
              </a:lnSpc>
              <a:spcBef>
                <a:spcPts val="100"/>
              </a:spcBef>
              <a:buClr>
                <a:srgbClr val="16165D"/>
              </a:buClr>
              <a:buSzPct val="68750"/>
              <a:tabLst>
                <a:tab pos="354965" algn="l"/>
                <a:tab pos="355600" algn="l"/>
              </a:tabLst>
            </a:pPr>
            <a:endParaRPr lang="en-US" sz="2400" b="1"/>
          </a:p>
        </p:txBody>
      </p:sp>
      <p:pic>
        <p:nvPicPr>
          <p:cNvPr id="7" name="Picture 6">
            <a:extLst>
              <a:ext uri="{FF2B5EF4-FFF2-40B4-BE49-F238E27FC236}">
                <a16:creationId xmlns:a16="http://schemas.microsoft.com/office/drawing/2014/main" id="{57C054E3-3917-8287-8EA6-0C0DC50E98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7107" y="1393049"/>
            <a:ext cx="4680023" cy="5451360"/>
          </a:xfrm>
          <a:prstGeom prst="rect">
            <a:avLst/>
          </a:prstGeom>
        </p:spPr>
      </p:pic>
      <p:pic>
        <p:nvPicPr>
          <p:cNvPr id="3" name="Picture 2">
            <a:extLst>
              <a:ext uri="{FF2B5EF4-FFF2-40B4-BE49-F238E27FC236}">
                <a16:creationId xmlns:a16="http://schemas.microsoft.com/office/drawing/2014/main" id="{EE049264-4399-926E-3A78-3F3CCD660624}"/>
              </a:ext>
            </a:extLst>
          </p:cNvPr>
          <p:cNvPicPr>
            <a:picLocks noChangeAspect="1"/>
          </p:cNvPicPr>
          <p:nvPr/>
        </p:nvPicPr>
        <p:blipFill>
          <a:blip r:embed="rId4"/>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883606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69" y="2400502"/>
            <a:ext cx="4680023" cy="3177606"/>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2400" b="1"/>
              <a:t>Measures of central tendency</a:t>
            </a:r>
          </a:p>
          <a:p>
            <a:pPr marL="12700" marR="5080">
              <a:lnSpc>
                <a:spcPct val="100000"/>
              </a:lnSpc>
              <a:spcBef>
                <a:spcPts val="100"/>
              </a:spcBef>
              <a:buClr>
                <a:srgbClr val="16165D"/>
              </a:buClr>
              <a:buSzPct val="68750"/>
              <a:tabLst>
                <a:tab pos="354965" algn="l"/>
                <a:tab pos="355600" algn="l"/>
              </a:tabLst>
            </a:pPr>
            <a:endParaRPr lang="en-US" sz="2400" b="1"/>
          </a:p>
        </p:txBody>
      </p:sp>
      <p:sp>
        <p:nvSpPr>
          <p:cNvPr id="3" name="TextBox 2">
            <a:extLst>
              <a:ext uri="{FF2B5EF4-FFF2-40B4-BE49-F238E27FC236}">
                <a16:creationId xmlns:a16="http://schemas.microsoft.com/office/drawing/2014/main" id="{1D4F6AC3-4CB8-1656-24F1-9D9B4EBB6029}"/>
              </a:ext>
            </a:extLst>
          </p:cNvPr>
          <p:cNvSpPr txBox="1"/>
          <p:nvPr/>
        </p:nvSpPr>
        <p:spPr>
          <a:xfrm>
            <a:off x="7384836" y="2721476"/>
            <a:ext cx="4362295" cy="3177606"/>
          </a:xfrm>
          <a:prstGeom prst="rect">
            <a:avLst/>
          </a:prstGeom>
        </p:spPr>
        <p:txBody>
          <a:bodyPr vert="horz" lIns="91440" tIns="45720" rIns="91440" bIns="45720" rtlCol="0">
            <a:normAutofit/>
          </a:bodyPr>
          <a:lstStyle/>
          <a:p>
            <a:pPr marL="12700" marR="5080" algn="just">
              <a:lnSpc>
                <a:spcPct val="100000"/>
              </a:lnSpc>
              <a:spcBef>
                <a:spcPts val="100"/>
              </a:spcBef>
              <a:buClr>
                <a:srgbClr val="16165D"/>
              </a:buClr>
              <a:buSzPct val="68750"/>
              <a:tabLst>
                <a:tab pos="354965" algn="l"/>
                <a:tab pos="355600" algn="l"/>
              </a:tabLst>
            </a:pPr>
            <a:r>
              <a:rPr lang="en-US" sz="2400" b="1"/>
              <a:t>Median</a:t>
            </a:r>
          </a:p>
          <a:p>
            <a:pPr marL="12700" marR="5080" algn="just">
              <a:lnSpc>
                <a:spcPct val="100000"/>
              </a:lnSpc>
              <a:spcBef>
                <a:spcPts val="100"/>
              </a:spcBef>
              <a:buClr>
                <a:srgbClr val="16165D"/>
              </a:buClr>
              <a:buSzPct val="68750"/>
              <a:tabLst>
                <a:tab pos="354965" algn="l"/>
                <a:tab pos="355600" algn="l"/>
              </a:tabLst>
            </a:pPr>
            <a:r>
              <a:rPr lang="en-US" sz="2400"/>
              <a:t>This is the value right at the middle of a data set. The median is robust and can reduce the effect outliers. It is often used when data is asymmetrical. Before calculating the median, the values must be ordered.</a:t>
            </a:r>
          </a:p>
          <a:p>
            <a:pPr marL="12700" marR="5080">
              <a:lnSpc>
                <a:spcPct val="100000"/>
              </a:lnSpc>
              <a:spcBef>
                <a:spcPts val="100"/>
              </a:spcBef>
              <a:buClr>
                <a:srgbClr val="16165D"/>
              </a:buClr>
              <a:buSzPct val="68750"/>
              <a:tabLst>
                <a:tab pos="354965" algn="l"/>
                <a:tab pos="355600" algn="l"/>
              </a:tabLst>
            </a:pPr>
            <a:endParaRPr lang="en-US" sz="2400"/>
          </a:p>
        </p:txBody>
      </p:sp>
      <p:sp>
        <p:nvSpPr>
          <p:cNvPr id="20" name="TextBox 19">
            <a:extLst>
              <a:ext uri="{FF2B5EF4-FFF2-40B4-BE49-F238E27FC236}">
                <a16:creationId xmlns:a16="http://schemas.microsoft.com/office/drawing/2014/main" id="{DBDC40C4-2726-ECF3-BCDB-C8F1D8D7001F}"/>
              </a:ext>
            </a:extLst>
          </p:cNvPr>
          <p:cNvSpPr txBox="1"/>
          <p:nvPr/>
        </p:nvSpPr>
        <p:spPr>
          <a:xfrm>
            <a:off x="381299" y="2833774"/>
            <a:ext cx="4362295" cy="3177606"/>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2400" b="1"/>
              <a:t>Mean</a:t>
            </a:r>
          </a:p>
          <a:p>
            <a:pPr marL="12700" marR="5080">
              <a:lnSpc>
                <a:spcPct val="100000"/>
              </a:lnSpc>
              <a:spcBef>
                <a:spcPts val="100"/>
              </a:spcBef>
              <a:buClr>
                <a:srgbClr val="16165D"/>
              </a:buClr>
              <a:buSzPct val="68750"/>
              <a:tabLst>
                <a:tab pos="354965" algn="l"/>
                <a:tab pos="355600" algn="l"/>
              </a:tabLst>
            </a:pPr>
            <a:r>
              <a:rPr lang="en-US" sz="2400"/>
              <a:t>This the most common measure of average. The mean  is given as the sum of all the values of a variable divided by the number of observations. It is best used when the data is symmetrical and without outliers. </a:t>
            </a:r>
          </a:p>
        </p:txBody>
      </p:sp>
      <p:pic>
        <p:nvPicPr>
          <p:cNvPr id="4" name="Picture 3">
            <a:extLst>
              <a:ext uri="{FF2B5EF4-FFF2-40B4-BE49-F238E27FC236}">
                <a16:creationId xmlns:a16="http://schemas.microsoft.com/office/drawing/2014/main" id="{A6A5CAA6-7724-3EBA-16E7-2BE3968AD46E}"/>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3309097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69" y="2400502"/>
            <a:ext cx="4680023" cy="3177606"/>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2400" b="1"/>
              <a:t>Measures of central tendency</a:t>
            </a:r>
          </a:p>
          <a:p>
            <a:pPr marL="12700" marR="5080">
              <a:lnSpc>
                <a:spcPct val="100000"/>
              </a:lnSpc>
              <a:spcBef>
                <a:spcPts val="100"/>
              </a:spcBef>
              <a:buClr>
                <a:srgbClr val="16165D"/>
              </a:buClr>
              <a:buSzPct val="68750"/>
              <a:tabLst>
                <a:tab pos="354965" algn="l"/>
                <a:tab pos="355600" algn="l"/>
              </a:tabLst>
            </a:pPr>
            <a:endParaRPr lang="en-US" sz="2400" b="1"/>
          </a:p>
        </p:txBody>
      </p:sp>
      <p:sp>
        <p:nvSpPr>
          <p:cNvPr id="3" name="TextBox 2">
            <a:extLst>
              <a:ext uri="{FF2B5EF4-FFF2-40B4-BE49-F238E27FC236}">
                <a16:creationId xmlns:a16="http://schemas.microsoft.com/office/drawing/2014/main" id="{1D4F6AC3-4CB8-1656-24F1-9D9B4EBB6029}"/>
              </a:ext>
            </a:extLst>
          </p:cNvPr>
          <p:cNvSpPr txBox="1"/>
          <p:nvPr/>
        </p:nvSpPr>
        <p:spPr>
          <a:xfrm>
            <a:off x="444499" y="3040448"/>
            <a:ext cx="4362295" cy="3177606"/>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2400" b="1"/>
              <a:t>Mode</a:t>
            </a:r>
          </a:p>
          <a:p>
            <a:pPr marL="12700" marR="5080">
              <a:lnSpc>
                <a:spcPct val="100000"/>
              </a:lnSpc>
              <a:spcBef>
                <a:spcPts val="100"/>
              </a:spcBef>
              <a:buClr>
                <a:srgbClr val="16165D"/>
              </a:buClr>
              <a:buSzPct val="68750"/>
              <a:tabLst>
                <a:tab pos="354965" algn="l"/>
                <a:tab pos="355600" algn="l"/>
              </a:tabLst>
            </a:pPr>
            <a:r>
              <a:rPr lang="en-US" sz="2400"/>
              <a:t> The mode is the value with the highest frequency. It is rarely used as a measure of central tendency. Mode is more useful in determining if a distribution is unimodal or multimodal.</a:t>
            </a:r>
          </a:p>
          <a:p>
            <a:pPr marL="12700" marR="5080">
              <a:lnSpc>
                <a:spcPct val="100000"/>
              </a:lnSpc>
              <a:spcBef>
                <a:spcPts val="100"/>
              </a:spcBef>
              <a:buClr>
                <a:srgbClr val="16165D"/>
              </a:buClr>
              <a:buSzPct val="68750"/>
              <a:tabLst>
                <a:tab pos="354965" algn="l"/>
                <a:tab pos="355600" algn="l"/>
              </a:tabLst>
            </a:pPr>
            <a:endParaRPr lang="en-US" sz="2400"/>
          </a:p>
        </p:txBody>
      </p:sp>
      <p:grpSp>
        <p:nvGrpSpPr>
          <p:cNvPr id="4" name="object 2">
            <a:extLst>
              <a:ext uri="{FF2B5EF4-FFF2-40B4-BE49-F238E27FC236}">
                <a16:creationId xmlns:a16="http://schemas.microsoft.com/office/drawing/2014/main" id="{26426975-B140-61CD-D1F3-7B5075E273D3}"/>
              </a:ext>
            </a:extLst>
          </p:cNvPr>
          <p:cNvGrpSpPr/>
          <p:nvPr/>
        </p:nvGrpSpPr>
        <p:grpSpPr>
          <a:xfrm>
            <a:off x="7771691" y="2573078"/>
            <a:ext cx="3378432" cy="1494244"/>
            <a:chOff x="2977895" y="4250435"/>
            <a:chExt cx="3477895" cy="1676400"/>
          </a:xfrm>
        </p:grpSpPr>
        <p:sp>
          <p:nvSpPr>
            <p:cNvPr id="5" name="object 3">
              <a:extLst>
                <a:ext uri="{FF2B5EF4-FFF2-40B4-BE49-F238E27FC236}">
                  <a16:creationId xmlns:a16="http://schemas.microsoft.com/office/drawing/2014/main" id="{5DC75835-2E61-45FB-4499-9138250893F7}"/>
                </a:ext>
              </a:extLst>
            </p:cNvPr>
            <p:cNvSpPr/>
            <p:nvPr/>
          </p:nvSpPr>
          <p:spPr>
            <a:xfrm>
              <a:off x="2987801" y="4260341"/>
              <a:ext cx="3458210" cy="1656714"/>
            </a:xfrm>
            <a:custGeom>
              <a:avLst/>
              <a:gdLst/>
              <a:ahLst/>
              <a:cxnLst/>
              <a:rect l="l" t="t" r="r" b="b"/>
              <a:pathLst>
                <a:path w="3458210" h="1656714">
                  <a:moveTo>
                    <a:pt x="3457955" y="0"/>
                  </a:moveTo>
                  <a:lnTo>
                    <a:pt x="0" y="0"/>
                  </a:lnTo>
                  <a:lnTo>
                    <a:pt x="0" y="1656587"/>
                  </a:lnTo>
                  <a:lnTo>
                    <a:pt x="3457955" y="1656587"/>
                  </a:lnTo>
                  <a:lnTo>
                    <a:pt x="3457955" y="0"/>
                  </a:lnTo>
                  <a:close/>
                </a:path>
              </a:pathLst>
            </a:custGeom>
            <a:solidFill>
              <a:srgbClr val="D9D9D9"/>
            </a:solidFill>
          </p:spPr>
          <p:txBody>
            <a:bodyPr wrap="square" lIns="0" tIns="0" rIns="0" bIns="0" rtlCol="0"/>
            <a:lstStyle/>
            <a:p>
              <a:endParaRPr/>
            </a:p>
          </p:txBody>
        </p:sp>
        <p:sp>
          <p:nvSpPr>
            <p:cNvPr id="7" name="object 4">
              <a:extLst>
                <a:ext uri="{FF2B5EF4-FFF2-40B4-BE49-F238E27FC236}">
                  <a16:creationId xmlns:a16="http://schemas.microsoft.com/office/drawing/2014/main" id="{6871B8C2-BDFE-96BD-597C-461AE111B5CE}"/>
                </a:ext>
              </a:extLst>
            </p:cNvPr>
            <p:cNvSpPr/>
            <p:nvPr/>
          </p:nvSpPr>
          <p:spPr>
            <a:xfrm>
              <a:off x="2987801" y="4260341"/>
              <a:ext cx="3458210" cy="1656714"/>
            </a:xfrm>
            <a:custGeom>
              <a:avLst/>
              <a:gdLst/>
              <a:ahLst/>
              <a:cxnLst/>
              <a:rect l="l" t="t" r="r" b="b"/>
              <a:pathLst>
                <a:path w="3458210" h="1656714">
                  <a:moveTo>
                    <a:pt x="0" y="1656587"/>
                  </a:moveTo>
                  <a:lnTo>
                    <a:pt x="3457955" y="1656587"/>
                  </a:lnTo>
                  <a:lnTo>
                    <a:pt x="3457955" y="0"/>
                  </a:lnTo>
                  <a:lnTo>
                    <a:pt x="0" y="0"/>
                  </a:lnTo>
                  <a:lnTo>
                    <a:pt x="0" y="1656587"/>
                  </a:lnTo>
                  <a:close/>
                </a:path>
              </a:pathLst>
            </a:custGeom>
            <a:ln w="19812">
              <a:solidFill>
                <a:srgbClr val="CCA400"/>
              </a:solidFill>
            </a:ln>
          </p:spPr>
          <p:txBody>
            <a:bodyPr wrap="square" lIns="0" tIns="0" rIns="0" bIns="0" rtlCol="0"/>
            <a:lstStyle/>
            <a:p>
              <a:endParaRPr/>
            </a:p>
          </p:txBody>
        </p:sp>
        <p:sp>
          <p:nvSpPr>
            <p:cNvPr id="8" name="object 5">
              <a:extLst>
                <a:ext uri="{FF2B5EF4-FFF2-40B4-BE49-F238E27FC236}">
                  <a16:creationId xmlns:a16="http://schemas.microsoft.com/office/drawing/2014/main" id="{9BACD8B4-A737-9FEC-311D-3EFD346877FB}"/>
                </a:ext>
              </a:extLst>
            </p:cNvPr>
            <p:cNvSpPr/>
            <p:nvPr/>
          </p:nvSpPr>
          <p:spPr>
            <a:xfrm>
              <a:off x="4716780" y="4581143"/>
              <a:ext cx="1295400" cy="1335405"/>
            </a:xfrm>
            <a:custGeom>
              <a:avLst/>
              <a:gdLst/>
              <a:ahLst/>
              <a:cxnLst/>
              <a:rect l="l" t="t" r="r" b="b"/>
              <a:pathLst>
                <a:path w="1295400" h="1335404">
                  <a:moveTo>
                    <a:pt x="1295400" y="762254"/>
                  </a:moveTo>
                  <a:lnTo>
                    <a:pt x="1032891" y="762254"/>
                  </a:lnTo>
                  <a:lnTo>
                    <a:pt x="1032891" y="378968"/>
                  </a:lnTo>
                  <a:lnTo>
                    <a:pt x="776097" y="378968"/>
                  </a:lnTo>
                  <a:lnTo>
                    <a:pt x="776097" y="0"/>
                  </a:lnTo>
                  <a:lnTo>
                    <a:pt x="513588" y="0"/>
                  </a:lnTo>
                  <a:lnTo>
                    <a:pt x="513588" y="189484"/>
                  </a:lnTo>
                  <a:lnTo>
                    <a:pt x="256794" y="189484"/>
                  </a:lnTo>
                  <a:lnTo>
                    <a:pt x="256794" y="572770"/>
                  </a:lnTo>
                  <a:lnTo>
                    <a:pt x="0" y="572770"/>
                  </a:lnTo>
                  <a:lnTo>
                    <a:pt x="0" y="1335024"/>
                  </a:lnTo>
                  <a:lnTo>
                    <a:pt x="1295400" y="1335024"/>
                  </a:lnTo>
                  <a:lnTo>
                    <a:pt x="1295400" y="762254"/>
                  </a:lnTo>
                  <a:close/>
                </a:path>
              </a:pathLst>
            </a:custGeom>
            <a:solidFill>
              <a:srgbClr val="F1F1F1"/>
            </a:solidFill>
          </p:spPr>
          <p:txBody>
            <a:bodyPr wrap="square" lIns="0" tIns="0" rIns="0" bIns="0" rtlCol="0"/>
            <a:lstStyle/>
            <a:p>
              <a:endParaRPr/>
            </a:p>
          </p:txBody>
        </p:sp>
        <p:sp>
          <p:nvSpPr>
            <p:cNvPr id="9" name="object 6">
              <a:extLst>
                <a:ext uri="{FF2B5EF4-FFF2-40B4-BE49-F238E27FC236}">
                  <a16:creationId xmlns:a16="http://schemas.microsoft.com/office/drawing/2014/main" id="{283651EE-73AA-0AD7-1D68-9B6A18A756BF}"/>
                </a:ext>
              </a:extLst>
            </p:cNvPr>
            <p:cNvSpPr/>
            <p:nvPr/>
          </p:nvSpPr>
          <p:spPr>
            <a:xfrm>
              <a:off x="4716779" y="4581143"/>
              <a:ext cx="1295400" cy="1335405"/>
            </a:xfrm>
            <a:custGeom>
              <a:avLst/>
              <a:gdLst/>
              <a:ahLst/>
              <a:cxnLst/>
              <a:rect l="l" t="t" r="r" b="b"/>
              <a:pathLst>
                <a:path w="1295400" h="1335404">
                  <a:moveTo>
                    <a:pt x="0" y="1335023"/>
                  </a:moveTo>
                  <a:lnTo>
                    <a:pt x="0" y="572769"/>
                  </a:lnTo>
                  <a:lnTo>
                    <a:pt x="256794" y="572769"/>
                  </a:lnTo>
                  <a:lnTo>
                    <a:pt x="256794" y="1335023"/>
                  </a:lnTo>
                  <a:lnTo>
                    <a:pt x="256794" y="189483"/>
                  </a:lnTo>
                  <a:lnTo>
                    <a:pt x="513588" y="189483"/>
                  </a:lnTo>
                  <a:lnTo>
                    <a:pt x="513588" y="1335023"/>
                  </a:lnTo>
                  <a:lnTo>
                    <a:pt x="513588" y="0"/>
                  </a:lnTo>
                  <a:lnTo>
                    <a:pt x="776097" y="0"/>
                  </a:lnTo>
                  <a:lnTo>
                    <a:pt x="776097" y="1335023"/>
                  </a:lnTo>
                  <a:lnTo>
                    <a:pt x="776097" y="378967"/>
                  </a:lnTo>
                  <a:lnTo>
                    <a:pt x="1032891" y="378967"/>
                  </a:lnTo>
                  <a:lnTo>
                    <a:pt x="1032891" y="1335023"/>
                  </a:lnTo>
                  <a:lnTo>
                    <a:pt x="1032891" y="762253"/>
                  </a:lnTo>
                  <a:lnTo>
                    <a:pt x="1295400" y="762253"/>
                  </a:lnTo>
                  <a:lnTo>
                    <a:pt x="1295400" y="1335023"/>
                  </a:lnTo>
                </a:path>
              </a:pathLst>
            </a:custGeom>
            <a:ln w="12192">
              <a:solidFill>
                <a:srgbClr val="7E7E7E"/>
              </a:solidFill>
            </a:ln>
          </p:spPr>
          <p:txBody>
            <a:bodyPr wrap="square" lIns="0" tIns="0" rIns="0" bIns="0" rtlCol="0"/>
            <a:lstStyle/>
            <a:p>
              <a:endParaRPr/>
            </a:p>
          </p:txBody>
        </p:sp>
        <p:sp>
          <p:nvSpPr>
            <p:cNvPr id="10" name="object 7">
              <a:extLst>
                <a:ext uri="{FF2B5EF4-FFF2-40B4-BE49-F238E27FC236}">
                  <a16:creationId xmlns:a16="http://schemas.microsoft.com/office/drawing/2014/main" id="{684B1FAF-F578-718A-BE25-02699EFCB2F1}"/>
                </a:ext>
              </a:extLst>
            </p:cNvPr>
            <p:cNvSpPr/>
            <p:nvPr/>
          </p:nvSpPr>
          <p:spPr>
            <a:xfrm>
              <a:off x="3419856" y="4351019"/>
              <a:ext cx="1297305" cy="1565275"/>
            </a:xfrm>
            <a:custGeom>
              <a:avLst/>
              <a:gdLst/>
              <a:ahLst/>
              <a:cxnLst/>
              <a:rect l="l" t="t" r="r" b="b"/>
              <a:pathLst>
                <a:path w="1297304" h="1565275">
                  <a:moveTo>
                    <a:pt x="1296924" y="893699"/>
                  </a:moveTo>
                  <a:lnTo>
                    <a:pt x="1034161" y="893699"/>
                  </a:lnTo>
                  <a:lnTo>
                    <a:pt x="1034161" y="444373"/>
                  </a:lnTo>
                  <a:lnTo>
                    <a:pt x="776986" y="444373"/>
                  </a:lnTo>
                  <a:lnTo>
                    <a:pt x="776986" y="0"/>
                  </a:lnTo>
                  <a:lnTo>
                    <a:pt x="514223" y="0"/>
                  </a:lnTo>
                  <a:lnTo>
                    <a:pt x="514223" y="222123"/>
                  </a:lnTo>
                  <a:lnTo>
                    <a:pt x="257048" y="222123"/>
                  </a:lnTo>
                  <a:lnTo>
                    <a:pt x="257048" y="671449"/>
                  </a:lnTo>
                  <a:lnTo>
                    <a:pt x="0" y="671449"/>
                  </a:lnTo>
                  <a:lnTo>
                    <a:pt x="0" y="1565148"/>
                  </a:lnTo>
                  <a:lnTo>
                    <a:pt x="1296924" y="1565148"/>
                  </a:lnTo>
                  <a:lnTo>
                    <a:pt x="1296924" y="893699"/>
                  </a:lnTo>
                  <a:close/>
                </a:path>
              </a:pathLst>
            </a:custGeom>
            <a:solidFill>
              <a:srgbClr val="F1F1F1"/>
            </a:solidFill>
          </p:spPr>
          <p:txBody>
            <a:bodyPr wrap="square" lIns="0" tIns="0" rIns="0" bIns="0" rtlCol="0"/>
            <a:lstStyle/>
            <a:p>
              <a:endParaRPr/>
            </a:p>
          </p:txBody>
        </p:sp>
        <p:sp>
          <p:nvSpPr>
            <p:cNvPr id="12" name="object 8">
              <a:extLst>
                <a:ext uri="{FF2B5EF4-FFF2-40B4-BE49-F238E27FC236}">
                  <a16:creationId xmlns:a16="http://schemas.microsoft.com/office/drawing/2014/main" id="{C11893D4-8E5D-4067-03C0-23621FD7C9A0}"/>
                </a:ext>
              </a:extLst>
            </p:cNvPr>
            <p:cNvSpPr/>
            <p:nvPr/>
          </p:nvSpPr>
          <p:spPr>
            <a:xfrm>
              <a:off x="3419855" y="4351019"/>
              <a:ext cx="1297305" cy="1565275"/>
            </a:xfrm>
            <a:custGeom>
              <a:avLst/>
              <a:gdLst/>
              <a:ahLst/>
              <a:cxnLst/>
              <a:rect l="l" t="t" r="r" b="b"/>
              <a:pathLst>
                <a:path w="1297304" h="1565275">
                  <a:moveTo>
                    <a:pt x="0" y="1565147"/>
                  </a:moveTo>
                  <a:lnTo>
                    <a:pt x="0" y="671448"/>
                  </a:lnTo>
                  <a:lnTo>
                    <a:pt x="257048" y="671448"/>
                  </a:lnTo>
                  <a:lnTo>
                    <a:pt x="257048" y="1565147"/>
                  </a:lnTo>
                  <a:lnTo>
                    <a:pt x="257048" y="222122"/>
                  </a:lnTo>
                  <a:lnTo>
                    <a:pt x="514223" y="222122"/>
                  </a:lnTo>
                  <a:lnTo>
                    <a:pt x="514223" y="1565147"/>
                  </a:lnTo>
                  <a:lnTo>
                    <a:pt x="514223" y="0"/>
                  </a:lnTo>
                  <a:lnTo>
                    <a:pt x="776986" y="0"/>
                  </a:lnTo>
                  <a:lnTo>
                    <a:pt x="776986" y="1565147"/>
                  </a:lnTo>
                  <a:lnTo>
                    <a:pt x="776986" y="444372"/>
                  </a:lnTo>
                  <a:lnTo>
                    <a:pt x="1034161" y="444372"/>
                  </a:lnTo>
                  <a:lnTo>
                    <a:pt x="1034161" y="1565147"/>
                  </a:lnTo>
                  <a:lnTo>
                    <a:pt x="1034161" y="893698"/>
                  </a:lnTo>
                  <a:lnTo>
                    <a:pt x="1296924" y="893698"/>
                  </a:lnTo>
                  <a:lnTo>
                    <a:pt x="1296924" y="1565147"/>
                  </a:lnTo>
                </a:path>
              </a:pathLst>
            </a:custGeom>
            <a:ln w="12192">
              <a:solidFill>
                <a:srgbClr val="7E7E7E"/>
              </a:solidFill>
            </a:ln>
          </p:spPr>
          <p:txBody>
            <a:bodyPr wrap="square" lIns="0" tIns="0" rIns="0" bIns="0" rtlCol="0"/>
            <a:lstStyle/>
            <a:p>
              <a:endParaRPr/>
            </a:p>
          </p:txBody>
        </p:sp>
        <p:sp>
          <p:nvSpPr>
            <p:cNvPr id="14" name="object 9">
              <a:extLst>
                <a:ext uri="{FF2B5EF4-FFF2-40B4-BE49-F238E27FC236}">
                  <a16:creationId xmlns:a16="http://schemas.microsoft.com/office/drawing/2014/main" id="{DF0E80B2-FAD6-CD0B-5032-975ED7773375}"/>
                </a:ext>
              </a:extLst>
            </p:cNvPr>
            <p:cNvSpPr/>
            <p:nvPr/>
          </p:nvSpPr>
          <p:spPr>
            <a:xfrm>
              <a:off x="3419855" y="5916167"/>
              <a:ext cx="2592705" cy="0"/>
            </a:xfrm>
            <a:custGeom>
              <a:avLst/>
              <a:gdLst/>
              <a:ahLst/>
              <a:cxnLst/>
              <a:rect l="l" t="t" r="r" b="b"/>
              <a:pathLst>
                <a:path w="2592704">
                  <a:moveTo>
                    <a:pt x="0" y="0"/>
                  </a:moveTo>
                  <a:lnTo>
                    <a:pt x="2592578" y="0"/>
                  </a:lnTo>
                </a:path>
              </a:pathLst>
            </a:custGeom>
            <a:ln w="12192">
              <a:solidFill>
                <a:srgbClr val="D9D9D9"/>
              </a:solidFill>
            </a:ln>
          </p:spPr>
          <p:txBody>
            <a:bodyPr wrap="square" lIns="0" tIns="0" rIns="0" bIns="0" rtlCol="0"/>
            <a:lstStyle/>
            <a:p>
              <a:endParaRPr/>
            </a:p>
          </p:txBody>
        </p:sp>
      </p:grpSp>
      <p:sp>
        <p:nvSpPr>
          <p:cNvPr id="16" name="TextBox 15">
            <a:extLst>
              <a:ext uri="{FF2B5EF4-FFF2-40B4-BE49-F238E27FC236}">
                <a16:creationId xmlns:a16="http://schemas.microsoft.com/office/drawing/2014/main" id="{5D100859-1E88-6E02-6BDB-A5C2CD8C6A33}"/>
              </a:ext>
            </a:extLst>
          </p:cNvPr>
          <p:cNvSpPr txBox="1"/>
          <p:nvPr/>
        </p:nvSpPr>
        <p:spPr>
          <a:xfrm>
            <a:off x="8831114" y="5469258"/>
            <a:ext cx="1956392" cy="923330"/>
          </a:xfrm>
          <a:prstGeom prst="rect">
            <a:avLst/>
          </a:prstGeom>
          <a:noFill/>
        </p:spPr>
        <p:txBody>
          <a:bodyPr wrap="square" rtlCol="0">
            <a:spAutoFit/>
          </a:bodyPr>
          <a:lstStyle/>
          <a:p>
            <a:r>
              <a:rPr lang="en-MY"/>
              <a:t>Multimodal = more than one peak(mode)</a:t>
            </a:r>
          </a:p>
        </p:txBody>
      </p:sp>
      <p:cxnSp>
        <p:nvCxnSpPr>
          <p:cNvPr id="18" name="Straight Arrow Connector 17">
            <a:extLst>
              <a:ext uri="{FF2B5EF4-FFF2-40B4-BE49-F238E27FC236}">
                <a16:creationId xmlns:a16="http://schemas.microsoft.com/office/drawing/2014/main" id="{AB696705-D49D-6E05-AC79-7781200A2370}"/>
              </a:ext>
            </a:extLst>
          </p:cNvPr>
          <p:cNvCxnSpPr>
            <a:cxnSpLocks/>
          </p:cNvCxnSpPr>
          <p:nvPr/>
        </p:nvCxnSpPr>
        <p:spPr>
          <a:xfrm flipV="1">
            <a:off x="9481621" y="4057813"/>
            <a:ext cx="0" cy="126416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7" name="Picture 16">
            <a:extLst>
              <a:ext uri="{FF2B5EF4-FFF2-40B4-BE49-F238E27FC236}">
                <a16:creationId xmlns:a16="http://schemas.microsoft.com/office/drawing/2014/main" id="{05F86A80-9887-5780-40A3-355A2D71437D}"/>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38606679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70" y="2399809"/>
            <a:ext cx="10818175" cy="3492868"/>
          </a:xfrm>
          <a:prstGeom prst="rect">
            <a:avLst/>
          </a:prstGeom>
        </p:spPr>
        <p:txBody>
          <a:bodyPr vert="horz" lIns="91440" tIns="45720" rIns="91440" bIns="45720" rtlCol="0">
            <a:normAutofit/>
          </a:bodyPr>
          <a:lstStyle/>
          <a:p>
            <a:pPr marL="12700" marR="5080" algn="just">
              <a:lnSpc>
                <a:spcPct val="100000"/>
              </a:lnSpc>
              <a:spcBef>
                <a:spcPts val="100"/>
              </a:spcBef>
              <a:buClr>
                <a:srgbClr val="16165D"/>
              </a:buClr>
              <a:buSzPct val="68750"/>
              <a:tabLst>
                <a:tab pos="354965" algn="l"/>
                <a:tab pos="355600" algn="l"/>
              </a:tabLst>
            </a:pPr>
            <a:r>
              <a:rPr lang="en-US" sz="2400" b="1"/>
              <a:t>Measures of spread</a:t>
            </a:r>
          </a:p>
          <a:p>
            <a:pPr marL="12700" marR="5080" algn="just">
              <a:lnSpc>
                <a:spcPct val="100000"/>
              </a:lnSpc>
              <a:spcBef>
                <a:spcPts val="100"/>
              </a:spcBef>
              <a:buClr>
                <a:srgbClr val="16165D"/>
              </a:buClr>
              <a:buSzPct val="68750"/>
              <a:tabLst>
                <a:tab pos="354965" algn="l"/>
                <a:tab pos="355600" algn="l"/>
              </a:tabLst>
            </a:pPr>
            <a:r>
              <a:rPr lang="en-US" sz="2400"/>
              <a:t>Also known as measure of variability or dispersion. Here, we want to know how spread out a distribution is or how the dataset deviates from the position measure. It shows the variation in datapoints.</a:t>
            </a:r>
          </a:p>
          <a:p>
            <a:pPr marL="12700" marR="5080" algn="just">
              <a:lnSpc>
                <a:spcPct val="100000"/>
              </a:lnSpc>
              <a:spcBef>
                <a:spcPts val="100"/>
              </a:spcBef>
              <a:buClr>
                <a:srgbClr val="16165D"/>
              </a:buClr>
              <a:buSzPct val="68750"/>
              <a:tabLst>
                <a:tab pos="354965" algn="l"/>
                <a:tab pos="355600" algn="l"/>
              </a:tabLst>
            </a:pPr>
            <a:r>
              <a:rPr lang="en-US" sz="2400"/>
              <a:t>There are different statistics by which  we can describe the spread of a data set:</a:t>
            </a:r>
          </a:p>
          <a:p>
            <a:pPr marL="355600" marR="5080" indent="-342900" algn="just">
              <a:lnSpc>
                <a:spcPct val="100000"/>
              </a:lnSpc>
              <a:spcBef>
                <a:spcPts val="100"/>
              </a:spcBef>
              <a:buClr>
                <a:srgbClr val="16165D"/>
              </a:buClr>
              <a:buSzPct val="68750"/>
              <a:buFontTx/>
              <a:buChar char="-"/>
              <a:tabLst>
                <a:tab pos="354965" algn="l"/>
                <a:tab pos="355600" algn="l"/>
              </a:tabLst>
            </a:pPr>
            <a:r>
              <a:rPr lang="en-US" sz="2400"/>
              <a:t>Range</a:t>
            </a:r>
          </a:p>
          <a:p>
            <a:pPr marL="355600" marR="5080" indent="-342900" algn="just">
              <a:lnSpc>
                <a:spcPct val="100000"/>
              </a:lnSpc>
              <a:spcBef>
                <a:spcPts val="100"/>
              </a:spcBef>
              <a:buClr>
                <a:srgbClr val="16165D"/>
              </a:buClr>
              <a:buSzPct val="68750"/>
              <a:buFontTx/>
              <a:buChar char="-"/>
              <a:tabLst>
                <a:tab pos="354965" algn="l"/>
                <a:tab pos="355600" algn="l"/>
              </a:tabLst>
            </a:pPr>
            <a:r>
              <a:rPr lang="en-US" sz="2400"/>
              <a:t>Standard deviation.</a:t>
            </a:r>
          </a:p>
          <a:p>
            <a:pPr marL="12700" marR="5080" algn="just">
              <a:lnSpc>
                <a:spcPct val="100000"/>
              </a:lnSpc>
              <a:spcBef>
                <a:spcPts val="100"/>
              </a:spcBef>
              <a:buClr>
                <a:srgbClr val="16165D"/>
              </a:buClr>
              <a:buSzPct val="68750"/>
              <a:tabLst>
                <a:tab pos="354965" algn="l"/>
                <a:tab pos="355600" algn="l"/>
              </a:tabLst>
            </a:pPr>
            <a:endParaRPr lang="en-US" sz="2400"/>
          </a:p>
          <a:p>
            <a:pPr marL="12700" marR="5080" algn="just">
              <a:lnSpc>
                <a:spcPct val="100000"/>
              </a:lnSpc>
              <a:spcBef>
                <a:spcPts val="100"/>
              </a:spcBef>
              <a:buClr>
                <a:srgbClr val="16165D"/>
              </a:buClr>
              <a:buSzPct val="68750"/>
              <a:tabLst>
                <a:tab pos="354965" algn="l"/>
                <a:tab pos="355600" algn="l"/>
              </a:tabLst>
            </a:pPr>
            <a:endParaRPr lang="en-US" sz="2400"/>
          </a:p>
        </p:txBody>
      </p:sp>
      <p:pic>
        <p:nvPicPr>
          <p:cNvPr id="3" name="Picture 2">
            <a:extLst>
              <a:ext uri="{FF2B5EF4-FFF2-40B4-BE49-F238E27FC236}">
                <a16:creationId xmlns:a16="http://schemas.microsoft.com/office/drawing/2014/main" id="{7ADBC31F-C101-32AA-B4EE-02DBE7BD0908}"/>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23426190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70" y="2399809"/>
            <a:ext cx="10995763" cy="3501261"/>
          </a:xfrm>
          <a:prstGeom prst="rect">
            <a:avLst/>
          </a:prstGeom>
        </p:spPr>
        <p:txBody>
          <a:bodyPr vert="horz" lIns="91440" tIns="45720" rIns="91440" bIns="45720" rtlCol="0">
            <a:normAutofit lnSpcReduction="10000"/>
          </a:bodyPr>
          <a:lstStyle/>
          <a:p>
            <a:pPr marL="12700" marR="5080" algn="just">
              <a:lnSpc>
                <a:spcPct val="100000"/>
              </a:lnSpc>
              <a:spcBef>
                <a:spcPts val="100"/>
              </a:spcBef>
              <a:buClr>
                <a:srgbClr val="16165D"/>
              </a:buClr>
              <a:buSzPct val="68750"/>
              <a:tabLst>
                <a:tab pos="354965" algn="l"/>
                <a:tab pos="355600" algn="l"/>
              </a:tabLst>
            </a:pPr>
            <a:r>
              <a:rPr lang="en-US" sz="2400" b="1"/>
              <a:t>Measures of spread</a:t>
            </a:r>
          </a:p>
          <a:p>
            <a:pPr marL="12700" marR="5080" algn="just">
              <a:lnSpc>
                <a:spcPct val="100000"/>
              </a:lnSpc>
              <a:spcBef>
                <a:spcPts val="100"/>
              </a:spcBef>
              <a:buClr>
                <a:srgbClr val="16165D"/>
              </a:buClr>
              <a:buSzPct val="68750"/>
              <a:tabLst>
                <a:tab pos="354965" algn="l"/>
                <a:tab pos="355600" algn="l"/>
              </a:tabLst>
            </a:pPr>
            <a:r>
              <a:rPr lang="en-US" sz="2400" i="1"/>
              <a:t>Range</a:t>
            </a:r>
          </a:p>
          <a:p>
            <a:pPr marL="12700" marR="5080" algn="just">
              <a:lnSpc>
                <a:spcPct val="100000"/>
              </a:lnSpc>
              <a:spcBef>
                <a:spcPts val="100"/>
              </a:spcBef>
              <a:buClr>
                <a:srgbClr val="16165D"/>
              </a:buClr>
              <a:buSzPct val="68750"/>
              <a:tabLst>
                <a:tab pos="354965" algn="l"/>
                <a:tab pos="355600" algn="l"/>
              </a:tabLst>
            </a:pPr>
            <a:r>
              <a:rPr lang="en-US" sz="2400"/>
              <a:t>The range gives you an idea of how far apart the most extreme response scores are. To find the range, simply subtract the lowest value from the highest value. The range can be misleading in the presence of an outlier or when the dataset is skewed.</a:t>
            </a:r>
          </a:p>
          <a:p>
            <a:pPr marL="12700" marR="5080" algn="just">
              <a:lnSpc>
                <a:spcPct val="100000"/>
              </a:lnSpc>
              <a:spcBef>
                <a:spcPts val="100"/>
              </a:spcBef>
              <a:buClr>
                <a:srgbClr val="16165D"/>
              </a:buClr>
              <a:buSzPct val="68750"/>
              <a:tabLst>
                <a:tab pos="354965" algn="l"/>
                <a:tab pos="355600" algn="l"/>
              </a:tabLst>
            </a:pPr>
            <a:endParaRPr lang="en-US" sz="2400"/>
          </a:p>
          <a:p>
            <a:pPr marL="12700" marR="5080" algn="just">
              <a:lnSpc>
                <a:spcPct val="100000"/>
              </a:lnSpc>
              <a:spcBef>
                <a:spcPts val="100"/>
              </a:spcBef>
              <a:buClr>
                <a:srgbClr val="16165D"/>
              </a:buClr>
              <a:buSzPct val="68750"/>
              <a:tabLst>
                <a:tab pos="354965" algn="l"/>
                <a:tab pos="355600" algn="l"/>
              </a:tabLst>
            </a:pPr>
            <a:r>
              <a:rPr lang="en-US" sz="2400" i="1"/>
              <a:t>Standard deviation</a:t>
            </a:r>
          </a:p>
          <a:p>
            <a:pPr marL="12700" marR="5080" algn="just">
              <a:lnSpc>
                <a:spcPct val="100000"/>
              </a:lnSpc>
              <a:spcBef>
                <a:spcPts val="100"/>
              </a:spcBef>
              <a:buClr>
                <a:srgbClr val="16165D"/>
              </a:buClr>
              <a:buSzPct val="68750"/>
              <a:tabLst>
                <a:tab pos="354965" algn="l"/>
                <a:tab pos="355600" algn="l"/>
              </a:tabLst>
            </a:pPr>
            <a:r>
              <a:rPr lang="en-US" sz="2400"/>
              <a:t>The standard deviation is the average amount of variability in your dataset. It tells you, on average, how far each score lies from the mean. The larger the standard deviation, the more variable the data set is. Standard deviation is more robust to outliers</a:t>
            </a:r>
          </a:p>
          <a:p>
            <a:pPr marL="12700" marR="5080" algn="just">
              <a:lnSpc>
                <a:spcPct val="100000"/>
              </a:lnSpc>
              <a:spcBef>
                <a:spcPts val="100"/>
              </a:spcBef>
              <a:buClr>
                <a:srgbClr val="16165D"/>
              </a:buClr>
              <a:buSzPct val="68750"/>
              <a:tabLst>
                <a:tab pos="354965" algn="l"/>
                <a:tab pos="355600" algn="l"/>
              </a:tabLst>
            </a:pPr>
            <a:endParaRPr lang="en-US" sz="2400"/>
          </a:p>
        </p:txBody>
      </p:sp>
      <p:sp>
        <p:nvSpPr>
          <p:cNvPr id="3" name="object 25">
            <a:extLst>
              <a:ext uri="{FF2B5EF4-FFF2-40B4-BE49-F238E27FC236}">
                <a16:creationId xmlns:a16="http://schemas.microsoft.com/office/drawing/2014/main" id="{26DEE872-836A-EED8-407B-B5FF3D3C50C1}"/>
              </a:ext>
            </a:extLst>
          </p:cNvPr>
          <p:cNvSpPr txBox="1"/>
          <p:nvPr/>
        </p:nvSpPr>
        <p:spPr>
          <a:xfrm>
            <a:off x="6830888" y="5813984"/>
            <a:ext cx="2158365" cy="1083945"/>
          </a:xfrm>
          <a:prstGeom prst="rect">
            <a:avLst/>
          </a:prstGeom>
          <a:solidFill>
            <a:srgbClr val="00B050"/>
          </a:solidFill>
        </p:spPr>
        <p:txBody>
          <a:bodyPr vert="horz" wrap="square" lIns="0" tIns="35560" rIns="0" bIns="0" rtlCol="0">
            <a:spAutoFit/>
          </a:bodyPr>
          <a:lstStyle/>
          <a:p>
            <a:pPr marL="90805">
              <a:lnSpc>
                <a:spcPct val="100000"/>
              </a:lnSpc>
              <a:spcBef>
                <a:spcPts val="280"/>
              </a:spcBef>
            </a:pPr>
            <a:r>
              <a:rPr sz="1400">
                <a:latin typeface="Calibri"/>
                <a:cs typeface="Calibri"/>
              </a:rPr>
              <a:t>s</a:t>
            </a:r>
            <a:r>
              <a:rPr sz="1400" spc="-15">
                <a:latin typeface="Calibri"/>
                <a:cs typeface="Calibri"/>
              </a:rPr>
              <a:t> </a:t>
            </a:r>
            <a:r>
              <a:rPr sz="1400">
                <a:latin typeface="Calibri"/>
                <a:cs typeface="Calibri"/>
              </a:rPr>
              <a:t>=</a:t>
            </a:r>
            <a:r>
              <a:rPr sz="1400" spc="-20">
                <a:latin typeface="Calibri"/>
                <a:cs typeface="Calibri"/>
              </a:rPr>
              <a:t> </a:t>
            </a:r>
            <a:r>
              <a:rPr sz="1400" spc="-10">
                <a:latin typeface="Calibri"/>
                <a:cs typeface="Calibri"/>
              </a:rPr>
              <a:t>standard</a:t>
            </a:r>
            <a:r>
              <a:rPr sz="1400">
                <a:latin typeface="Calibri"/>
                <a:cs typeface="Calibri"/>
              </a:rPr>
              <a:t> </a:t>
            </a:r>
            <a:r>
              <a:rPr sz="1400" spc="-5">
                <a:latin typeface="Calibri"/>
                <a:cs typeface="Calibri"/>
              </a:rPr>
              <a:t>deviation</a:t>
            </a:r>
            <a:endParaRPr sz="1400">
              <a:latin typeface="Calibri"/>
              <a:cs typeface="Calibri"/>
            </a:endParaRPr>
          </a:p>
          <a:p>
            <a:pPr marL="90805">
              <a:lnSpc>
                <a:spcPct val="100000"/>
              </a:lnSpc>
              <a:spcBef>
                <a:spcPts val="340"/>
              </a:spcBef>
            </a:pPr>
            <a:r>
              <a:rPr sz="1400">
                <a:latin typeface="Calibri"/>
                <a:cs typeface="Calibri"/>
              </a:rPr>
              <a:t>x</a:t>
            </a:r>
            <a:r>
              <a:rPr sz="1400" spc="-25">
                <a:latin typeface="Calibri"/>
                <a:cs typeface="Calibri"/>
              </a:rPr>
              <a:t> </a:t>
            </a:r>
            <a:r>
              <a:rPr sz="1400">
                <a:latin typeface="Calibri"/>
                <a:cs typeface="Calibri"/>
              </a:rPr>
              <a:t>=</a:t>
            </a:r>
            <a:r>
              <a:rPr sz="1400" spc="-30">
                <a:latin typeface="Calibri"/>
                <a:cs typeface="Calibri"/>
              </a:rPr>
              <a:t> </a:t>
            </a:r>
            <a:r>
              <a:rPr sz="1400" spc="-5">
                <a:latin typeface="Calibri"/>
                <a:cs typeface="Calibri"/>
              </a:rPr>
              <a:t>mean</a:t>
            </a:r>
            <a:endParaRPr sz="1400">
              <a:latin typeface="Calibri"/>
              <a:cs typeface="Calibri"/>
            </a:endParaRPr>
          </a:p>
          <a:p>
            <a:pPr marL="90805" marR="267970">
              <a:lnSpc>
                <a:spcPct val="120000"/>
              </a:lnSpc>
            </a:pPr>
            <a:r>
              <a:rPr sz="1400">
                <a:latin typeface="Calibri"/>
                <a:cs typeface="Calibri"/>
              </a:rPr>
              <a:t>x = </a:t>
            </a:r>
            <a:r>
              <a:rPr sz="1400" spc="-5">
                <a:latin typeface="Calibri"/>
                <a:cs typeface="Calibri"/>
              </a:rPr>
              <a:t>values of the </a:t>
            </a:r>
            <a:r>
              <a:rPr sz="1400" spc="-10">
                <a:latin typeface="Calibri"/>
                <a:cs typeface="Calibri"/>
              </a:rPr>
              <a:t>data </a:t>
            </a:r>
            <a:r>
              <a:rPr sz="1400" spc="-5">
                <a:latin typeface="Calibri"/>
                <a:cs typeface="Calibri"/>
              </a:rPr>
              <a:t>set </a:t>
            </a:r>
            <a:r>
              <a:rPr sz="1400" spc="-305">
                <a:latin typeface="Calibri"/>
                <a:cs typeface="Calibri"/>
              </a:rPr>
              <a:t> </a:t>
            </a:r>
            <a:r>
              <a:rPr sz="1400">
                <a:latin typeface="Calibri"/>
                <a:cs typeface="Calibri"/>
              </a:rPr>
              <a:t>n</a:t>
            </a:r>
            <a:r>
              <a:rPr sz="1400" spc="-20">
                <a:latin typeface="Calibri"/>
                <a:cs typeface="Calibri"/>
              </a:rPr>
              <a:t> </a:t>
            </a:r>
            <a:r>
              <a:rPr sz="1400">
                <a:latin typeface="Calibri"/>
                <a:cs typeface="Calibri"/>
              </a:rPr>
              <a:t>=</a:t>
            </a:r>
            <a:r>
              <a:rPr sz="1400" spc="-5">
                <a:latin typeface="Calibri"/>
                <a:cs typeface="Calibri"/>
              </a:rPr>
              <a:t> </a:t>
            </a:r>
            <a:r>
              <a:rPr sz="1400" spc="-15">
                <a:latin typeface="Calibri"/>
                <a:cs typeface="Calibri"/>
              </a:rPr>
              <a:t>size </a:t>
            </a:r>
            <a:r>
              <a:rPr sz="1400" spc="-5">
                <a:latin typeface="Calibri"/>
                <a:cs typeface="Calibri"/>
              </a:rPr>
              <a:t>of</a:t>
            </a:r>
            <a:r>
              <a:rPr sz="1400" spc="-15">
                <a:latin typeface="Calibri"/>
                <a:cs typeface="Calibri"/>
              </a:rPr>
              <a:t> </a:t>
            </a:r>
            <a:r>
              <a:rPr sz="1400" spc="-5">
                <a:latin typeface="Calibri"/>
                <a:cs typeface="Calibri"/>
              </a:rPr>
              <a:t>the</a:t>
            </a:r>
            <a:r>
              <a:rPr sz="1400" spc="5">
                <a:latin typeface="Calibri"/>
                <a:cs typeface="Calibri"/>
              </a:rPr>
              <a:t> </a:t>
            </a:r>
            <a:r>
              <a:rPr sz="1400" spc="-10">
                <a:latin typeface="Calibri"/>
                <a:cs typeface="Calibri"/>
              </a:rPr>
              <a:t>data</a:t>
            </a:r>
            <a:r>
              <a:rPr sz="1400">
                <a:latin typeface="Calibri"/>
                <a:cs typeface="Calibri"/>
              </a:rPr>
              <a:t> </a:t>
            </a:r>
            <a:r>
              <a:rPr sz="1400" spc="-5">
                <a:latin typeface="Calibri"/>
                <a:cs typeface="Calibri"/>
              </a:rPr>
              <a:t>set</a:t>
            </a:r>
            <a:endParaRPr sz="1400">
              <a:latin typeface="Calibri"/>
              <a:cs typeface="Calibri"/>
            </a:endParaRPr>
          </a:p>
        </p:txBody>
      </p:sp>
      <p:sp>
        <p:nvSpPr>
          <p:cNvPr id="4" name="object 30">
            <a:extLst>
              <a:ext uri="{FF2B5EF4-FFF2-40B4-BE49-F238E27FC236}">
                <a16:creationId xmlns:a16="http://schemas.microsoft.com/office/drawing/2014/main" id="{EFD89635-72B8-CAD0-B07A-66ACF7285A0E}"/>
              </a:ext>
            </a:extLst>
          </p:cNvPr>
          <p:cNvSpPr txBox="1"/>
          <p:nvPr/>
        </p:nvSpPr>
        <p:spPr>
          <a:xfrm>
            <a:off x="3937635" y="5982527"/>
            <a:ext cx="2158365" cy="833945"/>
          </a:xfrm>
          <a:prstGeom prst="rect">
            <a:avLst/>
          </a:prstGeom>
          <a:solidFill>
            <a:srgbClr val="FFC000"/>
          </a:solidFill>
        </p:spPr>
        <p:txBody>
          <a:bodyPr vert="horz" wrap="square" lIns="0" tIns="13335" rIns="0" bIns="0" rtlCol="0">
            <a:spAutoFit/>
          </a:bodyPr>
          <a:lstStyle/>
          <a:p>
            <a:pPr marL="726440">
              <a:lnSpc>
                <a:spcPts val="1770"/>
              </a:lnSpc>
              <a:spcBef>
                <a:spcPts val="105"/>
              </a:spcBef>
            </a:pPr>
            <a:r>
              <a:rPr sz="2000">
                <a:latin typeface="Verdana"/>
                <a:cs typeface="Verdana"/>
              </a:rPr>
              <a:t>∑</a:t>
            </a:r>
            <a:r>
              <a:rPr sz="2000" spc="-270">
                <a:latin typeface="Verdana"/>
                <a:cs typeface="Verdana"/>
              </a:rPr>
              <a:t> </a:t>
            </a:r>
            <a:r>
              <a:rPr sz="2000">
                <a:latin typeface="Calibri"/>
                <a:cs typeface="Calibri"/>
              </a:rPr>
              <a:t>( x</a:t>
            </a:r>
            <a:r>
              <a:rPr sz="2000" spc="-10">
                <a:latin typeface="Calibri"/>
                <a:cs typeface="Calibri"/>
              </a:rPr>
              <a:t> </a:t>
            </a:r>
            <a:r>
              <a:rPr sz="2000">
                <a:latin typeface="Calibri"/>
                <a:cs typeface="Calibri"/>
              </a:rPr>
              <a:t>– x</a:t>
            </a:r>
            <a:r>
              <a:rPr sz="2000" spc="-15">
                <a:latin typeface="Calibri"/>
                <a:cs typeface="Calibri"/>
              </a:rPr>
              <a:t> </a:t>
            </a:r>
            <a:r>
              <a:rPr sz="2000">
                <a:latin typeface="Calibri"/>
                <a:cs typeface="Calibri"/>
              </a:rPr>
              <a:t>)</a:t>
            </a:r>
            <a:r>
              <a:rPr sz="1950" spc="22" baseline="25641">
                <a:latin typeface="Calibri"/>
                <a:cs typeface="Calibri"/>
              </a:rPr>
              <a:t>2</a:t>
            </a:r>
            <a:endParaRPr sz="1950" baseline="25641">
              <a:latin typeface="Calibri"/>
              <a:cs typeface="Calibri"/>
            </a:endParaRPr>
          </a:p>
          <a:p>
            <a:pPr marL="25400">
              <a:lnSpc>
                <a:spcPts val="2140"/>
              </a:lnSpc>
              <a:tabLst>
                <a:tab pos="657225" algn="l"/>
                <a:tab pos="1973580" algn="l"/>
              </a:tabLst>
            </a:pPr>
            <a:r>
              <a:rPr sz="2400">
                <a:latin typeface="Calibri"/>
                <a:cs typeface="Calibri"/>
              </a:rPr>
              <a:t>s</a:t>
            </a:r>
            <a:r>
              <a:rPr sz="2400" spc="-130">
                <a:latin typeface="Calibri"/>
                <a:cs typeface="Calibri"/>
              </a:rPr>
              <a:t> </a:t>
            </a:r>
            <a:r>
              <a:rPr sz="2000">
                <a:latin typeface="Calibri"/>
                <a:cs typeface="Calibri"/>
              </a:rPr>
              <a:t>=	</a:t>
            </a:r>
            <a:r>
              <a:rPr sz="2000" u="sng">
                <a:uFill>
                  <a:solidFill>
                    <a:srgbClr val="000000"/>
                  </a:solidFill>
                </a:uFill>
                <a:latin typeface="Calibri"/>
                <a:cs typeface="Calibri"/>
              </a:rPr>
              <a:t> 	</a:t>
            </a:r>
            <a:endParaRPr sz="2000">
              <a:latin typeface="Calibri"/>
              <a:cs typeface="Calibri"/>
            </a:endParaRPr>
          </a:p>
          <a:p>
            <a:pPr marL="1061720">
              <a:lnSpc>
                <a:spcPts val="2295"/>
              </a:lnSpc>
            </a:pPr>
            <a:r>
              <a:rPr sz="2000">
                <a:latin typeface="Calibri"/>
                <a:cs typeface="Calibri"/>
              </a:rPr>
              <a:t>n</a:t>
            </a:r>
            <a:r>
              <a:rPr sz="2000" spc="-35">
                <a:latin typeface="Calibri"/>
                <a:cs typeface="Calibri"/>
              </a:rPr>
              <a:t> </a:t>
            </a:r>
            <a:r>
              <a:rPr sz="2000">
                <a:latin typeface="Calibri"/>
                <a:cs typeface="Calibri"/>
              </a:rPr>
              <a:t>-</a:t>
            </a:r>
            <a:r>
              <a:rPr sz="2000" spc="-25">
                <a:latin typeface="Calibri"/>
                <a:cs typeface="Calibri"/>
              </a:rPr>
              <a:t> </a:t>
            </a:r>
            <a:r>
              <a:rPr sz="2000">
                <a:latin typeface="Calibri"/>
                <a:cs typeface="Calibri"/>
              </a:rPr>
              <a:t>1</a:t>
            </a:r>
          </a:p>
        </p:txBody>
      </p:sp>
      <p:pic>
        <p:nvPicPr>
          <p:cNvPr id="5" name="Picture 4">
            <a:extLst>
              <a:ext uri="{FF2B5EF4-FFF2-40B4-BE49-F238E27FC236}">
                <a16:creationId xmlns:a16="http://schemas.microsoft.com/office/drawing/2014/main" id="{29AD3802-64F9-C7A7-2B99-8933184EE972}"/>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4342899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1E128CB-274A-F8AD-8D71-768908B88F60}"/>
              </a:ext>
            </a:extLst>
          </p:cNvPr>
          <p:cNvSpPr>
            <a:spLocks noGrp="1"/>
          </p:cNvSpPr>
          <p:nvPr>
            <p:ph type="title"/>
          </p:nvPr>
        </p:nvSpPr>
        <p:spPr>
          <a:xfrm>
            <a:off x="681820" y="912677"/>
            <a:ext cx="3719694" cy="1106424"/>
          </a:xfrm>
        </p:spPr>
        <p:txBody>
          <a:bodyPr>
            <a:normAutofit/>
          </a:bodyPr>
          <a:lstStyle/>
          <a:p>
            <a:r>
              <a:rPr lang="en-GB" sz="2800">
                <a:latin typeface="Abadi" panose="020B0604020104020204" pitchFamily="34" charset="0"/>
              </a:rPr>
              <a:t>Outliers</a:t>
            </a:r>
            <a:endParaRPr lang="en-US" sz="2800">
              <a:latin typeface="Abadi" panose="020B0604020104020204" pitchFamily="34" charset="0"/>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0A34007-B40F-6E1E-AA7C-7A4E439F8AF4}"/>
                  </a:ext>
                </a:extLst>
              </p14:cNvPr>
              <p14:cNvContentPartPr/>
              <p14:nvPr/>
            </p14:nvContentPartPr>
            <p14:xfrm>
              <a:off x="8333633" y="4920532"/>
              <a:ext cx="105480" cy="97560"/>
            </p14:xfrm>
          </p:contentPart>
        </mc:Choice>
        <mc:Fallback>
          <p:pic>
            <p:nvPicPr>
              <p:cNvPr id="2" name="Ink 1">
                <a:extLst>
                  <a:ext uri="{FF2B5EF4-FFF2-40B4-BE49-F238E27FC236}">
                    <a16:creationId xmlns:a16="http://schemas.microsoft.com/office/drawing/2014/main" id="{60A34007-B40F-6E1E-AA7C-7A4E439F8AF4}"/>
                  </a:ext>
                </a:extLst>
              </p:cNvPr>
              <p:cNvPicPr/>
              <p:nvPr/>
            </p:nvPicPr>
            <p:blipFill>
              <a:blip r:embed="rId4"/>
              <a:stretch>
                <a:fillRect/>
              </a:stretch>
            </p:blipFill>
            <p:spPr>
              <a:xfrm>
                <a:off x="8324602" y="4911532"/>
                <a:ext cx="12318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22CD2AB4-4CB8-A75D-0B7A-3FA62C715EC2}"/>
                  </a:ext>
                </a:extLst>
              </p14:cNvPr>
              <p14:cNvContentPartPr/>
              <p14:nvPr/>
            </p14:nvContentPartPr>
            <p14:xfrm>
              <a:off x="8359193" y="4916212"/>
              <a:ext cx="50040" cy="127800"/>
            </p14:xfrm>
          </p:contentPart>
        </mc:Choice>
        <mc:Fallback>
          <p:pic>
            <p:nvPicPr>
              <p:cNvPr id="3" name="Ink 2">
                <a:extLst>
                  <a:ext uri="{FF2B5EF4-FFF2-40B4-BE49-F238E27FC236}">
                    <a16:creationId xmlns:a16="http://schemas.microsoft.com/office/drawing/2014/main" id="{22CD2AB4-4CB8-A75D-0B7A-3FA62C715EC2}"/>
                  </a:ext>
                </a:extLst>
              </p:cNvPr>
              <p:cNvPicPr/>
              <p:nvPr/>
            </p:nvPicPr>
            <p:blipFill>
              <a:blip r:embed="rId6"/>
              <a:stretch>
                <a:fillRect/>
              </a:stretch>
            </p:blipFill>
            <p:spPr>
              <a:xfrm>
                <a:off x="8350193" y="4907212"/>
                <a:ext cx="67680" cy="145440"/>
              </a:xfrm>
              <a:prstGeom prst="rect">
                <a:avLst/>
              </a:prstGeom>
            </p:spPr>
          </p:pic>
        </mc:Fallback>
      </mc:AlternateContent>
      <p:pic>
        <p:nvPicPr>
          <p:cNvPr id="5" name="Picture 4">
            <a:extLst>
              <a:ext uri="{FF2B5EF4-FFF2-40B4-BE49-F238E27FC236}">
                <a16:creationId xmlns:a16="http://schemas.microsoft.com/office/drawing/2014/main" id="{5E48DECF-1F9E-31A7-357D-63FCD6ABD09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09337" y="1279499"/>
            <a:ext cx="3743947" cy="5105382"/>
          </a:xfrm>
          <a:prstGeom prst="rect">
            <a:avLst/>
          </a:prstGeom>
        </p:spPr>
      </p:pic>
      <p:pic>
        <p:nvPicPr>
          <p:cNvPr id="12" name="Picture 11">
            <a:extLst>
              <a:ext uri="{FF2B5EF4-FFF2-40B4-BE49-F238E27FC236}">
                <a16:creationId xmlns:a16="http://schemas.microsoft.com/office/drawing/2014/main" id="{30B66414-1273-EE57-9809-6FADDF0C679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1820" y="2448722"/>
            <a:ext cx="5803900" cy="3251200"/>
          </a:xfrm>
          <a:prstGeom prst="rect">
            <a:avLst/>
          </a:prstGeom>
        </p:spPr>
      </p:pic>
      <p:pic>
        <p:nvPicPr>
          <p:cNvPr id="4" name="Picture 3">
            <a:extLst>
              <a:ext uri="{FF2B5EF4-FFF2-40B4-BE49-F238E27FC236}">
                <a16:creationId xmlns:a16="http://schemas.microsoft.com/office/drawing/2014/main" id="{E2E63E0D-16CB-EFF3-C47F-C44AC937F6A9}"/>
              </a:ext>
            </a:extLst>
          </p:cNvPr>
          <p:cNvPicPr>
            <a:picLocks noChangeAspect="1"/>
          </p:cNvPicPr>
          <p:nvPr/>
        </p:nvPicPr>
        <p:blipFill>
          <a:blip r:embed="rId9"/>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15071373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1E128CB-274A-F8AD-8D71-768908B88F60}"/>
              </a:ext>
            </a:extLst>
          </p:cNvPr>
          <p:cNvSpPr>
            <a:spLocks noGrp="1"/>
          </p:cNvSpPr>
          <p:nvPr>
            <p:ph type="title"/>
          </p:nvPr>
        </p:nvSpPr>
        <p:spPr>
          <a:xfrm>
            <a:off x="681820" y="912677"/>
            <a:ext cx="3719694" cy="1106424"/>
          </a:xfrm>
        </p:spPr>
        <p:txBody>
          <a:bodyPr>
            <a:normAutofit/>
          </a:bodyPr>
          <a:lstStyle/>
          <a:p>
            <a:r>
              <a:rPr lang="en-GB" sz="2800">
                <a:latin typeface="Abadi" panose="020B0604020104020204" pitchFamily="34" charset="0"/>
              </a:rPr>
              <a:t>Outliers</a:t>
            </a:r>
            <a:endParaRPr lang="en-US" sz="2800">
              <a:latin typeface="Abadi" panose="020B0604020104020204" pitchFamily="34" charset="0"/>
            </a:endParaRPr>
          </a:p>
        </p:txBody>
      </p:sp>
      <p:sp>
        <p:nvSpPr>
          <p:cNvPr id="7" name="TextBox 6">
            <a:extLst>
              <a:ext uri="{FF2B5EF4-FFF2-40B4-BE49-F238E27FC236}">
                <a16:creationId xmlns:a16="http://schemas.microsoft.com/office/drawing/2014/main" id="{71AE16CD-E7AA-DE38-CE67-AF76DFF3AC07}"/>
              </a:ext>
            </a:extLst>
          </p:cNvPr>
          <p:cNvSpPr txBox="1"/>
          <p:nvPr/>
        </p:nvSpPr>
        <p:spPr>
          <a:xfrm>
            <a:off x="473583" y="2445488"/>
            <a:ext cx="11308842" cy="3785652"/>
          </a:xfrm>
          <a:prstGeom prst="rect">
            <a:avLst/>
          </a:prstGeom>
          <a:noFill/>
        </p:spPr>
        <p:txBody>
          <a:bodyPr wrap="square" lIns="91440" tIns="45720" rIns="91440" bIns="45720" rtlCol="0" anchor="t">
            <a:spAutoFit/>
          </a:bodyPr>
          <a:lstStyle/>
          <a:p>
            <a:pPr marL="342900" indent="-342900">
              <a:buFontTx/>
              <a:buChar char="-"/>
            </a:pPr>
            <a:r>
              <a:rPr lang="en-US" sz="2400"/>
              <a:t>Outlier is  data point that is significantly greater or smaller than other  data points in a data set.</a:t>
            </a:r>
          </a:p>
          <a:p>
            <a:pPr marL="342900" indent="-342900">
              <a:buFontTx/>
              <a:buChar char="-"/>
            </a:pPr>
            <a:r>
              <a:rPr lang="en-US" sz="2400"/>
              <a:t>It is useful when analyzing data to identify outliers as they may affect the calculation of descriptive  statistics.</a:t>
            </a:r>
            <a:endParaRPr lang="en-US" sz="2400">
              <a:ea typeface="Calibri"/>
              <a:cs typeface="Calibri"/>
            </a:endParaRPr>
          </a:p>
          <a:p>
            <a:pPr marL="342900" indent="-342900">
              <a:buFontTx/>
              <a:buChar char="-"/>
            </a:pPr>
            <a:r>
              <a:rPr lang="en-US" sz="2400"/>
              <a:t>Outliers can occur in any given data set and in  any distribution and may indicate an experimental error or incorrect  recording of data. They may also occur by chance.</a:t>
            </a:r>
            <a:endParaRPr lang="en-US" sz="2400">
              <a:ea typeface="Calibri"/>
              <a:cs typeface="Calibri"/>
            </a:endParaRPr>
          </a:p>
          <a:p>
            <a:pPr marL="342900" indent="-342900">
              <a:buFontTx/>
              <a:buChar char="-"/>
            </a:pPr>
            <a:r>
              <a:rPr lang="en-US" sz="2400"/>
              <a:t>In some cases it may be normal to have high or low data points.</a:t>
            </a:r>
            <a:endParaRPr lang="en-US" sz="2400">
              <a:ea typeface="Calibri"/>
              <a:cs typeface="Calibri"/>
            </a:endParaRPr>
          </a:p>
          <a:p>
            <a:pPr marL="342900" indent="-342900">
              <a:buFontTx/>
              <a:buChar char="-"/>
            </a:pPr>
            <a:r>
              <a:rPr lang="en-US" sz="2400"/>
              <a:t>Before carrying out your analysis, you must decide whether to include or exclude the outliers. An outlier should be excluded if it is due to  measurement or human error.</a:t>
            </a:r>
            <a:endParaRPr lang="en-US" sz="2400">
              <a:ea typeface="Calibri"/>
              <a:cs typeface="Calibri"/>
            </a:endParaRPr>
          </a:p>
          <a:p>
            <a:pPr marL="342900" indent="-342900">
              <a:buFontTx/>
              <a:buChar char="-"/>
            </a:pPr>
            <a:endParaRPr lang="en-US" sz="2400"/>
          </a:p>
        </p:txBody>
      </p:sp>
      <p:pic>
        <p:nvPicPr>
          <p:cNvPr id="2" name="Picture 1">
            <a:extLst>
              <a:ext uri="{FF2B5EF4-FFF2-40B4-BE49-F238E27FC236}">
                <a16:creationId xmlns:a16="http://schemas.microsoft.com/office/drawing/2014/main" id="{E63E52F3-AF95-0819-7B16-49C0C9908242}"/>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25625776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1E128CB-274A-F8AD-8D71-768908B88F60}"/>
              </a:ext>
            </a:extLst>
          </p:cNvPr>
          <p:cNvSpPr>
            <a:spLocks noGrp="1"/>
          </p:cNvSpPr>
          <p:nvPr>
            <p:ph type="title"/>
          </p:nvPr>
        </p:nvSpPr>
        <p:spPr>
          <a:xfrm>
            <a:off x="681820" y="912677"/>
            <a:ext cx="3719694" cy="1106424"/>
          </a:xfrm>
        </p:spPr>
        <p:txBody>
          <a:bodyPr>
            <a:normAutofit/>
          </a:bodyPr>
          <a:lstStyle/>
          <a:p>
            <a:r>
              <a:rPr lang="en-GB" sz="2800">
                <a:latin typeface="Abadi" panose="020B0604020104020204" pitchFamily="34" charset="0"/>
              </a:rPr>
              <a:t>Outliers</a:t>
            </a:r>
            <a:endParaRPr lang="en-US" sz="2800">
              <a:latin typeface="Abadi" panose="020B0604020104020204" pitchFamily="34" charset="0"/>
            </a:endParaRPr>
          </a:p>
        </p:txBody>
      </p:sp>
      <p:grpSp>
        <p:nvGrpSpPr>
          <p:cNvPr id="18" name="object 5">
            <a:extLst>
              <a:ext uri="{FF2B5EF4-FFF2-40B4-BE49-F238E27FC236}">
                <a16:creationId xmlns:a16="http://schemas.microsoft.com/office/drawing/2014/main" id="{9BAA724B-F37C-A213-FD54-D342999FFBFA}"/>
              </a:ext>
            </a:extLst>
          </p:cNvPr>
          <p:cNvGrpSpPr/>
          <p:nvPr/>
        </p:nvGrpSpPr>
        <p:grpSpPr>
          <a:xfrm>
            <a:off x="4688958" y="2816953"/>
            <a:ext cx="3459479" cy="1655445"/>
            <a:chOff x="2842260" y="2997707"/>
            <a:chExt cx="3459479" cy="1655445"/>
          </a:xfrm>
        </p:grpSpPr>
        <p:sp>
          <p:nvSpPr>
            <p:cNvPr id="19" name="object 6">
              <a:extLst>
                <a:ext uri="{FF2B5EF4-FFF2-40B4-BE49-F238E27FC236}">
                  <a16:creationId xmlns:a16="http://schemas.microsoft.com/office/drawing/2014/main" id="{11598178-A139-4094-85EB-440E975FF299}"/>
                </a:ext>
              </a:extLst>
            </p:cNvPr>
            <p:cNvSpPr/>
            <p:nvPr/>
          </p:nvSpPr>
          <p:spPr>
            <a:xfrm>
              <a:off x="2842260" y="2997707"/>
              <a:ext cx="3459479" cy="1655445"/>
            </a:xfrm>
            <a:custGeom>
              <a:avLst/>
              <a:gdLst/>
              <a:ahLst/>
              <a:cxnLst/>
              <a:rect l="l" t="t" r="r" b="b"/>
              <a:pathLst>
                <a:path w="3459479" h="1655445">
                  <a:moveTo>
                    <a:pt x="3459479" y="0"/>
                  </a:moveTo>
                  <a:lnTo>
                    <a:pt x="0" y="0"/>
                  </a:lnTo>
                  <a:lnTo>
                    <a:pt x="0" y="1655064"/>
                  </a:lnTo>
                  <a:lnTo>
                    <a:pt x="3459479" y="1655064"/>
                  </a:lnTo>
                  <a:lnTo>
                    <a:pt x="3459479" y="0"/>
                  </a:lnTo>
                  <a:close/>
                </a:path>
              </a:pathLst>
            </a:custGeom>
            <a:solidFill>
              <a:srgbClr val="EDEDED"/>
            </a:solidFill>
          </p:spPr>
          <p:txBody>
            <a:bodyPr wrap="square" lIns="0" tIns="0" rIns="0" bIns="0" rtlCol="0"/>
            <a:lstStyle/>
            <a:p>
              <a:endParaRPr/>
            </a:p>
          </p:txBody>
        </p:sp>
        <p:sp>
          <p:nvSpPr>
            <p:cNvPr id="20" name="object 7">
              <a:extLst>
                <a:ext uri="{FF2B5EF4-FFF2-40B4-BE49-F238E27FC236}">
                  <a16:creationId xmlns:a16="http://schemas.microsoft.com/office/drawing/2014/main" id="{132178F5-DB92-F35B-B91A-1BF75C59C29C}"/>
                </a:ext>
              </a:extLst>
            </p:cNvPr>
            <p:cNvSpPr/>
            <p:nvPr/>
          </p:nvSpPr>
          <p:spPr>
            <a:xfrm>
              <a:off x="3341370" y="3531869"/>
              <a:ext cx="0" cy="402590"/>
            </a:xfrm>
            <a:custGeom>
              <a:avLst/>
              <a:gdLst/>
              <a:ahLst/>
              <a:cxnLst/>
              <a:rect l="l" t="t" r="r" b="b"/>
              <a:pathLst>
                <a:path h="402589">
                  <a:moveTo>
                    <a:pt x="0" y="0"/>
                  </a:moveTo>
                  <a:lnTo>
                    <a:pt x="0" y="402335"/>
                  </a:lnTo>
                </a:path>
              </a:pathLst>
            </a:custGeom>
            <a:ln w="28956">
              <a:solidFill>
                <a:srgbClr val="000000"/>
              </a:solidFill>
            </a:ln>
          </p:spPr>
          <p:txBody>
            <a:bodyPr wrap="square" lIns="0" tIns="0" rIns="0" bIns="0" rtlCol="0"/>
            <a:lstStyle/>
            <a:p>
              <a:endParaRPr/>
            </a:p>
          </p:txBody>
        </p:sp>
        <p:sp>
          <p:nvSpPr>
            <p:cNvPr id="21" name="object 8">
              <a:extLst>
                <a:ext uri="{FF2B5EF4-FFF2-40B4-BE49-F238E27FC236}">
                  <a16:creationId xmlns:a16="http://schemas.microsoft.com/office/drawing/2014/main" id="{B6B68C19-CB9C-B942-925E-F32B709D3FEA}"/>
                </a:ext>
              </a:extLst>
            </p:cNvPr>
            <p:cNvSpPr/>
            <p:nvPr/>
          </p:nvSpPr>
          <p:spPr>
            <a:xfrm>
              <a:off x="3589020" y="3729227"/>
              <a:ext cx="1937385" cy="201295"/>
            </a:xfrm>
            <a:custGeom>
              <a:avLst/>
              <a:gdLst/>
              <a:ahLst/>
              <a:cxnLst/>
              <a:rect l="l" t="t" r="r" b="b"/>
              <a:pathLst>
                <a:path w="1937385" h="201295">
                  <a:moveTo>
                    <a:pt x="0" y="0"/>
                  </a:moveTo>
                  <a:lnTo>
                    <a:pt x="0" y="201168"/>
                  </a:lnTo>
                </a:path>
                <a:path w="1937385" h="201295">
                  <a:moveTo>
                    <a:pt x="242315" y="0"/>
                  </a:moveTo>
                  <a:lnTo>
                    <a:pt x="242315" y="201168"/>
                  </a:lnTo>
                </a:path>
                <a:path w="1937385" h="201295">
                  <a:moveTo>
                    <a:pt x="484631" y="0"/>
                  </a:moveTo>
                  <a:lnTo>
                    <a:pt x="484631" y="201168"/>
                  </a:lnTo>
                </a:path>
                <a:path w="1937385" h="201295">
                  <a:moveTo>
                    <a:pt x="726947" y="0"/>
                  </a:moveTo>
                  <a:lnTo>
                    <a:pt x="726947" y="201168"/>
                  </a:lnTo>
                </a:path>
                <a:path w="1937385" h="201295">
                  <a:moveTo>
                    <a:pt x="967739" y="0"/>
                  </a:moveTo>
                  <a:lnTo>
                    <a:pt x="967739" y="201168"/>
                  </a:lnTo>
                </a:path>
                <a:path w="1937385" h="201295">
                  <a:moveTo>
                    <a:pt x="1210055" y="0"/>
                  </a:moveTo>
                  <a:lnTo>
                    <a:pt x="1210055" y="201168"/>
                  </a:lnTo>
                </a:path>
                <a:path w="1937385" h="201295">
                  <a:moveTo>
                    <a:pt x="1452371" y="0"/>
                  </a:moveTo>
                  <a:lnTo>
                    <a:pt x="1452371" y="201168"/>
                  </a:lnTo>
                </a:path>
                <a:path w="1937385" h="201295">
                  <a:moveTo>
                    <a:pt x="1694688" y="0"/>
                  </a:moveTo>
                  <a:lnTo>
                    <a:pt x="1694688" y="201168"/>
                  </a:lnTo>
                </a:path>
                <a:path w="1937385" h="201295">
                  <a:moveTo>
                    <a:pt x="1937003" y="0"/>
                  </a:moveTo>
                  <a:lnTo>
                    <a:pt x="1937003" y="201168"/>
                  </a:lnTo>
                </a:path>
              </a:pathLst>
            </a:custGeom>
            <a:ln w="12192">
              <a:solidFill>
                <a:srgbClr val="BEBEBE"/>
              </a:solidFill>
            </a:ln>
          </p:spPr>
          <p:txBody>
            <a:bodyPr wrap="square" lIns="0" tIns="0" rIns="0" bIns="0" rtlCol="0"/>
            <a:lstStyle/>
            <a:p>
              <a:endParaRPr/>
            </a:p>
          </p:txBody>
        </p:sp>
        <p:sp>
          <p:nvSpPr>
            <p:cNvPr id="22" name="object 9">
              <a:extLst>
                <a:ext uri="{FF2B5EF4-FFF2-40B4-BE49-F238E27FC236}">
                  <a16:creationId xmlns:a16="http://schemas.microsoft.com/office/drawing/2014/main" id="{8B059159-2EDE-4497-2F81-2C546AB44FAA}"/>
                </a:ext>
              </a:extLst>
            </p:cNvPr>
            <p:cNvSpPr/>
            <p:nvPr/>
          </p:nvSpPr>
          <p:spPr>
            <a:xfrm>
              <a:off x="3335274" y="3653555"/>
              <a:ext cx="2533015" cy="171450"/>
            </a:xfrm>
            <a:custGeom>
              <a:avLst/>
              <a:gdLst/>
              <a:ahLst/>
              <a:cxnLst/>
              <a:rect l="l" t="t" r="r" b="b"/>
              <a:pathLst>
                <a:path w="2533015" h="171450">
                  <a:moveTo>
                    <a:pt x="2457214" y="85578"/>
                  </a:moveTo>
                  <a:lnTo>
                    <a:pt x="2371216" y="135743"/>
                  </a:lnTo>
                  <a:lnTo>
                    <a:pt x="2365609" y="140795"/>
                  </a:lnTo>
                  <a:lnTo>
                    <a:pt x="2362454" y="147395"/>
                  </a:lnTo>
                  <a:lnTo>
                    <a:pt x="2361965" y="154709"/>
                  </a:lnTo>
                  <a:lnTo>
                    <a:pt x="2364359" y="161905"/>
                  </a:lnTo>
                  <a:lnTo>
                    <a:pt x="2369411" y="167512"/>
                  </a:lnTo>
                  <a:lnTo>
                    <a:pt x="2376011" y="170668"/>
                  </a:lnTo>
                  <a:lnTo>
                    <a:pt x="2383325" y="171156"/>
                  </a:lnTo>
                  <a:lnTo>
                    <a:pt x="2390521" y="168763"/>
                  </a:lnTo>
                  <a:lnTo>
                    <a:pt x="2500382" y="104628"/>
                  </a:lnTo>
                  <a:lnTo>
                    <a:pt x="2495168" y="104628"/>
                  </a:lnTo>
                  <a:lnTo>
                    <a:pt x="2495168" y="102088"/>
                  </a:lnTo>
                  <a:lnTo>
                    <a:pt x="2485516" y="102088"/>
                  </a:lnTo>
                  <a:lnTo>
                    <a:pt x="2457214" y="85578"/>
                  </a:lnTo>
                  <a:close/>
                </a:path>
                <a:path w="2533015" h="171450">
                  <a:moveTo>
                    <a:pt x="2424556" y="66528"/>
                  </a:moveTo>
                  <a:lnTo>
                    <a:pt x="0" y="66528"/>
                  </a:lnTo>
                  <a:lnTo>
                    <a:pt x="0" y="104628"/>
                  </a:lnTo>
                  <a:lnTo>
                    <a:pt x="2424557" y="104628"/>
                  </a:lnTo>
                  <a:lnTo>
                    <a:pt x="2457214" y="85578"/>
                  </a:lnTo>
                  <a:lnTo>
                    <a:pt x="2424556" y="66528"/>
                  </a:lnTo>
                  <a:close/>
                </a:path>
                <a:path w="2533015" h="171450">
                  <a:moveTo>
                    <a:pt x="2500382" y="66528"/>
                  </a:moveTo>
                  <a:lnTo>
                    <a:pt x="2495168" y="66528"/>
                  </a:lnTo>
                  <a:lnTo>
                    <a:pt x="2495168" y="104628"/>
                  </a:lnTo>
                  <a:lnTo>
                    <a:pt x="2500382" y="104628"/>
                  </a:lnTo>
                  <a:lnTo>
                    <a:pt x="2533014" y="85578"/>
                  </a:lnTo>
                  <a:lnTo>
                    <a:pt x="2500382" y="66528"/>
                  </a:lnTo>
                  <a:close/>
                </a:path>
                <a:path w="2533015" h="171450">
                  <a:moveTo>
                    <a:pt x="2485516" y="69068"/>
                  </a:moveTo>
                  <a:lnTo>
                    <a:pt x="2457214" y="85578"/>
                  </a:lnTo>
                  <a:lnTo>
                    <a:pt x="2485516" y="102088"/>
                  </a:lnTo>
                  <a:lnTo>
                    <a:pt x="2485516" y="69068"/>
                  </a:lnTo>
                  <a:close/>
                </a:path>
                <a:path w="2533015" h="171450">
                  <a:moveTo>
                    <a:pt x="2495168" y="69068"/>
                  </a:moveTo>
                  <a:lnTo>
                    <a:pt x="2485516" y="69068"/>
                  </a:lnTo>
                  <a:lnTo>
                    <a:pt x="2485516" y="102088"/>
                  </a:lnTo>
                  <a:lnTo>
                    <a:pt x="2495168" y="102088"/>
                  </a:lnTo>
                  <a:lnTo>
                    <a:pt x="2495168" y="69068"/>
                  </a:lnTo>
                  <a:close/>
                </a:path>
                <a:path w="2533015" h="171450">
                  <a:moveTo>
                    <a:pt x="2383325" y="0"/>
                  </a:moveTo>
                  <a:lnTo>
                    <a:pt x="2376011" y="488"/>
                  </a:lnTo>
                  <a:lnTo>
                    <a:pt x="2369411" y="3643"/>
                  </a:lnTo>
                  <a:lnTo>
                    <a:pt x="2364359" y="9251"/>
                  </a:lnTo>
                  <a:lnTo>
                    <a:pt x="2361965" y="16446"/>
                  </a:lnTo>
                  <a:lnTo>
                    <a:pt x="2362454" y="23760"/>
                  </a:lnTo>
                  <a:lnTo>
                    <a:pt x="2365609" y="30360"/>
                  </a:lnTo>
                  <a:lnTo>
                    <a:pt x="2371216" y="35413"/>
                  </a:lnTo>
                  <a:lnTo>
                    <a:pt x="2457214" y="85578"/>
                  </a:lnTo>
                  <a:lnTo>
                    <a:pt x="2485516" y="69068"/>
                  </a:lnTo>
                  <a:lnTo>
                    <a:pt x="2495168" y="69068"/>
                  </a:lnTo>
                  <a:lnTo>
                    <a:pt x="2495168" y="66528"/>
                  </a:lnTo>
                  <a:lnTo>
                    <a:pt x="2500382" y="66528"/>
                  </a:lnTo>
                  <a:lnTo>
                    <a:pt x="2390521" y="2393"/>
                  </a:lnTo>
                  <a:lnTo>
                    <a:pt x="2383325" y="0"/>
                  </a:lnTo>
                  <a:close/>
                </a:path>
              </a:pathLst>
            </a:custGeom>
            <a:solidFill>
              <a:srgbClr val="000000"/>
            </a:solidFill>
          </p:spPr>
          <p:txBody>
            <a:bodyPr wrap="square" lIns="0" tIns="0" rIns="0" bIns="0" rtlCol="0"/>
            <a:lstStyle/>
            <a:p>
              <a:endParaRPr/>
            </a:p>
          </p:txBody>
        </p:sp>
        <p:sp>
          <p:nvSpPr>
            <p:cNvPr id="23" name="object 10">
              <a:extLst>
                <a:ext uri="{FF2B5EF4-FFF2-40B4-BE49-F238E27FC236}">
                  <a16:creationId xmlns:a16="http://schemas.microsoft.com/office/drawing/2014/main" id="{8044509F-FAD0-5EA0-42AA-94F65D05343B}"/>
                </a:ext>
              </a:extLst>
            </p:cNvPr>
            <p:cNvSpPr/>
            <p:nvPr/>
          </p:nvSpPr>
          <p:spPr>
            <a:xfrm>
              <a:off x="3762756" y="3653027"/>
              <a:ext cx="165100" cy="165100"/>
            </a:xfrm>
            <a:custGeom>
              <a:avLst/>
              <a:gdLst/>
              <a:ahLst/>
              <a:cxnLst/>
              <a:rect l="l" t="t" r="r" b="b"/>
              <a:pathLst>
                <a:path w="165100" h="165100">
                  <a:moveTo>
                    <a:pt x="82296" y="0"/>
                  </a:moveTo>
                  <a:lnTo>
                    <a:pt x="50256" y="6465"/>
                  </a:lnTo>
                  <a:lnTo>
                    <a:pt x="24098" y="24098"/>
                  </a:lnTo>
                  <a:lnTo>
                    <a:pt x="6465" y="50256"/>
                  </a:lnTo>
                  <a:lnTo>
                    <a:pt x="0" y="82296"/>
                  </a:lnTo>
                  <a:lnTo>
                    <a:pt x="6465" y="114335"/>
                  </a:lnTo>
                  <a:lnTo>
                    <a:pt x="24098" y="140493"/>
                  </a:lnTo>
                  <a:lnTo>
                    <a:pt x="50256" y="158126"/>
                  </a:lnTo>
                  <a:lnTo>
                    <a:pt x="82296" y="164592"/>
                  </a:lnTo>
                  <a:lnTo>
                    <a:pt x="114335" y="158126"/>
                  </a:lnTo>
                  <a:lnTo>
                    <a:pt x="140493" y="140493"/>
                  </a:lnTo>
                  <a:lnTo>
                    <a:pt x="158126" y="114335"/>
                  </a:lnTo>
                  <a:lnTo>
                    <a:pt x="164592" y="82296"/>
                  </a:lnTo>
                  <a:lnTo>
                    <a:pt x="158126" y="50256"/>
                  </a:lnTo>
                  <a:lnTo>
                    <a:pt x="140493" y="24098"/>
                  </a:lnTo>
                  <a:lnTo>
                    <a:pt x="114335" y="6465"/>
                  </a:lnTo>
                  <a:lnTo>
                    <a:pt x="82296" y="0"/>
                  </a:lnTo>
                  <a:close/>
                </a:path>
              </a:pathLst>
            </a:custGeom>
            <a:solidFill>
              <a:srgbClr val="00AFEF"/>
            </a:solidFill>
          </p:spPr>
          <p:txBody>
            <a:bodyPr wrap="square" lIns="0" tIns="0" rIns="0" bIns="0" rtlCol="0"/>
            <a:lstStyle/>
            <a:p>
              <a:endParaRPr/>
            </a:p>
          </p:txBody>
        </p:sp>
        <p:sp>
          <p:nvSpPr>
            <p:cNvPr id="24" name="object 11">
              <a:extLst>
                <a:ext uri="{FF2B5EF4-FFF2-40B4-BE49-F238E27FC236}">
                  <a16:creationId xmlns:a16="http://schemas.microsoft.com/office/drawing/2014/main" id="{5885785F-5BDD-54BB-635C-924D77F931CC}"/>
                </a:ext>
              </a:extLst>
            </p:cNvPr>
            <p:cNvSpPr/>
            <p:nvPr/>
          </p:nvSpPr>
          <p:spPr>
            <a:xfrm>
              <a:off x="3762756" y="3653027"/>
              <a:ext cx="165100" cy="165100"/>
            </a:xfrm>
            <a:custGeom>
              <a:avLst/>
              <a:gdLst/>
              <a:ahLst/>
              <a:cxnLst/>
              <a:rect l="l" t="t" r="r" b="b"/>
              <a:pathLst>
                <a:path w="165100" h="165100">
                  <a:moveTo>
                    <a:pt x="0" y="82296"/>
                  </a:moveTo>
                  <a:lnTo>
                    <a:pt x="6465" y="50256"/>
                  </a:lnTo>
                  <a:lnTo>
                    <a:pt x="24098" y="24098"/>
                  </a:lnTo>
                  <a:lnTo>
                    <a:pt x="50256" y="6465"/>
                  </a:lnTo>
                  <a:lnTo>
                    <a:pt x="82296" y="0"/>
                  </a:lnTo>
                  <a:lnTo>
                    <a:pt x="114335" y="6465"/>
                  </a:lnTo>
                  <a:lnTo>
                    <a:pt x="140493" y="24098"/>
                  </a:lnTo>
                  <a:lnTo>
                    <a:pt x="158126" y="50256"/>
                  </a:lnTo>
                  <a:lnTo>
                    <a:pt x="164592" y="82296"/>
                  </a:lnTo>
                  <a:lnTo>
                    <a:pt x="158126" y="114335"/>
                  </a:lnTo>
                  <a:lnTo>
                    <a:pt x="140493" y="140493"/>
                  </a:lnTo>
                  <a:lnTo>
                    <a:pt x="114335" y="158126"/>
                  </a:lnTo>
                  <a:lnTo>
                    <a:pt x="82296" y="164592"/>
                  </a:lnTo>
                  <a:lnTo>
                    <a:pt x="50256" y="158126"/>
                  </a:lnTo>
                  <a:lnTo>
                    <a:pt x="24098" y="140493"/>
                  </a:lnTo>
                  <a:lnTo>
                    <a:pt x="6465" y="114335"/>
                  </a:lnTo>
                  <a:lnTo>
                    <a:pt x="0" y="82296"/>
                  </a:lnTo>
                  <a:close/>
                </a:path>
              </a:pathLst>
            </a:custGeom>
            <a:ln w="12192">
              <a:solidFill>
                <a:srgbClr val="006FC0"/>
              </a:solidFill>
            </a:ln>
          </p:spPr>
          <p:txBody>
            <a:bodyPr wrap="square" lIns="0" tIns="0" rIns="0" bIns="0" rtlCol="0"/>
            <a:lstStyle/>
            <a:p>
              <a:endParaRPr/>
            </a:p>
          </p:txBody>
        </p:sp>
        <p:sp>
          <p:nvSpPr>
            <p:cNvPr id="25" name="object 12">
              <a:extLst>
                <a:ext uri="{FF2B5EF4-FFF2-40B4-BE49-F238E27FC236}">
                  <a16:creationId xmlns:a16="http://schemas.microsoft.com/office/drawing/2014/main" id="{784D6FE7-02F1-4E64-72E1-D668D60BE3B6}"/>
                </a:ext>
              </a:extLst>
            </p:cNvPr>
            <p:cNvSpPr/>
            <p:nvPr/>
          </p:nvSpPr>
          <p:spPr>
            <a:xfrm>
              <a:off x="3941063" y="3653027"/>
              <a:ext cx="165100" cy="165100"/>
            </a:xfrm>
            <a:custGeom>
              <a:avLst/>
              <a:gdLst/>
              <a:ahLst/>
              <a:cxnLst/>
              <a:rect l="l" t="t" r="r" b="b"/>
              <a:pathLst>
                <a:path w="165100" h="165100">
                  <a:moveTo>
                    <a:pt x="82296" y="0"/>
                  </a:moveTo>
                  <a:lnTo>
                    <a:pt x="50256" y="6465"/>
                  </a:lnTo>
                  <a:lnTo>
                    <a:pt x="24098" y="24098"/>
                  </a:lnTo>
                  <a:lnTo>
                    <a:pt x="6465" y="50256"/>
                  </a:lnTo>
                  <a:lnTo>
                    <a:pt x="0" y="82296"/>
                  </a:lnTo>
                  <a:lnTo>
                    <a:pt x="6465" y="114335"/>
                  </a:lnTo>
                  <a:lnTo>
                    <a:pt x="24098" y="140493"/>
                  </a:lnTo>
                  <a:lnTo>
                    <a:pt x="50256" y="158126"/>
                  </a:lnTo>
                  <a:lnTo>
                    <a:pt x="82296" y="164592"/>
                  </a:lnTo>
                  <a:lnTo>
                    <a:pt x="114335" y="158126"/>
                  </a:lnTo>
                  <a:lnTo>
                    <a:pt x="140493" y="140493"/>
                  </a:lnTo>
                  <a:lnTo>
                    <a:pt x="158126" y="114335"/>
                  </a:lnTo>
                  <a:lnTo>
                    <a:pt x="164591" y="82296"/>
                  </a:lnTo>
                  <a:lnTo>
                    <a:pt x="158126" y="50256"/>
                  </a:lnTo>
                  <a:lnTo>
                    <a:pt x="140493" y="24098"/>
                  </a:lnTo>
                  <a:lnTo>
                    <a:pt x="114335" y="6465"/>
                  </a:lnTo>
                  <a:lnTo>
                    <a:pt x="82296" y="0"/>
                  </a:lnTo>
                  <a:close/>
                </a:path>
              </a:pathLst>
            </a:custGeom>
            <a:solidFill>
              <a:srgbClr val="00AFEF"/>
            </a:solidFill>
          </p:spPr>
          <p:txBody>
            <a:bodyPr wrap="square" lIns="0" tIns="0" rIns="0" bIns="0" rtlCol="0"/>
            <a:lstStyle/>
            <a:p>
              <a:endParaRPr/>
            </a:p>
          </p:txBody>
        </p:sp>
        <p:sp>
          <p:nvSpPr>
            <p:cNvPr id="26" name="object 13">
              <a:extLst>
                <a:ext uri="{FF2B5EF4-FFF2-40B4-BE49-F238E27FC236}">
                  <a16:creationId xmlns:a16="http://schemas.microsoft.com/office/drawing/2014/main" id="{97C956DE-28A7-3685-26F7-65DDB99FFCA5}"/>
                </a:ext>
              </a:extLst>
            </p:cNvPr>
            <p:cNvSpPr/>
            <p:nvPr/>
          </p:nvSpPr>
          <p:spPr>
            <a:xfrm>
              <a:off x="3941063" y="3653027"/>
              <a:ext cx="165100" cy="165100"/>
            </a:xfrm>
            <a:custGeom>
              <a:avLst/>
              <a:gdLst/>
              <a:ahLst/>
              <a:cxnLst/>
              <a:rect l="l" t="t" r="r" b="b"/>
              <a:pathLst>
                <a:path w="165100" h="165100">
                  <a:moveTo>
                    <a:pt x="0" y="82296"/>
                  </a:moveTo>
                  <a:lnTo>
                    <a:pt x="6465" y="50256"/>
                  </a:lnTo>
                  <a:lnTo>
                    <a:pt x="24098" y="24098"/>
                  </a:lnTo>
                  <a:lnTo>
                    <a:pt x="50256" y="6465"/>
                  </a:lnTo>
                  <a:lnTo>
                    <a:pt x="82296" y="0"/>
                  </a:lnTo>
                  <a:lnTo>
                    <a:pt x="114335" y="6465"/>
                  </a:lnTo>
                  <a:lnTo>
                    <a:pt x="140493" y="24098"/>
                  </a:lnTo>
                  <a:lnTo>
                    <a:pt x="158126" y="50256"/>
                  </a:lnTo>
                  <a:lnTo>
                    <a:pt x="164591" y="82296"/>
                  </a:lnTo>
                  <a:lnTo>
                    <a:pt x="158126" y="114335"/>
                  </a:lnTo>
                  <a:lnTo>
                    <a:pt x="140493" y="140493"/>
                  </a:lnTo>
                  <a:lnTo>
                    <a:pt x="114335" y="158126"/>
                  </a:lnTo>
                  <a:lnTo>
                    <a:pt x="82296" y="164592"/>
                  </a:lnTo>
                  <a:lnTo>
                    <a:pt x="50256" y="158126"/>
                  </a:lnTo>
                  <a:lnTo>
                    <a:pt x="24098" y="140493"/>
                  </a:lnTo>
                  <a:lnTo>
                    <a:pt x="6465" y="114335"/>
                  </a:lnTo>
                  <a:lnTo>
                    <a:pt x="0" y="82296"/>
                  </a:lnTo>
                  <a:close/>
                </a:path>
              </a:pathLst>
            </a:custGeom>
            <a:ln w="12192">
              <a:solidFill>
                <a:srgbClr val="006FC0"/>
              </a:solidFill>
            </a:ln>
          </p:spPr>
          <p:txBody>
            <a:bodyPr wrap="square" lIns="0" tIns="0" rIns="0" bIns="0" rtlCol="0"/>
            <a:lstStyle/>
            <a:p>
              <a:endParaRPr/>
            </a:p>
          </p:txBody>
        </p:sp>
        <p:sp>
          <p:nvSpPr>
            <p:cNvPr id="27" name="object 14">
              <a:extLst>
                <a:ext uri="{FF2B5EF4-FFF2-40B4-BE49-F238E27FC236}">
                  <a16:creationId xmlns:a16="http://schemas.microsoft.com/office/drawing/2014/main" id="{D981C500-D9BD-0C9A-D80A-DC37E23F579B}"/>
                </a:ext>
              </a:extLst>
            </p:cNvPr>
            <p:cNvSpPr/>
            <p:nvPr/>
          </p:nvSpPr>
          <p:spPr>
            <a:xfrm>
              <a:off x="4090416" y="3653027"/>
              <a:ext cx="165100" cy="165100"/>
            </a:xfrm>
            <a:custGeom>
              <a:avLst/>
              <a:gdLst/>
              <a:ahLst/>
              <a:cxnLst/>
              <a:rect l="l" t="t" r="r" b="b"/>
              <a:pathLst>
                <a:path w="165100" h="165100">
                  <a:moveTo>
                    <a:pt x="82296" y="0"/>
                  </a:moveTo>
                  <a:lnTo>
                    <a:pt x="50256" y="6465"/>
                  </a:lnTo>
                  <a:lnTo>
                    <a:pt x="24098" y="24098"/>
                  </a:lnTo>
                  <a:lnTo>
                    <a:pt x="6465" y="50256"/>
                  </a:lnTo>
                  <a:lnTo>
                    <a:pt x="0" y="82296"/>
                  </a:lnTo>
                  <a:lnTo>
                    <a:pt x="6465" y="114335"/>
                  </a:lnTo>
                  <a:lnTo>
                    <a:pt x="24098" y="140493"/>
                  </a:lnTo>
                  <a:lnTo>
                    <a:pt x="50256" y="158126"/>
                  </a:lnTo>
                  <a:lnTo>
                    <a:pt x="82296" y="164592"/>
                  </a:lnTo>
                  <a:lnTo>
                    <a:pt x="114335" y="158126"/>
                  </a:lnTo>
                  <a:lnTo>
                    <a:pt x="140493" y="140493"/>
                  </a:lnTo>
                  <a:lnTo>
                    <a:pt x="158126" y="114335"/>
                  </a:lnTo>
                  <a:lnTo>
                    <a:pt x="164592" y="82296"/>
                  </a:lnTo>
                  <a:lnTo>
                    <a:pt x="158126" y="50256"/>
                  </a:lnTo>
                  <a:lnTo>
                    <a:pt x="140493" y="24098"/>
                  </a:lnTo>
                  <a:lnTo>
                    <a:pt x="114335" y="6465"/>
                  </a:lnTo>
                  <a:lnTo>
                    <a:pt x="82296" y="0"/>
                  </a:lnTo>
                  <a:close/>
                </a:path>
              </a:pathLst>
            </a:custGeom>
            <a:solidFill>
              <a:srgbClr val="00AFEF"/>
            </a:solidFill>
          </p:spPr>
          <p:txBody>
            <a:bodyPr wrap="square" lIns="0" tIns="0" rIns="0" bIns="0" rtlCol="0"/>
            <a:lstStyle/>
            <a:p>
              <a:endParaRPr/>
            </a:p>
          </p:txBody>
        </p:sp>
        <p:sp>
          <p:nvSpPr>
            <p:cNvPr id="28" name="object 15">
              <a:extLst>
                <a:ext uri="{FF2B5EF4-FFF2-40B4-BE49-F238E27FC236}">
                  <a16:creationId xmlns:a16="http://schemas.microsoft.com/office/drawing/2014/main" id="{92BA4C1F-9179-5F77-FD6F-332A55CAC268}"/>
                </a:ext>
              </a:extLst>
            </p:cNvPr>
            <p:cNvSpPr/>
            <p:nvPr/>
          </p:nvSpPr>
          <p:spPr>
            <a:xfrm>
              <a:off x="4090416" y="3653027"/>
              <a:ext cx="165100" cy="165100"/>
            </a:xfrm>
            <a:custGeom>
              <a:avLst/>
              <a:gdLst/>
              <a:ahLst/>
              <a:cxnLst/>
              <a:rect l="l" t="t" r="r" b="b"/>
              <a:pathLst>
                <a:path w="165100" h="165100">
                  <a:moveTo>
                    <a:pt x="0" y="82296"/>
                  </a:moveTo>
                  <a:lnTo>
                    <a:pt x="6465" y="50256"/>
                  </a:lnTo>
                  <a:lnTo>
                    <a:pt x="24098" y="24098"/>
                  </a:lnTo>
                  <a:lnTo>
                    <a:pt x="50256" y="6465"/>
                  </a:lnTo>
                  <a:lnTo>
                    <a:pt x="82296" y="0"/>
                  </a:lnTo>
                  <a:lnTo>
                    <a:pt x="114335" y="6465"/>
                  </a:lnTo>
                  <a:lnTo>
                    <a:pt x="140493" y="24098"/>
                  </a:lnTo>
                  <a:lnTo>
                    <a:pt x="158126" y="50256"/>
                  </a:lnTo>
                  <a:lnTo>
                    <a:pt x="164592" y="82296"/>
                  </a:lnTo>
                  <a:lnTo>
                    <a:pt x="158126" y="114335"/>
                  </a:lnTo>
                  <a:lnTo>
                    <a:pt x="140493" y="140493"/>
                  </a:lnTo>
                  <a:lnTo>
                    <a:pt x="114335" y="158126"/>
                  </a:lnTo>
                  <a:lnTo>
                    <a:pt x="82296" y="164592"/>
                  </a:lnTo>
                  <a:lnTo>
                    <a:pt x="50256" y="158126"/>
                  </a:lnTo>
                  <a:lnTo>
                    <a:pt x="24098" y="140493"/>
                  </a:lnTo>
                  <a:lnTo>
                    <a:pt x="6465" y="114335"/>
                  </a:lnTo>
                  <a:lnTo>
                    <a:pt x="0" y="82296"/>
                  </a:lnTo>
                  <a:close/>
                </a:path>
              </a:pathLst>
            </a:custGeom>
            <a:ln w="12192">
              <a:solidFill>
                <a:srgbClr val="006FC0"/>
              </a:solidFill>
            </a:ln>
          </p:spPr>
          <p:txBody>
            <a:bodyPr wrap="square" lIns="0" tIns="0" rIns="0" bIns="0" rtlCol="0"/>
            <a:lstStyle/>
            <a:p>
              <a:endParaRPr/>
            </a:p>
          </p:txBody>
        </p:sp>
        <p:sp>
          <p:nvSpPr>
            <p:cNvPr id="29" name="object 16">
              <a:extLst>
                <a:ext uri="{FF2B5EF4-FFF2-40B4-BE49-F238E27FC236}">
                  <a16:creationId xmlns:a16="http://schemas.microsoft.com/office/drawing/2014/main" id="{7AC09625-1753-8976-23FE-380213FA3D49}"/>
                </a:ext>
              </a:extLst>
            </p:cNvPr>
            <p:cNvSpPr/>
            <p:nvPr/>
          </p:nvSpPr>
          <p:spPr>
            <a:xfrm>
              <a:off x="4227576" y="3653027"/>
              <a:ext cx="165100" cy="165100"/>
            </a:xfrm>
            <a:custGeom>
              <a:avLst/>
              <a:gdLst/>
              <a:ahLst/>
              <a:cxnLst/>
              <a:rect l="l" t="t" r="r" b="b"/>
              <a:pathLst>
                <a:path w="165100" h="165100">
                  <a:moveTo>
                    <a:pt x="82296" y="0"/>
                  </a:moveTo>
                  <a:lnTo>
                    <a:pt x="50256" y="6465"/>
                  </a:lnTo>
                  <a:lnTo>
                    <a:pt x="24098" y="24098"/>
                  </a:lnTo>
                  <a:lnTo>
                    <a:pt x="6465" y="50256"/>
                  </a:lnTo>
                  <a:lnTo>
                    <a:pt x="0" y="82296"/>
                  </a:lnTo>
                  <a:lnTo>
                    <a:pt x="6465" y="114335"/>
                  </a:lnTo>
                  <a:lnTo>
                    <a:pt x="24098" y="140493"/>
                  </a:lnTo>
                  <a:lnTo>
                    <a:pt x="50256" y="158126"/>
                  </a:lnTo>
                  <a:lnTo>
                    <a:pt x="82296" y="164592"/>
                  </a:lnTo>
                  <a:lnTo>
                    <a:pt x="114335" y="158126"/>
                  </a:lnTo>
                  <a:lnTo>
                    <a:pt x="140493" y="140493"/>
                  </a:lnTo>
                  <a:lnTo>
                    <a:pt x="158126" y="114335"/>
                  </a:lnTo>
                  <a:lnTo>
                    <a:pt x="164591" y="82296"/>
                  </a:lnTo>
                  <a:lnTo>
                    <a:pt x="158126" y="50256"/>
                  </a:lnTo>
                  <a:lnTo>
                    <a:pt x="140493" y="24098"/>
                  </a:lnTo>
                  <a:lnTo>
                    <a:pt x="114335" y="6465"/>
                  </a:lnTo>
                  <a:lnTo>
                    <a:pt x="82296" y="0"/>
                  </a:lnTo>
                  <a:close/>
                </a:path>
              </a:pathLst>
            </a:custGeom>
            <a:solidFill>
              <a:srgbClr val="00AFEF"/>
            </a:solidFill>
          </p:spPr>
          <p:txBody>
            <a:bodyPr wrap="square" lIns="0" tIns="0" rIns="0" bIns="0" rtlCol="0"/>
            <a:lstStyle/>
            <a:p>
              <a:endParaRPr/>
            </a:p>
          </p:txBody>
        </p:sp>
        <p:sp>
          <p:nvSpPr>
            <p:cNvPr id="30" name="object 17">
              <a:extLst>
                <a:ext uri="{FF2B5EF4-FFF2-40B4-BE49-F238E27FC236}">
                  <a16:creationId xmlns:a16="http://schemas.microsoft.com/office/drawing/2014/main" id="{6A9B3318-BD9A-1A1B-D40B-CF7774BA2435}"/>
                </a:ext>
              </a:extLst>
            </p:cNvPr>
            <p:cNvSpPr/>
            <p:nvPr/>
          </p:nvSpPr>
          <p:spPr>
            <a:xfrm>
              <a:off x="4227576" y="3653027"/>
              <a:ext cx="165100" cy="165100"/>
            </a:xfrm>
            <a:custGeom>
              <a:avLst/>
              <a:gdLst/>
              <a:ahLst/>
              <a:cxnLst/>
              <a:rect l="l" t="t" r="r" b="b"/>
              <a:pathLst>
                <a:path w="165100" h="165100">
                  <a:moveTo>
                    <a:pt x="0" y="82296"/>
                  </a:moveTo>
                  <a:lnTo>
                    <a:pt x="6465" y="50256"/>
                  </a:lnTo>
                  <a:lnTo>
                    <a:pt x="24098" y="24098"/>
                  </a:lnTo>
                  <a:lnTo>
                    <a:pt x="50256" y="6465"/>
                  </a:lnTo>
                  <a:lnTo>
                    <a:pt x="82296" y="0"/>
                  </a:lnTo>
                  <a:lnTo>
                    <a:pt x="114335" y="6465"/>
                  </a:lnTo>
                  <a:lnTo>
                    <a:pt x="140493" y="24098"/>
                  </a:lnTo>
                  <a:lnTo>
                    <a:pt x="158126" y="50256"/>
                  </a:lnTo>
                  <a:lnTo>
                    <a:pt x="164591" y="82296"/>
                  </a:lnTo>
                  <a:lnTo>
                    <a:pt x="158126" y="114335"/>
                  </a:lnTo>
                  <a:lnTo>
                    <a:pt x="140493" y="140493"/>
                  </a:lnTo>
                  <a:lnTo>
                    <a:pt x="114335" y="158126"/>
                  </a:lnTo>
                  <a:lnTo>
                    <a:pt x="82296" y="164592"/>
                  </a:lnTo>
                  <a:lnTo>
                    <a:pt x="50256" y="158126"/>
                  </a:lnTo>
                  <a:lnTo>
                    <a:pt x="24098" y="140493"/>
                  </a:lnTo>
                  <a:lnTo>
                    <a:pt x="6465" y="114335"/>
                  </a:lnTo>
                  <a:lnTo>
                    <a:pt x="0" y="82296"/>
                  </a:lnTo>
                  <a:close/>
                </a:path>
              </a:pathLst>
            </a:custGeom>
            <a:ln w="12192">
              <a:solidFill>
                <a:srgbClr val="006FC0"/>
              </a:solidFill>
            </a:ln>
          </p:spPr>
          <p:txBody>
            <a:bodyPr wrap="square" lIns="0" tIns="0" rIns="0" bIns="0" rtlCol="0"/>
            <a:lstStyle/>
            <a:p>
              <a:endParaRPr/>
            </a:p>
          </p:txBody>
        </p:sp>
      </p:grpSp>
      <p:pic>
        <p:nvPicPr>
          <p:cNvPr id="31" name="object 20">
            <a:extLst>
              <a:ext uri="{FF2B5EF4-FFF2-40B4-BE49-F238E27FC236}">
                <a16:creationId xmlns:a16="http://schemas.microsoft.com/office/drawing/2014/main" id="{68D8C30E-6FBA-068B-95A6-4400703DA859}"/>
              </a:ext>
            </a:extLst>
          </p:cNvPr>
          <p:cNvPicPr/>
          <p:nvPr/>
        </p:nvPicPr>
        <p:blipFill>
          <a:blip r:embed="rId3" cstate="print"/>
          <a:stretch>
            <a:fillRect/>
          </a:stretch>
        </p:blipFill>
        <p:spPr>
          <a:xfrm>
            <a:off x="7203557" y="3466178"/>
            <a:ext cx="176784" cy="176783"/>
          </a:xfrm>
          <a:prstGeom prst="rect">
            <a:avLst/>
          </a:prstGeom>
        </p:spPr>
      </p:pic>
      <p:sp>
        <p:nvSpPr>
          <p:cNvPr id="32" name="object 21">
            <a:extLst>
              <a:ext uri="{FF2B5EF4-FFF2-40B4-BE49-F238E27FC236}">
                <a16:creationId xmlns:a16="http://schemas.microsoft.com/office/drawing/2014/main" id="{DEA23F59-44C3-75CB-E794-D83D8A8DD1AF}"/>
              </a:ext>
            </a:extLst>
          </p:cNvPr>
          <p:cNvSpPr txBox="1"/>
          <p:nvPr/>
        </p:nvSpPr>
        <p:spPr>
          <a:xfrm>
            <a:off x="2813320" y="5062771"/>
            <a:ext cx="7182484" cy="636270"/>
          </a:xfrm>
          <a:prstGeom prst="rect">
            <a:avLst/>
          </a:prstGeom>
        </p:spPr>
        <p:txBody>
          <a:bodyPr vert="horz" wrap="square" lIns="0" tIns="13335" rIns="0" bIns="0" rtlCol="0">
            <a:spAutoFit/>
          </a:bodyPr>
          <a:lstStyle/>
          <a:p>
            <a:pPr algn="ctr">
              <a:lnSpc>
                <a:spcPct val="100000"/>
              </a:lnSpc>
              <a:spcBef>
                <a:spcPts val="105"/>
              </a:spcBef>
            </a:pPr>
            <a:r>
              <a:rPr sz="2000">
                <a:solidFill>
                  <a:srgbClr val="0000CC"/>
                </a:solidFill>
                <a:latin typeface="Calibri"/>
                <a:cs typeface="Calibri"/>
              </a:rPr>
              <a:t>It</a:t>
            </a:r>
            <a:r>
              <a:rPr sz="2000" spc="-15">
                <a:solidFill>
                  <a:srgbClr val="0000CC"/>
                </a:solidFill>
                <a:latin typeface="Calibri"/>
                <a:cs typeface="Calibri"/>
              </a:rPr>
              <a:t> </a:t>
            </a:r>
            <a:r>
              <a:rPr sz="2000">
                <a:solidFill>
                  <a:srgbClr val="0000CC"/>
                </a:solidFill>
                <a:latin typeface="Calibri"/>
                <a:cs typeface="Calibri"/>
              </a:rPr>
              <a:t>is</a:t>
            </a:r>
            <a:r>
              <a:rPr sz="2000" spc="5">
                <a:solidFill>
                  <a:srgbClr val="0000CC"/>
                </a:solidFill>
                <a:latin typeface="Calibri"/>
                <a:cs typeface="Calibri"/>
              </a:rPr>
              <a:t> </a:t>
            </a:r>
            <a:r>
              <a:rPr sz="2000">
                <a:solidFill>
                  <a:srgbClr val="0000CC"/>
                </a:solidFill>
                <a:latin typeface="Calibri"/>
                <a:cs typeface="Calibri"/>
              </a:rPr>
              <a:t>clear</a:t>
            </a:r>
            <a:r>
              <a:rPr sz="2000" spc="10">
                <a:solidFill>
                  <a:srgbClr val="0000CC"/>
                </a:solidFill>
                <a:latin typeface="Calibri"/>
                <a:cs typeface="Calibri"/>
              </a:rPr>
              <a:t> </a:t>
            </a:r>
            <a:r>
              <a:rPr sz="2000" spc="-5">
                <a:solidFill>
                  <a:srgbClr val="0000CC"/>
                </a:solidFill>
                <a:latin typeface="Calibri"/>
                <a:cs typeface="Calibri"/>
              </a:rPr>
              <a:t>that</a:t>
            </a:r>
            <a:r>
              <a:rPr sz="2000" spc="5">
                <a:solidFill>
                  <a:srgbClr val="0000CC"/>
                </a:solidFill>
                <a:latin typeface="Calibri"/>
                <a:cs typeface="Calibri"/>
              </a:rPr>
              <a:t> </a:t>
            </a:r>
            <a:r>
              <a:rPr sz="2000">
                <a:solidFill>
                  <a:srgbClr val="0000CC"/>
                </a:solidFill>
                <a:latin typeface="Calibri"/>
                <a:cs typeface="Calibri"/>
              </a:rPr>
              <a:t>one</a:t>
            </a:r>
            <a:r>
              <a:rPr sz="2000" spc="-5">
                <a:solidFill>
                  <a:srgbClr val="0000CC"/>
                </a:solidFill>
                <a:latin typeface="Calibri"/>
                <a:cs typeface="Calibri"/>
              </a:rPr>
              <a:t> </a:t>
            </a:r>
            <a:r>
              <a:rPr sz="2000" spc="-10">
                <a:solidFill>
                  <a:srgbClr val="0000CC"/>
                </a:solidFill>
                <a:latin typeface="Calibri"/>
                <a:cs typeface="Calibri"/>
              </a:rPr>
              <a:t>data</a:t>
            </a:r>
            <a:r>
              <a:rPr sz="2000" spc="5">
                <a:solidFill>
                  <a:srgbClr val="0000CC"/>
                </a:solidFill>
                <a:latin typeface="Calibri"/>
                <a:cs typeface="Calibri"/>
              </a:rPr>
              <a:t> </a:t>
            </a:r>
            <a:r>
              <a:rPr sz="2000" spc="-5">
                <a:solidFill>
                  <a:srgbClr val="0000CC"/>
                </a:solidFill>
                <a:latin typeface="Calibri"/>
                <a:cs typeface="Calibri"/>
              </a:rPr>
              <a:t>point </a:t>
            </a:r>
            <a:r>
              <a:rPr sz="2000">
                <a:solidFill>
                  <a:srgbClr val="0000CC"/>
                </a:solidFill>
                <a:latin typeface="Calibri"/>
                <a:cs typeface="Calibri"/>
              </a:rPr>
              <a:t>is</a:t>
            </a:r>
            <a:r>
              <a:rPr sz="2000" spc="5">
                <a:solidFill>
                  <a:srgbClr val="0000CC"/>
                </a:solidFill>
                <a:latin typeface="Calibri"/>
                <a:cs typeface="Calibri"/>
              </a:rPr>
              <a:t> </a:t>
            </a:r>
            <a:r>
              <a:rPr sz="2000" spc="-15">
                <a:solidFill>
                  <a:srgbClr val="0000CC"/>
                </a:solidFill>
                <a:latin typeface="Calibri"/>
                <a:cs typeface="Calibri"/>
              </a:rPr>
              <a:t>far</a:t>
            </a:r>
            <a:r>
              <a:rPr sz="2000" spc="5">
                <a:solidFill>
                  <a:srgbClr val="0000CC"/>
                </a:solidFill>
                <a:latin typeface="Calibri"/>
                <a:cs typeface="Calibri"/>
              </a:rPr>
              <a:t> </a:t>
            </a:r>
            <a:r>
              <a:rPr sz="2000" spc="-15">
                <a:solidFill>
                  <a:srgbClr val="0000CC"/>
                </a:solidFill>
                <a:latin typeface="Calibri"/>
                <a:cs typeface="Calibri"/>
              </a:rPr>
              <a:t>distant</a:t>
            </a:r>
            <a:r>
              <a:rPr sz="2000" spc="15">
                <a:solidFill>
                  <a:srgbClr val="0000CC"/>
                </a:solidFill>
                <a:latin typeface="Calibri"/>
                <a:cs typeface="Calibri"/>
              </a:rPr>
              <a:t> </a:t>
            </a:r>
            <a:r>
              <a:rPr sz="2000" spc="-15">
                <a:solidFill>
                  <a:srgbClr val="0000CC"/>
                </a:solidFill>
                <a:latin typeface="Calibri"/>
                <a:cs typeface="Calibri"/>
              </a:rPr>
              <a:t>from</a:t>
            </a:r>
            <a:r>
              <a:rPr sz="2000">
                <a:solidFill>
                  <a:srgbClr val="0000CC"/>
                </a:solidFill>
                <a:latin typeface="Calibri"/>
                <a:cs typeface="Calibri"/>
              </a:rPr>
              <a:t> the </a:t>
            </a:r>
            <a:r>
              <a:rPr sz="2000" spc="-15">
                <a:solidFill>
                  <a:srgbClr val="0000CC"/>
                </a:solidFill>
                <a:latin typeface="Calibri"/>
                <a:cs typeface="Calibri"/>
              </a:rPr>
              <a:t>rest</a:t>
            </a:r>
            <a:r>
              <a:rPr sz="2000" spc="15">
                <a:solidFill>
                  <a:srgbClr val="0000CC"/>
                </a:solidFill>
                <a:latin typeface="Calibri"/>
                <a:cs typeface="Calibri"/>
              </a:rPr>
              <a:t> </a:t>
            </a:r>
            <a:r>
              <a:rPr sz="2000">
                <a:solidFill>
                  <a:srgbClr val="0000CC"/>
                </a:solidFill>
                <a:latin typeface="Calibri"/>
                <a:cs typeface="Calibri"/>
              </a:rPr>
              <a:t>of</a:t>
            </a:r>
            <a:r>
              <a:rPr sz="2000" spc="-5">
                <a:solidFill>
                  <a:srgbClr val="0000CC"/>
                </a:solidFill>
                <a:latin typeface="Calibri"/>
                <a:cs typeface="Calibri"/>
              </a:rPr>
              <a:t> </a:t>
            </a:r>
            <a:r>
              <a:rPr sz="2000">
                <a:solidFill>
                  <a:srgbClr val="0000CC"/>
                </a:solidFill>
                <a:latin typeface="Calibri"/>
                <a:cs typeface="Calibri"/>
              </a:rPr>
              <a:t>the</a:t>
            </a:r>
            <a:r>
              <a:rPr sz="2000" spc="-15">
                <a:solidFill>
                  <a:srgbClr val="0000CC"/>
                </a:solidFill>
                <a:latin typeface="Calibri"/>
                <a:cs typeface="Calibri"/>
              </a:rPr>
              <a:t> </a:t>
            </a:r>
            <a:r>
              <a:rPr sz="2000" spc="-10">
                <a:solidFill>
                  <a:srgbClr val="0000CC"/>
                </a:solidFill>
                <a:latin typeface="Calibri"/>
                <a:cs typeface="Calibri"/>
              </a:rPr>
              <a:t>values.</a:t>
            </a:r>
            <a:endParaRPr sz="2000">
              <a:latin typeface="Calibri"/>
              <a:cs typeface="Calibri"/>
            </a:endParaRPr>
          </a:p>
          <a:p>
            <a:pPr marL="635" algn="ctr">
              <a:lnSpc>
                <a:spcPct val="100000"/>
              </a:lnSpc>
              <a:spcBef>
                <a:spcPts val="5"/>
              </a:spcBef>
            </a:pPr>
            <a:r>
              <a:rPr sz="2000" b="1">
                <a:solidFill>
                  <a:srgbClr val="0000CC"/>
                </a:solidFill>
                <a:latin typeface="Calibri"/>
                <a:cs typeface="Calibri"/>
              </a:rPr>
              <a:t>This</a:t>
            </a:r>
            <a:r>
              <a:rPr sz="2000" b="1" spc="-20">
                <a:solidFill>
                  <a:srgbClr val="0000CC"/>
                </a:solidFill>
                <a:latin typeface="Calibri"/>
                <a:cs typeface="Calibri"/>
              </a:rPr>
              <a:t> </a:t>
            </a:r>
            <a:r>
              <a:rPr sz="2000" b="1" spc="-5">
                <a:solidFill>
                  <a:srgbClr val="0000CC"/>
                </a:solidFill>
                <a:latin typeface="Calibri"/>
                <a:cs typeface="Calibri"/>
              </a:rPr>
              <a:t>point</a:t>
            </a:r>
            <a:r>
              <a:rPr sz="2000" b="1" spc="-35">
                <a:solidFill>
                  <a:srgbClr val="0000CC"/>
                </a:solidFill>
                <a:latin typeface="Calibri"/>
                <a:cs typeface="Calibri"/>
              </a:rPr>
              <a:t> </a:t>
            </a:r>
            <a:r>
              <a:rPr sz="2000" b="1">
                <a:solidFill>
                  <a:srgbClr val="0000CC"/>
                </a:solidFill>
                <a:latin typeface="Calibri"/>
                <a:cs typeface="Calibri"/>
              </a:rPr>
              <a:t>is</a:t>
            </a:r>
            <a:r>
              <a:rPr sz="2000" b="1" spc="-5">
                <a:solidFill>
                  <a:srgbClr val="0000CC"/>
                </a:solidFill>
                <a:latin typeface="Calibri"/>
                <a:cs typeface="Calibri"/>
              </a:rPr>
              <a:t> </a:t>
            </a:r>
            <a:r>
              <a:rPr sz="2000" b="1" spc="-10">
                <a:solidFill>
                  <a:srgbClr val="0000CC"/>
                </a:solidFill>
                <a:latin typeface="Calibri"/>
                <a:cs typeface="Calibri"/>
              </a:rPr>
              <a:t>an</a:t>
            </a:r>
            <a:r>
              <a:rPr sz="2000" b="1" spc="-5">
                <a:solidFill>
                  <a:srgbClr val="0000CC"/>
                </a:solidFill>
                <a:latin typeface="Calibri"/>
                <a:cs typeface="Calibri"/>
              </a:rPr>
              <a:t> ‘outlier’</a:t>
            </a:r>
            <a:endParaRPr sz="2000">
              <a:latin typeface="Calibri"/>
              <a:cs typeface="Calibri"/>
            </a:endParaRPr>
          </a:p>
        </p:txBody>
      </p:sp>
      <p:pic>
        <p:nvPicPr>
          <p:cNvPr id="2" name="Picture 1">
            <a:extLst>
              <a:ext uri="{FF2B5EF4-FFF2-40B4-BE49-F238E27FC236}">
                <a16:creationId xmlns:a16="http://schemas.microsoft.com/office/drawing/2014/main" id="{AA06EAE6-4D38-5260-B644-25F01D13CE7F}"/>
              </a:ext>
            </a:extLst>
          </p:cNvPr>
          <p:cNvPicPr>
            <a:picLocks noChangeAspect="1"/>
          </p:cNvPicPr>
          <p:nvPr/>
        </p:nvPicPr>
        <p:blipFill>
          <a:blip r:embed="rId4"/>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16993653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0816" y="1093074"/>
            <a:ext cx="6349673" cy="576226"/>
          </a:xfrm>
          <a:prstGeom prst="rect">
            <a:avLst/>
          </a:prstGeom>
        </p:spPr>
        <p:txBody>
          <a:bodyPr vert="horz" wrap="square" lIns="0" tIns="22013" rIns="0" bIns="0" rtlCol="0" anchor="ctr">
            <a:spAutoFit/>
          </a:bodyPr>
          <a:lstStyle/>
          <a:p>
            <a:pPr marL="16933" algn="ctr">
              <a:lnSpc>
                <a:spcPct val="100000"/>
              </a:lnSpc>
              <a:spcBef>
                <a:spcPts val="173"/>
              </a:spcBef>
            </a:pPr>
            <a:r>
              <a:rPr lang="en-MY" sz="3600" spc="327">
                <a:latin typeface="Abadi" panose="020B0604020104020204" pitchFamily="34" charset="0"/>
              </a:rPr>
              <a:t>Inferential statistics</a:t>
            </a:r>
            <a:endParaRPr sz="3600">
              <a:latin typeface="Abadi" panose="020B0604020104020204" pitchFamily="34" charset="0"/>
              <a:cs typeface="Times New Roman"/>
            </a:endParaRPr>
          </a:p>
        </p:txBody>
      </p:sp>
      <p:sp>
        <p:nvSpPr>
          <p:cNvPr id="4" name="object 4"/>
          <p:cNvSpPr txBox="1"/>
          <p:nvPr/>
        </p:nvSpPr>
        <p:spPr>
          <a:xfrm>
            <a:off x="919160" y="2018005"/>
            <a:ext cx="9882293" cy="4808262"/>
          </a:xfrm>
          <a:prstGeom prst="rect">
            <a:avLst/>
          </a:prstGeom>
        </p:spPr>
        <p:txBody>
          <a:bodyPr vert="horz" wrap="square" lIns="0" tIns="16087" rIns="0" bIns="0" rtlCol="0">
            <a:spAutoFit/>
          </a:bodyPr>
          <a:lstStyle/>
          <a:p>
            <a:pPr marL="16933" marR="6773" algn="just">
              <a:lnSpc>
                <a:spcPct val="117800"/>
              </a:lnSpc>
              <a:spcBef>
                <a:spcPts val="127"/>
              </a:spcBef>
            </a:pPr>
            <a:r>
              <a:rPr lang="en-US" sz="2400">
                <a:cs typeface="Tahoma"/>
              </a:rPr>
              <a:t>Inferential statistics are used to draw conclusion about a population by observing a sample. This branch of statistics is concerned with using analytical tools to draw inferences about a population using a representative dataset. This is different from descriptive statistics in the sense that it draws conclusion from a dataset while descriptive stat summarizes the dataset. </a:t>
            </a:r>
          </a:p>
          <a:p>
            <a:pPr marL="16933" marR="6773" algn="just">
              <a:lnSpc>
                <a:spcPct val="117800"/>
              </a:lnSpc>
              <a:spcBef>
                <a:spcPts val="127"/>
              </a:spcBef>
            </a:pPr>
            <a:endParaRPr lang="en-US" sz="2400">
              <a:cs typeface="Tahoma"/>
            </a:endParaRPr>
          </a:p>
          <a:p>
            <a:pPr marL="16933" marR="6773" algn="just">
              <a:lnSpc>
                <a:spcPct val="117800"/>
              </a:lnSpc>
              <a:spcBef>
                <a:spcPts val="127"/>
              </a:spcBef>
            </a:pPr>
            <a:r>
              <a:rPr lang="en-US" sz="2400">
                <a:cs typeface="Tahoma"/>
              </a:rPr>
              <a:t>There are two main types of inferential statistics - hypothesis testing and regression analysis. The samples chosen in inferential statistics need to be representative of the entire population. This is important for us as data scientist to ensure that the data we are drawing conclusions from is actually a reflection of the population. Accuracy of inference depends on this.</a:t>
            </a:r>
          </a:p>
        </p:txBody>
      </p:sp>
      <p:pic>
        <p:nvPicPr>
          <p:cNvPr id="3" name="Picture 2">
            <a:extLst>
              <a:ext uri="{FF2B5EF4-FFF2-40B4-BE49-F238E27FC236}">
                <a16:creationId xmlns:a16="http://schemas.microsoft.com/office/drawing/2014/main" id="{2BA71A0C-AB86-C937-97CA-178DDC6B27F1}"/>
              </a:ext>
            </a:extLst>
          </p:cNvPr>
          <p:cNvPicPr>
            <a:picLocks noChangeAspect="1"/>
          </p:cNvPicPr>
          <p:nvPr/>
        </p:nvPicPr>
        <p:blipFill>
          <a:blip r:embed="rId2"/>
          <a:stretch>
            <a:fillRect/>
          </a:stretch>
        </p:blipFill>
        <p:spPr>
          <a:xfrm>
            <a:off x="10319658" y="617704"/>
            <a:ext cx="1125764" cy="41258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0213" y="542444"/>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inferential statistics</a:t>
            </a:r>
            <a:endParaRPr lang="en-US" sz="3400" kern="1200">
              <a:solidFill>
                <a:schemeClr val="tx1"/>
              </a:solidFill>
              <a:latin typeface="Abadi" panose="020B0604020104020204" pitchFamily="34" charset="0"/>
            </a:endParaRPr>
          </a:p>
        </p:txBody>
      </p:sp>
      <p:pic>
        <p:nvPicPr>
          <p:cNvPr id="4" name="Picture 3">
            <a:extLst>
              <a:ext uri="{FF2B5EF4-FFF2-40B4-BE49-F238E27FC236}">
                <a16:creationId xmlns:a16="http://schemas.microsoft.com/office/drawing/2014/main" id="{50FC609B-06FD-BBD1-D9A9-028DE1DCF3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0703" y="1224036"/>
            <a:ext cx="6276996" cy="5158324"/>
          </a:xfrm>
          <a:prstGeom prst="rect">
            <a:avLst/>
          </a:prstGeom>
        </p:spPr>
      </p:pic>
      <p:pic>
        <p:nvPicPr>
          <p:cNvPr id="3" name="Picture 2">
            <a:extLst>
              <a:ext uri="{FF2B5EF4-FFF2-40B4-BE49-F238E27FC236}">
                <a16:creationId xmlns:a16="http://schemas.microsoft.com/office/drawing/2014/main" id="{E58E7C99-674D-2874-8E2B-4B3737778A49}"/>
              </a:ext>
            </a:extLst>
          </p:cNvPr>
          <p:cNvPicPr>
            <a:picLocks noChangeAspect="1"/>
          </p:cNvPicPr>
          <p:nvPr/>
        </p:nvPicPr>
        <p:blipFill>
          <a:blip r:embed="rId4"/>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21529404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0213" y="542444"/>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inferential statistics</a:t>
            </a:r>
            <a:endParaRPr lang="en-US" sz="3400" kern="1200">
              <a:solidFill>
                <a:schemeClr val="tx1"/>
              </a:solidFill>
              <a:latin typeface="Abadi" panose="020B0604020104020204" pitchFamily="34" charset="0"/>
            </a:endParaRPr>
          </a:p>
        </p:txBody>
      </p:sp>
      <p:sp>
        <p:nvSpPr>
          <p:cNvPr id="3" name="TextBox 2">
            <a:extLst>
              <a:ext uri="{FF2B5EF4-FFF2-40B4-BE49-F238E27FC236}">
                <a16:creationId xmlns:a16="http://schemas.microsoft.com/office/drawing/2014/main" id="{0FCB5309-DCE8-11CF-035E-BFD5453DA1D0}"/>
              </a:ext>
            </a:extLst>
          </p:cNvPr>
          <p:cNvSpPr txBox="1"/>
          <p:nvPr/>
        </p:nvSpPr>
        <p:spPr>
          <a:xfrm>
            <a:off x="390213" y="1783121"/>
            <a:ext cx="10995763" cy="3501261"/>
          </a:xfrm>
          <a:prstGeom prst="rect">
            <a:avLst/>
          </a:prstGeom>
        </p:spPr>
        <p:txBody>
          <a:bodyPr vert="horz" lIns="91440" tIns="45720" rIns="91440" bIns="45720" rtlCol="0">
            <a:normAutofit lnSpcReduction="10000"/>
          </a:bodyPr>
          <a:lstStyle/>
          <a:p>
            <a:pPr marL="12700" marR="5080" algn="just">
              <a:lnSpc>
                <a:spcPct val="100000"/>
              </a:lnSpc>
              <a:spcBef>
                <a:spcPts val="100"/>
              </a:spcBef>
              <a:buClr>
                <a:srgbClr val="16165D"/>
              </a:buClr>
              <a:buSzPct val="68750"/>
              <a:tabLst>
                <a:tab pos="354965" algn="l"/>
                <a:tab pos="355600" algn="l"/>
              </a:tabLst>
            </a:pPr>
            <a:r>
              <a:rPr lang="en-US" sz="2400" b="1"/>
              <a:t>Hypothesis testing</a:t>
            </a:r>
          </a:p>
          <a:p>
            <a:pPr marL="12700" marR="5080" algn="just">
              <a:lnSpc>
                <a:spcPct val="100000"/>
              </a:lnSpc>
              <a:spcBef>
                <a:spcPts val="100"/>
              </a:spcBef>
              <a:buClr>
                <a:srgbClr val="16165D"/>
              </a:buClr>
              <a:buSzPct val="68750"/>
              <a:tabLst>
                <a:tab pos="354965" algn="l"/>
                <a:tab pos="355600" algn="l"/>
              </a:tabLst>
            </a:pPr>
            <a:r>
              <a:rPr lang="en-US" sz="2400"/>
              <a:t>Is a type of inferential statistics that is used to test assumptions and draw conclusions about the population from the available sample data.</a:t>
            </a:r>
          </a:p>
          <a:p>
            <a:pPr marL="12700" marR="5080" algn="just">
              <a:lnSpc>
                <a:spcPct val="100000"/>
              </a:lnSpc>
              <a:spcBef>
                <a:spcPts val="100"/>
              </a:spcBef>
              <a:buClr>
                <a:srgbClr val="16165D"/>
              </a:buClr>
              <a:buSzPct val="68750"/>
              <a:tabLst>
                <a:tab pos="354965" algn="l"/>
                <a:tab pos="355600" algn="l"/>
              </a:tabLst>
            </a:pPr>
            <a:endParaRPr lang="en-US" sz="2400"/>
          </a:p>
          <a:p>
            <a:pPr marL="12700" marR="5080" algn="just">
              <a:lnSpc>
                <a:spcPct val="100000"/>
              </a:lnSpc>
              <a:spcBef>
                <a:spcPts val="100"/>
              </a:spcBef>
              <a:buClr>
                <a:srgbClr val="16165D"/>
              </a:buClr>
              <a:buSzPct val="68750"/>
              <a:tabLst>
                <a:tab pos="354965" algn="l"/>
                <a:tab pos="355600" algn="l"/>
              </a:tabLst>
            </a:pPr>
            <a:r>
              <a:rPr lang="en-US" sz="2400"/>
              <a:t>It involves setting up a null hypothesis and an alternative hypothesis followed by conducting a statistical test of significance. A conclusion is drawn based on the value of the test statistic.</a:t>
            </a:r>
          </a:p>
          <a:p>
            <a:pPr marL="12700" marR="5080" algn="just">
              <a:lnSpc>
                <a:spcPct val="100000"/>
              </a:lnSpc>
              <a:spcBef>
                <a:spcPts val="100"/>
              </a:spcBef>
              <a:buClr>
                <a:srgbClr val="16165D"/>
              </a:buClr>
              <a:buSzPct val="68750"/>
              <a:tabLst>
                <a:tab pos="354965" algn="l"/>
                <a:tab pos="355600" algn="l"/>
              </a:tabLst>
            </a:pPr>
            <a:endParaRPr lang="en-US" sz="2400"/>
          </a:p>
          <a:p>
            <a:pPr marL="12700" marR="5080" algn="just">
              <a:lnSpc>
                <a:spcPct val="100000"/>
              </a:lnSpc>
              <a:spcBef>
                <a:spcPts val="100"/>
              </a:spcBef>
              <a:buClr>
                <a:srgbClr val="16165D"/>
              </a:buClr>
              <a:buSzPct val="68750"/>
              <a:tabLst>
                <a:tab pos="354965" algn="l"/>
                <a:tab pos="355600" algn="l"/>
              </a:tabLst>
            </a:pPr>
            <a:r>
              <a:rPr lang="en-US" sz="2400"/>
              <a:t>Hypothesis tests are as given in the previous slides. The test to be used depends on the data type. We’ll discuss data types in subsequent class</a:t>
            </a:r>
          </a:p>
          <a:p>
            <a:pPr marL="12700" marR="5080" algn="just">
              <a:lnSpc>
                <a:spcPct val="100000"/>
              </a:lnSpc>
              <a:spcBef>
                <a:spcPts val="100"/>
              </a:spcBef>
              <a:buClr>
                <a:srgbClr val="16165D"/>
              </a:buClr>
              <a:buSzPct val="68750"/>
              <a:tabLst>
                <a:tab pos="354965" algn="l"/>
                <a:tab pos="355600" algn="l"/>
              </a:tabLst>
            </a:pPr>
            <a:endParaRPr lang="en-US" sz="2400"/>
          </a:p>
        </p:txBody>
      </p:sp>
      <p:pic>
        <p:nvPicPr>
          <p:cNvPr id="4" name="Picture 3">
            <a:extLst>
              <a:ext uri="{FF2B5EF4-FFF2-40B4-BE49-F238E27FC236}">
                <a16:creationId xmlns:a16="http://schemas.microsoft.com/office/drawing/2014/main" id="{15B04E6C-6C55-2697-75AD-E45067CBD230}"/>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40369649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0213" y="542444"/>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inferential statistics</a:t>
            </a:r>
            <a:endParaRPr lang="en-US" sz="3400" kern="1200">
              <a:solidFill>
                <a:schemeClr val="tx1"/>
              </a:solidFill>
              <a:latin typeface="Abadi" panose="020B0604020104020204" pitchFamily="34" charset="0"/>
            </a:endParaRPr>
          </a:p>
        </p:txBody>
      </p:sp>
      <p:sp>
        <p:nvSpPr>
          <p:cNvPr id="3" name="TextBox 2">
            <a:extLst>
              <a:ext uri="{FF2B5EF4-FFF2-40B4-BE49-F238E27FC236}">
                <a16:creationId xmlns:a16="http://schemas.microsoft.com/office/drawing/2014/main" id="{0FCB5309-DCE8-11CF-035E-BFD5453DA1D0}"/>
              </a:ext>
            </a:extLst>
          </p:cNvPr>
          <p:cNvSpPr txBox="1"/>
          <p:nvPr/>
        </p:nvSpPr>
        <p:spPr>
          <a:xfrm>
            <a:off x="390213" y="1783121"/>
            <a:ext cx="10995763" cy="3501261"/>
          </a:xfrm>
          <a:prstGeom prst="rect">
            <a:avLst/>
          </a:prstGeom>
        </p:spPr>
        <p:txBody>
          <a:bodyPr vert="horz" lIns="91440" tIns="45720" rIns="91440" bIns="45720" rtlCol="0" anchor="t">
            <a:normAutofit/>
          </a:bodyPr>
          <a:lstStyle/>
          <a:p>
            <a:pPr marL="12700" marR="5080" algn="just">
              <a:lnSpc>
                <a:spcPct val="100000"/>
              </a:lnSpc>
              <a:spcBef>
                <a:spcPts val="100"/>
              </a:spcBef>
              <a:buClr>
                <a:srgbClr val="16165D"/>
              </a:buClr>
              <a:buSzPct val="68750"/>
              <a:tabLst>
                <a:tab pos="354965" algn="l"/>
                <a:tab pos="355600" algn="l"/>
              </a:tabLst>
            </a:pPr>
            <a:r>
              <a:rPr lang="en-US" sz="2400" b="1"/>
              <a:t>Regression Analysis</a:t>
            </a:r>
          </a:p>
          <a:p>
            <a:pPr marL="12700" marR="5080" algn="just">
              <a:lnSpc>
                <a:spcPct val="100000"/>
              </a:lnSpc>
              <a:spcBef>
                <a:spcPts val="100"/>
              </a:spcBef>
              <a:buClr>
                <a:srgbClr val="16165D"/>
              </a:buClr>
              <a:buSzPct val="68750"/>
              <a:tabLst>
                <a:tab pos="354965" algn="l"/>
                <a:tab pos="355600" algn="l"/>
              </a:tabLst>
            </a:pPr>
            <a:r>
              <a:rPr lang="en-US" sz="2400"/>
              <a:t>Regression analysis is used to quantify how one variable will change with respect to another variable. There are many types of regressions available such as </a:t>
            </a:r>
            <a:r>
              <a:rPr lang="en-US" sz="2400">
                <a:solidFill>
                  <a:srgbClr val="FF0000"/>
                </a:solidFill>
              </a:rPr>
              <a:t>simple linear, multiple linear, nominal, logistic, and ordinal regression.</a:t>
            </a:r>
            <a:endParaRPr lang="en-US" sz="2400">
              <a:solidFill>
                <a:srgbClr val="FF0000"/>
              </a:solidFill>
              <a:ea typeface="Calibri"/>
              <a:cs typeface="Calibri"/>
            </a:endParaRPr>
          </a:p>
        </p:txBody>
      </p:sp>
      <p:pic>
        <p:nvPicPr>
          <p:cNvPr id="4" name="Picture 3">
            <a:extLst>
              <a:ext uri="{FF2B5EF4-FFF2-40B4-BE49-F238E27FC236}">
                <a16:creationId xmlns:a16="http://schemas.microsoft.com/office/drawing/2014/main" id="{171E1D22-6FB8-F7BC-9084-D9E0F5F6ED0C}"/>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11104875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0213" y="542444"/>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inferential statistics</a:t>
            </a:r>
            <a:endParaRPr lang="en-US" sz="3400" kern="1200">
              <a:solidFill>
                <a:schemeClr val="tx1"/>
              </a:solidFill>
              <a:latin typeface="Abadi" panose="020B0604020104020204" pitchFamily="34" charset="0"/>
            </a:endParaRPr>
          </a:p>
        </p:txBody>
      </p:sp>
      <p:pic>
        <p:nvPicPr>
          <p:cNvPr id="5" name="Picture 4">
            <a:extLst>
              <a:ext uri="{FF2B5EF4-FFF2-40B4-BE49-F238E27FC236}">
                <a16:creationId xmlns:a16="http://schemas.microsoft.com/office/drawing/2014/main" id="{C5E255AF-5EEC-A6D6-9759-1B05D36DA6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6331" y="1366651"/>
            <a:ext cx="6510078" cy="5118321"/>
          </a:xfrm>
          <a:prstGeom prst="rect">
            <a:avLst/>
          </a:prstGeom>
        </p:spPr>
      </p:pic>
      <p:pic>
        <p:nvPicPr>
          <p:cNvPr id="3" name="Picture 2">
            <a:extLst>
              <a:ext uri="{FF2B5EF4-FFF2-40B4-BE49-F238E27FC236}">
                <a16:creationId xmlns:a16="http://schemas.microsoft.com/office/drawing/2014/main" id="{A62DDB07-3547-69FD-82D5-AFB164889888}"/>
              </a:ext>
            </a:extLst>
          </p:cNvPr>
          <p:cNvPicPr>
            <a:picLocks noChangeAspect="1"/>
          </p:cNvPicPr>
          <p:nvPr/>
        </p:nvPicPr>
        <p:blipFill>
          <a:blip r:embed="rId4"/>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32604336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9566" y="2880994"/>
            <a:ext cx="14020800" cy="695062"/>
          </a:xfrm>
          <a:prstGeom prst="rect">
            <a:avLst/>
          </a:prstGeom>
        </p:spPr>
        <p:txBody>
          <a:bodyPr vert="horz" wrap="square" lIns="0" tIns="17780" rIns="0" bIns="0" rtlCol="0" anchor="ctr">
            <a:spAutoFit/>
          </a:bodyPr>
          <a:lstStyle/>
          <a:p>
            <a:pPr marL="27939" algn="ctr">
              <a:lnSpc>
                <a:spcPct val="100000"/>
              </a:lnSpc>
              <a:spcBef>
                <a:spcPts val="140"/>
              </a:spcBef>
            </a:pPr>
            <a:r>
              <a:rPr lang="en-MY" spc="-240">
                <a:latin typeface="Abadi" panose="020B0604020104020204" pitchFamily="34" charset="0"/>
              </a:rPr>
              <a:t>Data and data types</a:t>
            </a:r>
            <a:endParaRPr spc="200">
              <a:latin typeface="Abadi" panose="020B0604020104020204" pitchFamily="34" charset="0"/>
            </a:endParaRPr>
          </a:p>
        </p:txBody>
      </p:sp>
      <p:pic>
        <p:nvPicPr>
          <p:cNvPr id="3" name="Picture 2">
            <a:extLst>
              <a:ext uri="{FF2B5EF4-FFF2-40B4-BE49-F238E27FC236}">
                <a16:creationId xmlns:a16="http://schemas.microsoft.com/office/drawing/2014/main" id="{3EAE7E2A-713F-A86F-47D6-55096F3989B0}"/>
              </a:ext>
            </a:extLst>
          </p:cNvPr>
          <p:cNvPicPr>
            <a:picLocks noChangeAspect="1"/>
          </p:cNvPicPr>
          <p:nvPr/>
        </p:nvPicPr>
        <p:blipFill>
          <a:blip r:embed="rId2"/>
          <a:stretch>
            <a:fillRect/>
          </a:stretch>
        </p:blipFill>
        <p:spPr>
          <a:xfrm>
            <a:off x="10319658" y="617704"/>
            <a:ext cx="1125764" cy="41258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A35049E6-D341-F3B3-CF90-764CBC98AA52}"/>
              </a:ext>
            </a:extLst>
          </p:cNvPr>
          <p:cNvSpPr txBox="1">
            <a:spLocks/>
          </p:cNvSpPr>
          <p:nvPr/>
        </p:nvSpPr>
        <p:spPr>
          <a:xfrm>
            <a:off x="574158" y="721206"/>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Types of Data</a:t>
            </a:r>
          </a:p>
        </p:txBody>
      </p:sp>
      <p:pic>
        <p:nvPicPr>
          <p:cNvPr id="21" name="Picture 20">
            <a:extLst>
              <a:ext uri="{FF2B5EF4-FFF2-40B4-BE49-F238E27FC236}">
                <a16:creationId xmlns:a16="http://schemas.microsoft.com/office/drawing/2014/main" id="{7842ED0F-7490-5A61-A6C8-F478834B96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6838" y="1864206"/>
            <a:ext cx="9621192" cy="4037382"/>
          </a:xfrm>
          <a:prstGeom prst="rect">
            <a:avLst/>
          </a:prstGeom>
        </p:spPr>
      </p:pic>
      <p:pic>
        <p:nvPicPr>
          <p:cNvPr id="2" name="Picture 1">
            <a:extLst>
              <a:ext uri="{FF2B5EF4-FFF2-40B4-BE49-F238E27FC236}">
                <a16:creationId xmlns:a16="http://schemas.microsoft.com/office/drawing/2014/main" id="{E8863323-8BBF-E6F8-51C1-0FBC96D1054B}"/>
              </a:ext>
            </a:extLst>
          </p:cNvPr>
          <p:cNvPicPr>
            <a:picLocks noChangeAspect="1"/>
          </p:cNvPicPr>
          <p:nvPr/>
        </p:nvPicPr>
        <p:blipFill>
          <a:blip r:embed="rId4"/>
          <a:stretch>
            <a:fillRect/>
          </a:stretch>
        </p:blipFill>
        <p:spPr>
          <a:xfrm>
            <a:off x="10319658" y="617704"/>
            <a:ext cx="1125764" cy="41258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A35049E6-D341-F3B3-CF90-764CBC98AA52}"/>
              </a:ext>
            </a:extLst>
          </p:cNvPr>
          <p:cNvSpPr txBox="1">
            <a:spLocks/>
          </p:cNvSpPr>
          <p:nvPr/>
        </p:nvSpPr>
        <p:spPr>
          <a:xfrm>
            <a:off x="574158" y="721206"/>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Types of Data</a:t>
            </a:r>
          </a:p>
        </p:txBody>
      </p:sp>
      <p:sp>
        <p:nvSpPr>
          <p:cNvPr id="2" name="TextBox 1">
            <a:extLst>
              <a:ext uri="{FF2B5EF4-FFF2-40B4-BE49-F238E27FC236}">
                <a16:creationId xmlns:a16="http://schemas.microsoft.com/office/drawing/2014/main" id="{356061D4-2323-1ECA-A8EB-4036AE6CBF41}"/>
              </a:ext>
            </a:extLst>
          </p:cNvPr>
          <p:cNvSpPr txBox="1"/>
          <p:nvPr/>
        </p:nvSpPr>
        <p:spPr>
          <a:xfrm>
            <a:off x="776177" y="1956391"/>
            <a:ext cx="9888279" cy="2308324"/>
          </a:xfrm>
          <a:prstGeom prst="rect">
            <a:avLst/>
          </a:prstGeom>
          <a:noFill/>
        </p:spPr>
        <p:txBody>
          <a:bodyPr wrap="square" rtlCol="0">
            <a:spAutoFit/>
          </a:bodyPr>
          <a:lstStyle/>
          <a:p>
            <a:r>
              <a:rPr lang="en-US" sz="2400"/>
              <a:t>The data is classified into majorly four categories:</a:t>
            </a:r>
          </a:p>
          <a:p>
            <a:endParaRPr lang="en-US" sz="2400"/>
          </a:p>
          <a:p>
            <a:pPr marL="457200" indent="-457200">
              <a:buAutoNum type="arabicPeriod"/>
            </a:pPr>
            <a:r>
              <a:rPr lang="en-US" sz="2400"/>
              <a:t>Nominal data</a:t>
            </a:r>
          </a:p>
          <a:p>
            <a:pPr marL="457200" indent="-457200">
              <a:buAutoNum type="arabicPeriod"/>
            </a:pPr>
            <a:r>
              <a:rPr lang="en-US" sz="2400"/>
              <a:t>Ordinal data</a:t>
            </a:r>
          </a:p>
          <a:p>
            <a:pPr marL="457200" indent="-457200">
              <a:buAutoNum type="arabicPeriod"/>
            </a:pPr>
            <a:r>
              <a:rPr lang="en-US" sz="2400"/>
              <a:t>Discrete data</a:t>
            </a:r>
          </a:p>
          <a:p>
            <a:pPr marL="457200" indent="-457200">
              <a:buAutoNum type="arabicPeriod"/>
            </a:pPr>
            <a:r>
              <a:rPr lang="en-US" sz="2400"/>
              <a:t>Continuous data</a:t>
            </a:r>
            <a:endParaRPr lang="en-MY" sz="2400"/>
          </a:p>
        </p:txBody>
      </p:sp>
      <p:pic>
        <p:nvPicPr>
          <p:cNvPr id="3" name="Picture 2">
            <a:extLst>
              <a:ext uri="{FF2B5EF4-FFF2-40B4-BE49-F238E27FC236}">
                <a16:creationId xmlns:a16="http://schemas.microsoft.com/office/drawing/2014/main" id="{5F8D1B35-0C14-EA83-4DA4-570D611B2776}"/>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36729926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A35049E6-D341-F3B3-CF90-764CBC98AA52}"/>
              </a:ext>
            </a:extLst>
          </p:cNvPr>
          <p:cNvSpPr txBox="1">
            <a:spLocks/>
          </p:cNvSpPr>
          <p:nvPr/>
        </p:nvSpPr>
        <p:spPr>
          <a:xfrm>
            <a:off x="574158" y="721206"/>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Types of Data</a:t>
            </a:r>
          </a:p>
        </p:txBody>
      </p:sp>
      <p:sp>
        <p:nvSpPr>
          <p:cNvPr id="2" name="TextBox 1">
            <a:extLst>
              <a:ext uri="{FF2B5EF4-FFF2-40B4-BE49-F238E27FC236}">
                <a16:creationId xmlns:a16="http://schemas.microsoft.com/office/drawing/2014/main" id="{356061D4-2323-1ECA-A8EB-4036AE6CBF41}"/>
              </a:ext>
            </a:extLst>
          </p:cNvPr>
          <p:cNvSpPr txBox="1"/>
          <p:nvPr/>
        </p:nvSpPr>
        <p:spPr>
          <a:xfrm>
            <a:off x="776177" y="1956391"/>
            <a:ext cx="9888279" cy="4524315"/>
          </a:xfrm>
          <a:prstGeom prst="rect">
            <a:avLst/>
          </a:prstGeom>
          <a:noFill/>
        </p:spPr>
        <p:txBody>
          <a:bodyPr wrap="square" rtlCol="0">
            <a:spAutoFit/>
          </a:bodyPr>
          <a:lstStyle/>
          <a:p>
            <a:pPr algn="just"/>
            <a:r>
              <a:rPr lang="en-US" sz="2400" b="1"/>
              <a:t>Qualitative or Categorical Data</a:t>
            </a:r>
          </a:p>
          <a:p>
            <a:pPr algn="just"/>
            <a:r>
              <a:rPr lang="en-US" sz="2400"/>
              <a:t>Qualitative data, also known as the categorical data, describes the data that fits into the categories. Qualitative data are not numerical. The categorical information involves categorical variables that describe the features such as a person’s gender, home town etc. Categorical measures are defined in terms of natural language specifications, but not in terms of numbers.</a:t>
            </a:r>
          </a:p>
          <a:p>
            <a:pPr algn="just"/>
            <a:endParaRPr lang="en-US" sz="2400"/>
          </a:p>
          <a:p>
            <a:pPr algn="just"/>
            <a:r>
              <a:rPr lang="en-US" sz="2400"/>
              <a:t>Sometimes categorical data can hold numerical values (quantitative value), but those values do not have a mathematical sense. Examples of the categorical data are birthdate, </a:t>
            </a:r>
            <a:r>
              <a:rPr lang="en-US" sz="2400" err="1"/>
              <a:t>favourite</a:t>
            </a:r>
            <a:r>
              <a:rPr lang="en-US" sz="2400"/>
              <a:t> sport, school postcode. Here, the birthdate and school postcode hold the quantitative value, but it does not give numerical meaning</a:t>
            </a:r>
          </a:p>
        </p:txBody>
      </p:sp>
      <p:pic>
        <p:nvPicPr>
          <p:cNvPr id="3" name="Picture 2">
            <a:extLst>
              <a:ext uri="{FF2B5EF4-FFF2-40B4-BE49-F238E27FC236}">
                <a16:creationId xmlns:a16="http://schemas.microsoft.com/office/drawing/2014/main" id="{50F3F44F-6FF6-3262-2BA1-81B70A17706C}"/>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29702356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A35049E6-D341-F3B3-CF90-764CBC98AA52}"/>
              </a:ext>
            </a:extLst>
          </p:cNvPr>
          <p:cNvSpPr txBox="1">
            <a:spLocks/>
          </p:cNvSpPr>
          <p:nvPr/>
        </p:nvSpPr>
        <p:spPr>
          <a:xfrm>
            <a:off x="574158" y="721206"/>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Types of Data</a:t>
            </a:r>
          </a:p>
        </p:txBody>
      </p:sp>
      <p:sp>
        <p:nvSpPr>
          <p:cNvPr id="2" name="TextBox 1">
            <a:extLst>
              <a:ext uri="{FF2B5EF4-FFF2-40B4-BE49-F238E27FC236}">
                <a16:creationId xmlns:a16="http://schemas.microsoft.com/office/drawing/2014/main" id="{356061D4-2323-1ECA-A8EB-4036AE6CBF41}"/>
              </a:ext>
            </a:extLst>
          </p:cNvPr>
          <p:cNvSpPr txBox="1"/>
          <p:nvPr/>
        </p:nvSpPr>
        <p:spPr>
          <a:xfrm>
            <a:off x="574158" y="1648047"/>
            <a:ext cx="10802679" cy="4893647"/>
          </a:xfrm>
          <a:prstGeom prst="rect">
            <a:avLst/>
          </a:prstGeom>
          <a:noFill/>
        </p:spPr>
        <p:txBody>
          <a:bodyPr wrap="square" lIns="91440" tIns="45720" rIns="91440" bIns="45720" rtlCol="0" anchor="t">
            <a:spAutoFit/>
          </a:bodyPr>
          <a:lstStyle/>
          <a:p>
            <a:pPr algn="just"/>
            <a:r>
              <a:rPr lang="en-US" sz="2400" b="1"/>
              <a:t>Qualitative or Categorical Data</a:t>
            </a:r>
          </a:p>
          <a:p>
            <a:pPr algn="just"/>
            <a:r>
              <a:rPr lang="en-US" sz="2400"/>
              <a:t>Nominal and ordinal data falls under this data type</a:t>
            </a:r>
            <a:endParaRPr lang="en-US" sz="2400">
              <a:ea typeface="Calibri"/>
              <a:cs typeface="Calibri"/>
            </a:endParaRPr>
          </a:p>
          <a:p>
            <a:pPr algn="just"/>
            <a:endParaRPr lang="en-US" sz="2400"/>
          </a:p>
          <a:p>
            <a:pPr algn="just"/>
            <a:r>
              <a:rPr lang="en-US" sz="2400" b="1"/>
              <a:t>Nominal Data</a:t>
            </a:r>
            <a:endParaRPr lang="en-US" sz="2400" b="1">
              <a:ea typeface="Calibri"/>
              <a:cs typeface="Calibri"/>
            </a:endParaRPr>
          </a:p>
          <a:p>
            <a:pPr algn="just"/>
            <a:r>
              <a:rPr lang="en-US" sz="2400"/>
              <a:t>Nominal data is one of the types of qualitative information which helps to label the variables without providing the numerical value. </a:t>
            </a:r>
            <a:r>
              <a:rPr lang="en-US" sz="2400">
                <a:solidFill>
                  <a:srgbClr val="FF0000"/>
                </a:solidFill>
              </a:rPr>
              <a:t>Nominal data is also called the nominal scale. It cannot be ordered and measured.</a:t>
            </a:r>
            <a:r>
              <a:rPr lang="en-US" sz="2400"/>
              <a:t> But sometimes, the data can be qualitative and quantitative. Examples of nominal data are letters, symbols, words, gender etc.</a:t>
            </a:r>
          </a:p>
          <a:p>
            <a:pPr algn="just"/>
            <a:r>
              <a:rPr lang="en-US" sz="2400"/>
              <a:t>Nominal data is data that can be labelled or classified into mutually exclusive categories within a variable. For example, for the nominal variable of preferred mode of transportation, you may have the categories of car, bus, train, tram or bicycle.. These data are visually represented using the pie charts.</a:t>
            </a:r>
          </a:p>
        </p:txBody>
      </p:sp>
      <p:pic>
        <p:nvPicPr>
          <p:cNvPr id="3" name="Picture 2">
            <a:extLst>
              <a:ext uri="{FF2B5EF4-FFF2-40B4-BE49-F238E27FC236}">
                <a16:creationId xmlns:a16="http://schemas.microsoft.com/office/drawing/2014/main" id="{17B9985C-16E7-FB1D-1C83-C8E83CB110B9}"/>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15242781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A35049E6-D341-F3B3-CF90-764CBC98AA52}"/>
              </a:ext>
            </a:extLst>
          </p:cNvPr>
          <p:cNvSpPr txBox="1">
            <a:spLocks/>
          </p:cNvSpPr>
          <p:nvPr/>
        </p:nvSpPr>
        <p:spPr>
          <a:xfrm>
            <a:off x="574158" y="721206"/>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Type of Data &amp; Analysis</a:t>
            </a:r>
          </a:p>
        </p:txBody>
      </p:sp>
      <p:sp>
        <p:nvSpPr>
          <p:cNvPr id="17" name="Content Placeholder 2">
            <a:extLst>
              <a:ext uri="{FF2B5EF4-FFF2-40B4-BE49-F238E27FC236}">
                <a16:creationId xmlns:a16="http://schemas.microsoft.com/office/drawing/2014/main" id="{8BE6D35B-8913-E70F-7E44-D76CAAF0A79D}"/>
              </a:ext>
            </a:extLst>
          </p:cNvPr>
          <p:cNvSpPr>
            <a:spLocks noGrp="1"/>
          </p:cNvSpPr>
          <p:nvPr>
            <p:ph idx="1"/>
          </p:nvPr>
        </p:nvSpPr>
        <p:spPr>
          <a:xfrm>
            <a:off x="574158" y="2057399"/>
            <a:ext cx="9590568" cy="4525963"/>
          </a:xfrm>
        </p:spPr>
        <p:txBody>
          <a:bodyPr>
            <a:noAutofit/>
          </a:bodyPr>
          <a:lstStyle/>
          <a:p>
            <a:pPr marL="0" indent="0">
              <a:buNone/>
            </a:pPr>
            <a:r>
              <a:rPr lang="en-US" sz="2400" b="1"/>
              <a:t>Logistics regression</a:t>
            </a:r>
          </a:p>
          <a:p>
            <a:pPr marL="0" indent="0">
              <a:buNone/>
            </a:pPr>
            <a:r>
              <a:rPr lang="en-US" sz="2400" i="1"/>
              <a:t>When to use it? </a:t>
            </a:r>
          </a:p>
          <a:p>
            <a:r>
              <a:rPr lang="en-US" sz="2400"/>
              <a:t>When you want to measure the strength and direction of the association between two variables, where the dependent or outcome variable is categorical (e.g., yes/no)</a:t>
            </a:r>
          </a:p>
          <a:p>
            <a:r>
              <a:rPr lang="en-US" sz="2400"/>
              <a:t>When you want to predict the likelihood of an outcome while controlling for confounders </a:t>
            </a:r>
          </a:p>
          <a:p>
            <a:pPr marL="0" indent="0">
              <a:buNone/>
            </a:pPr>
            <a:r>
              <a:rPr lang="en-US" sz="2400"/>
              <a:t>Ex) examine the relationship between health behavior (smoking, exercise, low-fat diet) and arthritis (arthritis vs. no arthritis)  </a:t>
            </a:r>
          </a:p>
          <a:p>
            <a:pPr marL="0" indent="0">
              <a:buNone/>
            </a:pPr>
            <a:r>
              <a:rPr lang="en-US" sz="2400"/>
              <a:t>Ex) Predict the probability of stroke in relation to gender while controlling for age or hypertension </a:t>
            </a:r>
          </a:p>
          <a:p>
            <a:pPr marL="0" indent="0">
              <a:buNone/>
            </a:pPr>
            <a:endParaRPr lang="en-US" sz="2400"/>
          </a:p>
          <a:p>
            <a:pPr marL="0" indent="0">
              <a:buNone/>
            </a:pPr>
            <a:endParaRPr lang="en-US" sz="2400"/>
          </a:p>
        </p:txBody>
      </p:sp>
      <p:pic>
        <p:nvPicPr>
          <p:cNvPr id="2" name="Picture 1">
            <a:extLst>
              <a:ext uri="{FF2B5EF4-FFF2-40B4-BE49-F238E27FC236}">
                <a16:creationId xmlns:a16="http://schemas.microsoft.com/office/drawing/2014/main" id="{99CE647D-1A97-EA88-9752-8AD81E452F68}"/>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40529621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D689F-644B-3F78-2A85-B2412EB2F9CE}"/>
              </a:ext>
            </a:extLst>
          </p:cNvPr>
          <p:cNvSpPr>
            <a:spLocks noGrp="1"/>
          </p:cNvSpPr>
          <p:nvPr>
            <p:ph type="title"/>
          </p:nvPr>
        </p:nvSpPr>
        <p:spPr>
          <a:xfrm>
            <a:off x="526073" y="489439"/>
            <a:ext cx="11139854" cy="930447"/>
          </a:xfrm>
        </p:spPr>
        <p:txBody>
          <a:bodyPr vert="horz" lIns="91440" tIns="45720" rIns="91440" bIns="45720" rtlCol="0" anchor="b">
            <a:normAutofit/>
          </a:bodyPr>
          <a:lstStyle/>
          <a:p>
            <a:pPr algn="ctr"/>
            <a:r>
              <a:rPr lang="en-US" sz="5400" b="1" kern="1200">
                <a:solidFill>
                  <a:schemeClr val="bg1"/>
                </a:solidFill>
                <a:latin typeface="+mj-lt"/>
                <a:ea typeface="+mj-ea"/>
                <a:cs typeface="+mj-cs"/>
              </a:rPr>
              <a:t>Use case examples</a:t>
            </a:r>
          </a:p>
        </p:txBody>
      </p:sp>
      <p:sp>
        <p:nvSpPr>
          <p:cNvPr id="6" name="Content Placeholder 5">
            <a:extLst>
              <a:ext uri="{FF2B5EF4-FFF2-40B4-BE49-F238E27FC236}">
                <a16:creationId xmlns:a16="http://schemas.microsoft.com/office/drawing/2014/main" id="{FEFBFCE3-7C0B-ADF4-6C38-5B528E61B05E}"/>
              </a:ext>
            </a:extLst>
          </p:cNvPr>
          <p:cNvSpPr>
            <a:spLocks noGrp="1"/>
          </p:cNvSpPr>
          <p:nvPr>
            <p:ph idx="1"/>
          </p:nvPr>
        </p:nvSpPr>
        <p:spPr>
          <a:xfrm>
            <a:off x="324492" y="2298654"/>
            <a:ext cx="10515600" cy="4351338"/>
          </a:xfrm>
        </p:spPr>
        <p:txBody>
          <a:bodyPr/>
          <a:lstStyle/>
          <a:p>
            <a:pPr algn="just"/>
            <a:r>
              <a:rPr lang="en-MY"/>
              <a:t>In biological and medical sciences, it helps personnel / researcher discover relationship worthy of further investigation</a:t>
            </a:r>
          </a:p>
          <a:p>
            <a:pPr marL="0" indent="0" algn="just">
              <a:buNone/>
            </a:pPr>
            <a:r>
              <a:rPr lang="en-MY"/>
              <a:t>   ex. 	A doctor can find if there is a correlation between drinking and      	kidney failure </a:t>
            </a:r>
          </a:p>
          <a:p>
            <a:pPr algn="just"/>
            <a:r>
              <a:rPr lang="en-MY"/>
              <a:t>Helps to prove theories and hypothesis that cannot be justified using rationale or ideas that are generally counter intuitive.   </a:t>
            </a:r>
          </a:p>
          <a:p>
            <a:pPr marL="0" indent="0" algn="just">
              <a:buNone/>
            </a:pPr>
            <a:r>
              <a:rPr lang="en-MY"/>
              <a:t> ex. 	There are studies that proof that shorter length of courtship and lower age of marriage reduces the chance of divorce  </a:t>
            </a:r>
          </a:p>
        </p:txBody>
      </p:sp>
      <p:pic>
        <p:nvPicPr>
          <p:cNvPr id="3" name="Picture 2">
            <a:extLst>
              <a:ext uri="{FF2B5EF4-FFF2-40B4-BE49-F238E27FC236}">
                <a16:creationId xmlns:a16="http://schemas.microsoft.com/office/drawing/2014/main" id="{0D373BAF-CFF6-1BEE-7104-98D7CD1E5255}"/>
              </a:ext>
            </a:extLst>
          </p:cNvPr>
          <p:cNvPicPr>
            <a:picLocks noChangeAspect="1"/>
          </p:cNvPicPr>
          <p:nvPr/>
        </p:nvPicPr>
        <p:blipFill>
          <a:blip r:embed="rId2"/>
          <a:stretch>
            <a:fillRect/>
          </a:stretch>
        </p:blipFill>
        <p:spPr>
          <a:xfrm>
            <a:off x="10319658" y="617704"/>
            <a:ext cx="1125764" cy="412584"/>
          </a:xfrm>
          <a:prstGeom prst="rect">
            <a:avLst/>
          </a:prstGeom>
        </p:spPr>
      </p:pic>
      <p:pic>
        <p:nvPicPr>
          <p:cNvPr id="4" name="Picture 3">
            <a:extLst>
              <a:ext uri="{FF2B5EF4-FFF2-40B4-BE49-F238E27FC236}">
                <a16:creationId xmlns:a16="http://schemas.microsoft.com/office/drawing/2014/main" id="{7F1F90A3-324F-1F51-E236-EFB2B81CAEE8}"/>
              </a:ext>
            </a:extLst>
          </p:cNvPr>
          <p:cNvPicPr>
            <a:picLocks noChangeAspect="1"/>
          </p:cNvPicPr>
          <p:nvPr/>
        </p:nvPicPr>
        <p:blipFill>
          <a:blip r:embed="rId2"/>
          <a:stretch>
            <a:fillRect/>
          </a:stretch>
        </p:blipFill>
        <p:spPr>
          <a:xfrm>
            <a:off x="10472058" y="770104"/>
            <a:ext cx="1125764" cy="412584"/>
          </a:xfrm>
          <a:prstGeom prst="rect">
            <a:avLst/>
          </a:prstGeom>
        </p:spPr>
      </p:pic>
    </p:spTree>
    <p:extLst>
      <p:ext uri="{BB962C8B-B14F-4D97-AF65-F5344CB8AC3E}">
        <p14:creationId xmlns:p14="http://schemas.microsoft.com/office/powerpoint/2010/main" val="34497052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11480" y="991443"/>
            <a:ext cx="5451992" cy="1087819"/>
          </a:xfrm>
          <a:prstGeom prst="rect">
            <a:avLst/>
          </a:prstGeom>
        </p:spPr>
        <p:txBody>
          <a:bodyPr vert="horz" lIns="91440" tIns="45720" rIns="91440" bIns="45720" rtlCol="0" anchor="b">
            <a:normAutofit/>
          </a:bodyPr>
          <a:lstStyle/>
          <a:p>
            <a:pPr marL="16933" algn="ctr"/>
            <a:r>
              <a:rPr lang="en-US" sz="3400" b="1" kern="1200" spc="7">
                <a:solidFill>
                  <a:schemeClr val="tx1"/>
                </a:solidFill>
                <a:latin typeface="+mj-lt"/>
                <a:ea typeface="+mj-ea"/>
                <a:cs typeface="+mj-cs"/>
              </a:rPr>
              <a:t>Relevance to data science</a:t>
            </a:r>
            <a:endParaRPr lang="en-US" sz="3400" b="1" kern="1200">
              <a:solidFill>
                <a:schemeClr val="tx1"/>
              </a:solidFill>
              <a:latin typeface="+mj-lt"/>
              <a:ea typeface="+mj-ea"/>
              <a:cs typeface="+mj-cs"/>
            </a:endParaRPr>
          </a:p>
        </p:txBody>
      </p:sp>
      <p:sp>
        <p:nvSpPr>
          <p:cNvPr id="4" name="object 4"/>
          <p:cNvSpPr txBox="1"/>
          <p:nvPr/>
        </p:nvSpPr>
        <p:spPr>
          <a:xfrm>
            <a:off x="411480" y="2684095"/>
            <a:ext cx="5133366" cy="3492868"/>
          </a:xfrm>
          <a:prstGeom prst="rect">
            <a:avLst/>
          </a:prstGeom>
        </p:spPr>
        <p:txBody>
          <a:bodyPr vert="horz" lIns="91440" tIns="45720" rIns="91440" bIns="45720" rtlCol="0" anchor="t">
            <a:normAutofit lnSpcReduction="10000"/>
          </a:bodyPr>
          <a:lstStyle/>
          <a:p>
            <a:pPr marL="16510" indent="-228600" algn="just">
              <a:lnSpc>
                <a:spcPct val="90000"/>
              </a:lnSpc>
              <a:spcBef>
                <a:spcPts val="1200"/>
              </a:spcBef>
              <a:buFont typeface="Arial" panose="020B0604020202020204" pitchFamily="34" charset="0"/>
              <a:buChar char="•"/>
            </a:pPr>
            <a:r>
              <a:rPr lang="en-US" sz="2000"/>
              <a:t>The basis of data science is statistics. Data science is essentially statistics and programming.</a:t>
            </a:r>
            <a:endParaRPr lang="en-US" sz="2000">
              <a:ea typeface="Calibri" panose="020F0502020204030204"/>
              <a:cs typeface="Calibri" panose="020F0502020204030204"/>
            </a:endParaRPr>
          </a:p>
          <a:p>
            <a:pPr marL="16510" indent="-228600" algn="just">
              <a:lnSpc>
                <a:spcPct val="90000"/>
              </a:lnSpc>
              <a:spcBef>
                <a:spcPts val="1200"/>
              </a:spcBef>
              <a:buFont typeface="Arial" panose="020B0604020202020204" pitchFamily="34" charset="0"/>
              <a:buChar char="•"/>
            </a:pPr>
            <a:r>
              <a:rPr lang="en-US" sz="2000"/>
              <a:t>Most data science concepts have roots in statistics, thus an understanding of statistics is required in understanding key data science concept</a:t>
            </a:r>
            <a:endParaRPr lang="en-US" sz="2000">
              <a:ea typeface="Calibri" panose="020F0502020204030204"/>
              <a:cs typeface="Calibri" panose="020F0502020204030204"/>
            </a:endParaRPr>
          </a:p>
          <a:p>
            <a:pPr marL="16510" indent="-228600" algn="just">
              <a:lnSpc>
                <a:spcPct val="90000"/>
              </a:lnSpc>
              <a:spcBef>
                <a:spcPts val="1200"/>
              </a:spcBef>
              <a:buFont typeface="Arial" panose="020B0604020202020204" pitchFamily="34" charset="0"/>
              <a:buChar char="•"/>
            </a:pPr>
            <a:r>
              <a:rPr lang="en-US" sz="2000"/>
              <a:t>Our approach to data in data science is rooted in statistics. For example, without stat, how do we recognize the type of distribution a data </a:t>
            </a:r>
            <a:r>
              <a:rPr lang="en-US" sz="2000" err="1"/>
              <a:t>has,or</a:t>
            </a:r>
            <a:r>
              <a:rPr lang="en-US" sz="2000"/>
              <a:t> know what effect distribution types has on handling data.</a:t>
            </a:r>
            <a:endParaRPr lang="en-US" sz="2000">
              <a:ea typeface="Calibri"/>
              <a:cs typeface="Calibri"/>
            </a:endParaRPr>
          </a:p>
        </p:txBody>
      </p:sp>
      <p:pic>
        <p:nvPicPr>
          <p:cNvPr id="6" name="Picture 5">
            <a:extLst>
              <a:ext uri="{FF2B5EF4-FFF2-40B4-BE49-F238E27FC236}">
                <a16:creationId xmlns:a16="http://schemas.microsoft.com/office/drawing/2014/main" id="{7CC36B3B-4AF3-0910-A8EB-B58F292893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5774" y="1770565"/>
            <a:ext cx="4649911" cy="4216445"/>
          </a:xfrm>
          <a:prstGeom prst="rect">
            <a:avLst/>
          </a:prstGeom>
        </p:spPr>
      </p:pic>
      <p:pic>
        <p:nvPicPr>
          <p:cNvPr id="2" name="Picture 1">
            <a:extLst>
              <a:ext uri="{FF2B5EF4-FFF2-40B4-BE49-F238E27FC236}">
                <a16:creationId xmlns:a16="http://schemas.microsoft.com/office/drawing/2014/main" id="{7F359622-D8EF-CFBB-53C8-BD95947BB748}"/>
              </a:ext>
            </a:extLst>
          </p:cNvPr>
          <p:cNvPicPr>
            <a:picLocks noChangeAspect="1"/>
          </p:cNvPicPr>
          <p:nvPr/>
        </p:nvPicPr>
        <p:blipFill>
          <a:blip r:embed="rId4"/>
          <a:stretch>
            <a:fillRect/>
          </a:stretch>
        </p:blipFill>
        <p:spPr>
          <a:xfrm>
            <a:off x="10319658" y="617704"/>
            <a:ext cx="1125764" cy="41258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1790" y="1695925"/>
            <a:ext cx="8168093" cy="555772"/>
          </a:xfrm>
          <a:prstGeom prst="rect">
            <a:avLst/>
          </a:prstGeom>
        </p:spPr>
        <p:txBody>
          <a:bodyPr vert="horz" wrap="square" lIns="0" tIns="22013" rIns="0" bIns="0" rtlCol="0">
            <a:spAutoFit/>
          </a:bodyPr>
          <a:lstStyle/>
          <a:p>
            <a:pPr marL="16933">
              <a:spcBef>
                <a:spcPts val="173"/>
              </a:spcBef>
            </a:pPr>
            <a:r>
              <a:rPr sz="3467" b="1" spc="73">
                <a:solidFill>
                  <a:srgbClr val="1A1A1A"/>
                </a:solidFill>
                <a:latin typeface="Trebuchet MS"/>
                <a:cs typeface="Trebuchet MS"/>
              </a:rPr>
              <a:t>T</a:t>
            </a:r>
            <a:r>
              <a:rPr sz="3467" b="1" spc="40">
                <a:solidFill>
                  <a:srgbClr val="1A1A1A"/>
                </a:solidFill>
                <a:latin typeface="Trebuchet MS"/>
                <a:cs typeface="Trebuchet MS"/>
              </a:rPr>
              <a:t>h</a:t>
            </a:r>
            <a:r>
              <a:rPr sz="3467" b="1" spc="-13">
                <a:solidFill>
                  <a:srgbClr val="1A1A1A"/>
                </a:solidFill>
                <a:latin typeface="Trebuchet MS"/>
                <a:cs typeface="Trebuchet MS"/>
              </a:rPr>
              <a:t>e</a:t>
            </a:r>
            <a:r>
              <a:rPr sz="3467" b="1" spc="27">
                <a:solidFill>
                  <a:srgbClr val="1A1A1A"/>
                </a:solidFill>
                <a:latin typeface="Trebuchet MS"/>
                <a:cs typeface="Trebuchet MS"/>
              </a:rPr>
              <a:t>r</a:t>
            </a:r>
            <a:r>
              <a:rPr sz="3467" b="1" spc="107">
                <a:solidFill>
                  <a:srgbClr val="1A1A1A"/>
                </a:solidFill>
                <a:latin typeface="Trebuchet MS"/>
                <a:cs typeface="Trebuchet MS"/>
              </a:rPr>
              <a:t>e</a:t>
            </a:r>
            <a:r>
              <a:rPr sz="3467" spc="-167">
                <a:solidFill>
                  <a:srgbClr val="1A1A1A"/>
                </a:solidFill>
                <a:latin typeface="Times New Roman"/>
                <a:cs typeface="Times New Roman"/>
              </a:rPr>
              <a:t> </a:t>
            </a:r>
            <a:r>
              <a:rPr sz="3467" b="1" spc="20">
                <a:solidFill>
                  <a:srgbClr val="1A1A1A"/>
                </a:solidFill>
                <a:latin typeface="Trebuchet MS"/>
                <a:cs typeface="Trebuchet MS"/>
              </a:rPr>
              <a:t>a</a:t>
            </a:r>
            <a:r>
              <a:rPr sz="3467" b="1" spc="40">
                <a:solidFill>
                  <a:srgbClr val="1A1A1A"/>
                </a:solidFill>
                <a:latin typeface="Trebuchet MS"/>
                <a:cs typeface="Trebuchet MS"/>
              </a:rPr>
              <a:t>r</a:t>
            </a:r>
            <a:r>
              <a:rPr sz="3467" b="1" spc="107">
                <a:solidFill>
                  <a:srgbClr val="1A1A1A"/>
                </a:solidFill>
                <a:latin typeface="Trebuchet MS"/>
                <a:cs typeface="Trebuchet MS"/>
              </a:rPr>
              <a:t>e</a:t>
            </a:r>
            <a:r>
              <a:rPr sz="3467" spc="-167">
                <a:solidFill>
                  <a:srgbClr val="1A1A1A"/>
                </a:solidFill>
                <a:latin typeface="Times New Roman"/>
                <a:cs typeface="Times New Roman"/>
              </a:rPr>
              <a:t> </a:t>
            </a:r>
            <a:r>
              <a:rPr lang="en-MY" sz="3467" b="1" spc="-167">
                <a:solidFill>
                  <a:srgbClr val="1A1A1A"/>
                </a:solidFill>
                <a:latin typeface="Times New Roman"/>
                <a:cs typeface="Times New Roman"/>
              </a:rPr>
              <a:t>majorly</a:t>
            </a:r>
            <a:r>
              <a:rPr lang="en-MY" sz="3467" spc="-167">
                <a:solidFill>
                  <a:srgbClr val="1A1A1A"/>
                </a:solidFill>
                <a:latin typeface="Times New Roman"/>
                <a:cs typeface="Times New Roman"/>
              </a:rPr>
              <a:t> </a:t>
            </a:r>
            <a:r>
              <a:rPr sz="3467" b="1" spc="-60">
                <a:solidFill>
                  <a:srgbClr val="1A1A1A"/>
                </a:solidFill>
                <a:latin typeface="Trebuchet MS"/>
                <a:cs typeface="Trebuchet MS"/>
              </a:rPr>
              <a:t>2</a:t>
            </a:r>
            <a:endParaRPr sz="3467">
              <a:latin typeface="Trebuchet MS"/>
              <a:cs typeface="Trebuchet MS"/>
            </a:endParaRPr>
          </a:p>
        </p:txBody>
      </p:sp>
      <p:sp>
        <p:nvSpPr>
          <p:cNvPr id="3" name="object 3"/>
          <p:cNvSpPr txBox="1"/>
          <p:nvPr/>
        </p:nvSpPr>
        <p:spPr>
          <a:xfrm>
            <a:off x="1337735" y="2715244"/>
            <a:ext cx="4008967" cy="1489296"/>
          </a:xfrm>
          <a:prstGeom prst="rect">
            <a:avLst/>
          </a:prstGeom>
          <a:ln w="9534">
            <a:solidFill>
              <a:srgbClr val="000000"/>
            </a:solidFill>
          </a:ln>
        </p:spPr>
        <p:txBody>
          <a:bodyPr vert="horz" wrap="square" lIns="0" tIns="255693" rIns="0" bIns="0" rtlCol="0">
            <a:spAutoFit/>
          </a:bodyPr>
          <a:lstStyle/>
          <a:p>
            <a:pPr marL="2540" algn="ctr">
              <a:spcBef>
                <a:spcPts val="2013"/>
              </a:spcBef>
            </a:pPr>
            <a:r>
              <a:rPr lang="en-MY" sz="4000" spc="152">
                <a:latin typeface="Tahoma"/>
                <a:cs typeface="Tahoma"/>
              </a:rPr>
              <a:t>Descriptive statistics</a:t>
            </a:r>
            <a:endParaRPr sz="4000">
              <a:latin typeface="Tahoma"/>
              <a:cs typeface="Tahoma"/>
            </a:endParaRPr>
          </a:p>
        </p:txBody>
      </p:sp>
      <p:sp>
        <p:nvSpPr>
          <p:cNvPr id="4" name="object 4"/>
          <p:cNvSpPr txBox="1"/>
          <p:nvPr/>
        </p:nvSpPr>
        <p:spPr>
          <a:xfrm>
            <a:off x="7105256" y="4035787"/>
            <a:ext cx="4008967" cy="1490152"/>
          </a:xfrm>
          <a:prstGeom prst="rect">
            <a:avLst/>
          </a:prstGeom>
          <a:ln w="9534">
            <a:solidFill>
              <a:srgbClr val="000000"/>
            </a:solidFill>
          </a:ln>
        </p:spPr>
        <p:txBody>
          <a:bodyPr vert="horz" wrap="square" lIns="0" tIns="256540" rIns="0" bIns="0" rtlCol="0">
            <a:spAutoFit/>
          </a:bodyPr>
          <a:lstStyle/>
          <a:p>
            <a:pPr algn="ctr">
              <a:spcBef>
                <a:spcPts val="2020"/>
              </a:spcBef>
            </a:pPr>
            <a:r>
              <a:rPr lang="en-MY" sz="4000" spc="120">
                <a:latin typeface="Tahoma"/>
                <a:cs typeface="Tahoma"/>
              </a:rPr>
              <a:t>Inferential statistics</a:t>
            </a:r>
            <a:endParaRPr sz="4000">
              <a:latin typeface="Tahoma"/>
              <a:cs typeface="Tahoma"/>
            </a:endParaRPr>
          </a:p>
        </p:txBody>
      </p:sp>
      <p:sp>
        <p:nvSpPr>
          <p:cNvPr id="5" name="object 5"/>
          <p:cNvSpPr txBox="1"/>
          <p:nvPr/>
        </p:nvSpPr>
        <p:spPr>
          <a:xfrm>
            <a:off x="357717" y="4365599"/>
            <a:ext cx="4173185" cy="1160340"/>
          </a:xfrm>
          <a:prstGeom prst="rect">
            <a:avLst/>
          </a:prstGeom>
        </p:spPr>
        <p:txBody>
          <a:bodyPr vert="horz" wrap="square" lIns="0" tIns="21167" rIns="0" bIns="0" rtlCol="0">
            <a:spAutoFit/>
          </a:bodyPr>
          <a:lstStyle/>
          <a:p>
            <a:pPr marL="16933">
              <a:spcBef>
                <a:spcPts val="167"/>
              </a:spcBef>
            </a:pPr>
            <a:r>
              <a:rPr lang="en-MY" sz="2467" b="1" spc="-13">
                <a:solidFill>
                  <a:srgbClr val="1A9887"/>
                </a:solidFill>
                <a:latin typeface="Tahoma"/>
                <a:cs typeface="Tahoma"/>
              </a:rPr>
              <a:t>Methods concerned with Collection, description, analysing…</a:t>
            </a:r>
            <a:endParaRPr sz="2467">
              <a:latin typeface="Tahoma"/>
              <a:cs typeface="Tahoma"/>
            </a:endParaRPr>
          </a:p>
        </p:txBody>
      </p:sp>
      <p:sp>
        <p:nvSpPr>
          <p:cNvPr id="6" name="object 6"/>
          <p:cNvSpPr txBox="1"/>
          <p:nvPr/>
        </p:nvSpPr>
        <p:spPr>
          <a:xfrm>
            <a:off x="8167957" y="2715244"/>
            <a:ext cx="4177060" cy="1185988"/>
          </a:xfrm>
          <a:prstGeom prst="rect">
            <a:avLst/>
          </a:prstGeom>
        </p:spPr>
        <p:txBody>
          <a:bodyPr vert="horz" wrap="square" lIns="0" tIns="21167" rIns="0" bIns="0" rtlCol="0">
            <a:spAutoFit/>
          </a:bodyPr>
          <a:lstStyle/>
          <a:p>
            <a:pPr marL="16933">
              <a:spcBef>
                <a:spcPts val="167"/>
              </a:spcBef>
            </a:pPr>
            <a:r>
              <a:rPr lang="en-MY" sz="2467" b="1" spc="-20">
                <a:solidFill>
                  <a:srgbClr val="EB5500"/>
                </a:solidFill>
                <a:latin typeface="Tahoma"/>
                <a:cs typeface="Tahoma"/>
              </a:rPr>
              <a:t>Methods concerned with Prediction, inferences, </a:t>
            </a:r>
          </a:p>
          <a:p>
            <a:pPr marL="16933">
              <a:spcBef>
                <a:spcPts val="167"/>
              </a:spcBef>
            </a:pPr>
            <a:r>
              <a:rPr lang="en-MY" sz="2467" b="1" spc="-20">
                <a:solidFill>
                  <a:srgbClr val="EB5500"/>
                </a:solidFill>
                <a:latin typeface="Tahoma"/>
                <a:cs typeface="Tahoma"/>
              </a:rPr>
              <a:t>conclusion</a:t>
            </a:r>
            <a:endParaRPr sz="2467">
              <a:latin typeface="Tahoma"/>
              <a:cs typeface="Tahoma"/>
            </a:endParaRPr>
          </a:p>
        </p:txBody>
      </p:sp>
      <p:sp>
        <p:nvSpPr>
          <p:cNvPr id="7" name="Title 1">
            <a:extLst>
              <a:ext uri="{FF2B5EF4-FFF2-40B4-BE49-F238E27FC236}">
                <a16:creationId xmlns:a16="http://schemas.microsoft.com/office/drawing/2014/main" id="{D744BEFA-1C89-B04D-74B1-B6375F7439BD}"/>
              </a:ext>
            </a:extLst>
          </p:cNvPr>
          <p:cNvSpPr txBox="1">
            <a:spLocks/>
          </p:cNvSpPr>
          <p:nvPr/>
        </p:nvSpPr>
        <p:spPr>
          <a:xfrm>
            <a:off x="467377" y="594546"/>
            <a:ext cx="10515600" cy="671823"/>
          </a:xfrm>
          <a:prstGeom prst="rect">
            <a:avLst/>
          </a:prstGeom>
        </p:spPr>
        <p:txBody>
          <a:bodyP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effectLst>
                  <a:outerShdw blurRad="38100" dist="38100" dir="2700000" algn="tl">
                    <a:srgbClr val="000000">
                      <a:alpha val="43137"/>
                    </a:srgbClr>
                  </a:outerShdw>
                </a:effectLst>
              </a:rPr>
              <a:t>Main statistical methods</a:t>
            </a:r>
            <a:endParaRPr lang="en-US">
              <a:effectLst>
                <a:outerShdw blurRad="38100" dist="38100" dir="2700000" algn="tl">
                  <a:srgbClr val="000000">
                    <a:alpha val="43137"/>
                  </a:srgbClr>
                </a:outerShdw>
              </a:effectLst>
            </a:endParaRPr>
          </a:p>
        </p:txBody>
      </p:sp>
      <p:pic>
        <p:nvPicPr>
          <p:cNvPr id="8" name="Picture 7">
            <a:extLst>
              <a:ext uri="{FF2B5EF4-FFF2-40B4-BE49-F238E27FC236}">
                <a16:creationId xmlns:a16="http://schemas.microsoft.com/office/drawing/2014/main" id="{AE7BCEA9-8CE1-54AF-4C96-DE0100E63E38}"/>
              </a:ext>
            </a:extLst>
          </p:cNvPr>
          <p:cNvPicPr>
            <a:picLocks noChangeAspect="1"/>
          </p:cNvPicPr>
          <p:nvPr/>
        </p:nvPicPr>
        <p:blipFill>
          <a:blip r:embed="rId2"/>
          <a:stretch>
            <a:fillRect/>
          </a:stretch>
        </p:blipFill>
        <p:spPr>
          <a:xfrm>
            <a:off x="10319658" y="617704"/>
            <a:ext cx="1125764" cy="41258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9601" y="666052"/>
            <a:ext cx="7379547" cy="555772"/>
          </a:xfrm>
          <a:prstGeom prst="rect">
            <a:avLst/>
          </a:prstGeom>
        </p:spPr>
        <p:txBody>
          <a:bodyPr vert="horz" wrap="square" lIns="0" tIns="22013" rIns="0" bIns="0" rtlCol="0" anchor="ctr">
            <a:spAutoFit/>
          </a:bodyPr>
          <a:lstStyle/>
          <a:p>
            <a:pPr marL="16933">
              <a:lnSpc>
                <a:spcPct val="100000"/>
              </a:lnSpc>
              <a:spcBef>
                <a:spcPts val="173"/>
              </a:spcBef>
            </a:pPr>
            <a:r>
              <a:rPr lang="en-MY" sz="3400" spc="160">
                <a:latin typeface="Abadi" panose="020B0604020104020204" pitchFamily="34" charset="0"/>
              </a:rPr>
              <a:t>Descriptive statistics</a:t>
            </a:r>
          </a:p>
        </p:txBody>
      </p:sp>
      <p:sp>
        <p:nvSpPr>
          <p:cNvPr id="8" name="TextBox 7">
            <a:extLst>
              <a:ext uri="{FF2B5EF4-FFF2-40B4-BE49-F238E27FC236}">
                <a16:creationId xmlns:a16="http://schemas.microsoft.com/office/drawing/2014/main" id="{3E2D95B1-37FB-0176-014E-26934E85BAE1}"/>
              </a:ext>
            </a:extLst>
          </p:cNvPr>
          <p:cNvSpPr txBox="1"/>
          <p:nvPr/>
        </p:nvSpPr>
        <p:spPr>
          <a:xfrm>
            <a:off x="739600" y="1594755"/>
            <a:ext cx="10726359" cy="4401205"/>
          </a:xfrm>
          <a:prstGeom prst="rect">
            <a:avLst/>
          </a:prstGeom>
          <a:noFill/>
        </p:spPr>
        <p:txBody>
          <a:bodyPr wrap="square">
            <a:spAutoFit/>
          </a:bodyPr>
          <a:lstStyle/>
          <a:p>
            <a:pPr marL="457200" indent="-457200" algn="just">
              <a:buFontTx/>
              <a:buChar char="-"/>
            </a:pPr>
            <a:r>
              <a:rPr lang="en-US" sz="2800"/>
              <a:t>Descriptive statistics just like its name merely describes a dataset. It summarizes the properties of the data. We can think of it as data exploration</a:t>
            </a:r>
          </a:p>
          <a:p>
            <a:pPr marL="457200" indent="-457200" algn="just">
              <a:buFontTx/>
              <a:buChar char="-"/>
            </a:pPr>
            <a:endParaRPr lang="en-US" sz="2800"/>
          </a:p>
          <a:p>
            <a:pPr marL="457200" indent="-457200" algn="just">
              <a:buFontTx/>
              <a:buChar char="-"/>
            </a:pPr>
            <a:r>
              <a:rPr lang="en-US" sz="2800"/>
              <a:t>This is usually the first step in statistical analysis. The dataset is described to observe relationships between variables, or just observe general characteristics of the data</a:t>
            </a:r>
          </a:p>
          <a:p>
            <a:pPr marL="457200" indent="-457200" algn="just">
              <a:buFontTx/>
              <a:buChar char="-"/>
            </a:pPr>
            <a:endParaRPr lang="en-US" sz="2800"/>
          </a:p>
          <a:p>
            <a:pPr marL="457200" indent="-457200" algn="just">
              <a:buFontTx/>
              <a:buChar char="-"/>
            </a:pPr>
            <a:r>
              <a:rPr lang="en-US" sz="2800"/>
              <a:t>It allows us to make sense of the data</a:t>
            </a:r>
          </a:p>
          <a:p>
            <a:pPr marL="457200" indent="-457200" algn="just">
              <a:buFontTx/>
              <a:buChar char="-"/>
            </a:pPr>
            <a:endParaRPr lang="en-US" sz="2800"/>
          </a:p>
        </p:txBody>
      </p:sp>
      <p:pic>
        <p:nvPicPr>
          <p:cNvPr id="3" name="Picture 2">
            <a:extLst>
              <a:ext uri="{FF2B5EF4-FFF2-40B4-BE49-F238E27FC236}">
                <a16:creationId xmlns:a16="http://schemas.microsoft.com/office/drawing/2014/main" id="{FB7EA1FC-C71C-AE27-6CCA-CC1BAAC1B88F}"/>
              </a:ext>
            </a:extLst>
          </p:cNvPr>
          <p:cNvPicPr>
            <a:picLocks noChangeAspect="1"/>
          </p:cNvPicPr>
          <p:nvPr/>
        </p:nvPicPr>
        <p:blipFill>
          <a:blip r:embed="rId2"/>
          <a:stretch>
            <a:fillRect/>
          </a:stretch>
        </p:blipFill>
        <p:spPr>
          <a:xfrm>
            <a:off x="10319658" y="617704"/>
            <a:ext cx="1125764" cy="41258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9" y="1393049"/>
            <a:ext cx="4890094"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11479" y="2684095"/>
            <a:ext cx="4890093" cy="3492868"/>
          </a:xfrm>
          <a:prstGeom prst="rect">
            <a:avLst/>
          </a:prstGeom>
        </p:spPr>
        <p:txBody>
          <a:bodyPr vert="horz" lIns="91440" tIns="45720" rIns="91440" bIns="45720" rtlCol="0">
            <a:normAutofit/>
          </a:bodyPr>
          <a:lstStyle/>
          <a:p>
            <a:pPr marL="228600" lvl="1">
              <a:lnSpc>
                <a:spcPct val="90000"/>
              </a:lnSpc>
              <a:spcAft>
                <a:spcPts val="600"/>
              </a:spcAft>
            </a:pPr>
            <a:r>
              <a:rPr lang="en-US" sz="2400"/>
              <a:t>For example, we may be concerned about describing:</a:t>
            </a:r>
          </a:p>
          <a:p>
            <a:pPr lvl="1" indent="-228600">
              <a:lnSpc>
                <a:spcPct val="90000"/>
              </a:lnSpc>
              <a:spcAft>
                <a:spcPts val="600"/>
              </a:spcAft>
              <a:buFont typeface="Arial" panose="020B0604020202020204" pitchFamily="34" charset="0"/>
              <a:buChar char="•"/>
            </a:pPr>
            <a:r>
              <a:rPr lang="en-US" sz="2400"/>
              <a:t>The weight of a product in a production line.</a:t>
            </a:r>
          </a:p>
          <a:p>
            <a:pPr lvl="1" indent="-228600">
              <a:lnSpc>
                <a:spcPct val="90000"/>
              </a:lnSpc>
              <a:spcAft>
                <a:spcPts val="600"/>
              </a:spcAft>
              <a:buFont typeface="Arial" panose="020B0604020202020204" pitchFamily="34" charset="0"/>
              <a:buChar char="•"/>
            </a:pPr>
            <a:r>
              <a:rPr lang="en-US" sz="2400"/>
              <a:t>The time taken to process an application.</a:t>
            </a:r>
          </a:p>
        </p:txBody>
      </p:sp>
      <p:sp>
        <p:nvSpPr>
          <p:cNvPr id="3" name="object 3"/>
          <p:cNvSpPr txBox="1"/>
          <p:nvPr/>
        </p:nvSpPr>
        <p:spPr>
          <a:xfrm>
            <a:off x="1078648" y="2842007"/>
            <a:ext cx="6082453" cy="396241"/>
          </a:xfrm>
          <a:prstGeom prst="rect">
            <a:avLst/>
          </a:prstGeom>
        </p:spPr>
        <p:txBody>
          <a:bodyPr vert="horz" wrap="square" lIns="0" tIns="14393" rIns="0" bIns="0" rtlCol="0">
            <a:spAutoFit/>
          </a:bodyPr>
          <a:lstStyle/>
          <a:p>
            <a:pPr marL="16933" marR="6773">
              <a:lnSpc>
                <a:spcPct val="115300"/>
              </a:lnSpc>
              <a:spcBef>
                <a:spcPts val="113"/>
              </a:spcBef>
            </a:pPr>
            <a:endParaRPr sz="2400">
              <a:latin typeface="Tahoma"/>
              <a:cs typeface="Tahoma"/>
            </a:endParaRPr>
          </a:p>
        </p:txBody>
      </p:sp>
      <p:sp>
        <p:nvSpPr>
          <p:cNvPr id="5" name="TextBox 4">
            <a:extLst>
              <a:ext uri="{FF2B5EF4-FFF2-40B4-BE49-F238E27FC236}">
                <a16:creationId xmlns:a16="http://schemas.microsoft.com/office/drawing/2014/main" id="{06A2284D-6769-61DC-B5D1-C4AF35CD7EAF}"/>
              </a:ext>
            </a:extLst>
          </p:cNvPr>
          <p:cNvSpPr txBox="1"/>
          <p:nvPr/>
        </p:nvSpPr>
        <p:spPr>
          <a:xfrm>
            <a:off x="5968741" y="2684095"/>
            <a:ext cx="5599960" cy="1569660"/>
          </a:xfrm>
          <a:prstGeom prst="rect">
            <a:avLst/>
          </a:prstGeom>
          <a:noFill/>
        </p:spPr>
        <p:txBody>
          <a:bodyPr wrap="square" rtlCol="0">
            <a:spAutoFit/>
          </a:bodyPr>
          <a:lstStyle/>
          <a:p>
            <a:pPr algn="just"/>
            <a:r>
              <a:rPr lang="en-US" sz="2400">
                <a:solidFill>
                  <a:srgbClr val="002060"/>
                </a:solidFill>
              </a:rPr>
              <a:t>In summary, </a:t>
            </a:r>
          </a:p>
          <a:p>
            <a:pPr marL="342900" indent="-342900" algn="just">
              <a:buFont typeface="Arial" panose="020B0604020202020204" pitchFamily="34" charset="0"/>
              <a:buChar char="•"/>
            </a:pPr>
            <a:r>
              <a:rPr lang="en-US" sz="2400">
                <a:solidFill>
                  <a:srgbClr val="002060"/>
                </a:solidFill>
              </a:rPr>
              <a:t>Descriptive statistics involves describing, summarizing and  organizing the data so it can be easily understood.</a:t>
            </a:r>
          </a:p>
        </p:txBody>
      </p:sp>
      <p:pic>
        <p:nvPicPr>
          <p:cNvPr id="4" name="Picture 3">
            <a:extLst>
              <a:ext uri="{FF2B5EF4-FFF2-40B4-BE49-F238E27FC236}">
                <a16:creationId xmlns:a16="http://schemas.microsoft.com/office/drawing/2014/main" id="{38414848-003D-E8E0-6DEC-A6EFE29C9E42}"/>
              </a:ext>
            </a:extLst>
          </p:cNvPr>
          <p:cNvPicPr>
            <a:picLocks noChangeAspect="1"/>
          </p:cNvPicPr>
          <p:nvPr/>
        </p:nvPicPr>
        <p:blipFill>
          <a:blip r:embed="rId2"/>
          <a:stretch>
            <a:fillRect/>
          </a:stretch>
        </p:blipFill>
        <p:spPr>
          <a:xfrm>
            <a:off x="10319658" y="617704"/>
            <a:ext cx="1125764" cy="412584"/>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11520" y="729491"/>
            <a:ext cx="7379547" cy="555772"/>
          </a:xfrm>
          <a:prstGeom prst="rect">
            <a:avLst/>
          </a:prstGeom>
        </p:spPr>
        <p:txBody>
          <a:bodyPr vert="horz" wrap="square" lIns="0" tIns="22013" rIns="0" bIns="0" rtlCol="0" anchor="ctr">
            <a:spAutoFit/>
          </a:bodyPr>
          <a:lstStyle/>
          <a:p>
            <a:pPr marL="16933">
              <a:lnSpc>
                <a:spcPct val="100000"/>
              </a:lnSpc>
              <a:spcBef>
                <a:spcPts val="173"/>
              </a:spcBef>
            </a:pPr>
            <a:r>
              <a:rPr lang="en-MY" sz="3400" spc="160">
                <a:latin typeface="Abadi" panose="020B0604020104020204" pitchFamily="34" charset="0"/>
              </a:rPr>
              <a:t>Descriptive statistics</a:t>
            </a:r>
          </a:p>
        </p:txBody>
      </p:sp>
      <p:pic>
        <p:nvPicPr>
          <p:cNvPr id="3" name="Picture 2">
            <a:extLst>
              <a:ext uri="{FF2B5EF4-FFF2-40B4-BE49-F238E27FC236}">
                <a16:creationId xmlns:a16="http://schemas.microsoft.com/office/drawing/2014/main" id="{ED892F74-55C9-9D75-498A-FBE14CB992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7162" y="1211550"/>
            <a:ext cx="8551786" cy="5195210"/>
          </a:xfrm>
          <a:prstGeom prst="rect">
            <a:avLst/>
          </a:prstGeom>
        </p:spPr>
      </p:pic>
      <p:sp>
        <p:nvSpPr>
          <p:cNvPr id="5" name="TextBox 4">
            <a:extLst>
              <a:ext uri="{FF2B5EF4-FFF2-40B4-BE49-F238E27FC236}">
                <a16:creationId xmlns:a16="http://schemas.microsoft.com/office/drawing/2014/main" id="{C38873A7-0F17-A656-E2A1-3D4BFFEC55C8}"/>
              </a:ext>
            </a:extLst>
          </p:cNvPr>
          <p:cNvSpPr txBox="1"/>
          <p:nvPr/>
        </p:nvSpPr>
        <p:spPr>
          <a:xfrm>
            <a:off x="9404969" y="1006576"/>
            <a:ext cx="2519737" cy="1477328"/>
          </a:xfrm>
          <a:prstGeom prst="rect">
            <a:avLst/>
          </a:prstGeom>
          <a:noFill/>
        </p:spPr>
        <p:txBody>
          <a:bodyPr wrap="square">
            <a:spAutoFit/>
          </a:bodyPr>
          <a:lstStyle/>
          <a:p>
            <a:r>
              <a:rPr lang="en-US" sz="1800"/>
              <a:t>Graphical displays are often used along with the quantitative measures to enable clarity of communication</a:t>
            </a:r>
            <a:endParaRPr lang="en-MY" sz="1800"/>
          </a:p>
        </p:txBody>
      </p:sp>
      <p:pic>
        <p:nvPicPr>
          <p:cNvPr id="4" name="Picture 3">
            <a:extLst>
              <a:ext uri="{FF2B5EF4-FFF2-40B4-BE49-F238E27FC236}">
                <a16:creationId xmlns:a16="http://schemas.microsoft.com/office/drawing/2014/main" id="{00DD86D7-7AAA-D8D5-0BB6-2ECBA4C4DA8B}"/>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23874996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9" y="1393049"/>
            <a:ext cx="4890094"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70" y="2399809"/>
            <a:ext cx="10818175" cy="3492868"/>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2400">
                <a:latin typeface="Calibri"/>
                <a:cs typeface="Calibri"/>
              </a:rPr>
              <a:t>When</a:t>
            </a:r>
            <a:r>
              <a:rPr lang="en-US" sz="2400" spc="-15">
                <a:latin typeface="Calibri"/>
                <a:cs typeface="Calibri"/>
              </a:rPr>
              <a:t> </a:t>
            </a:r>
            <a:r>
              <a:rPr lang="en-US" sz="2400" spc="-5">
                <a:latin typeface="Calibri"/>
                <a:cs typeface="Calibri"/>
              </a:rPr>
              <a:t>analyzing</a:t>
            </a:r>
            <a:r>
              <a:rPr lang="en-US" sz="2400" spc="-15">
                <a:latin typeface="Calibri"/>
                <a:cs typeface="Calibri"/>
              </a:rPr>
              <a:t> </a:t>
            </a:r>
            <a:r>
              <a:rPr lang="en-US" sz="2400">
                <a:latin typeface="Calibri"/>
                <a:cs typeface="Calibri"/>
              </a:rPr>
              <a:t>a</a:t>
            </a:r>
            <a:r>
              <a:rPr lang="en-US" sz="2400" spc="-10">
                <a:latin typeface="Calibri"/>
                <a:cs typeface="Calibri"/>
              </a:rPr>
              <a:t> </a:t>
            </a:r>
            <a:r>
              <a:rPr lang="en-US" sz="2400">
                <a:latin typeface="Calibri"/>
                <a:cs typeface="Calibri"/>
              </a:rPr>
              <a:t>graphical</a:t>
            </a:r>
            <a:r>
              <a:rPr lang="en-US" sz="2400" spc="-20">
                <a:latin typeface="Calibri"/>
                <a:cs typeface="Calibri"/>
              </a:rPr>
              <a:t> </a:t>
            </a:r>
            <a:r>
              <a:rPr lang="en-US" sz="2400" spc="-5">
                <a:latin typeface="Calibri"/>
                <a:cs typeface="Calibri"/>
              </a:rPr>
              <a:t>display, </a:t>
            </a:r>
            <a:r>
              <a:rPr lang="en-US" sz="2400">
                <a:latin typeface="Calibri"/>
                <a:cs typeface="Calibri"/>
              </a:rPr>
              <a:t>you</a:t>
            </a:r>
            <a:r>
              <a:rPr lang="en-US" sz="2400" spc="-10">
                <a:latin typeface="Calibri"/>
                <a:cs typeface="Calibri"/>
              </a:rPr>
              <a:t> </a:t>
            </a:r>
            <a:r>
              <a:rPr lang="en-US" sz="2400">
                <a:latin typeface="Calibri"/>
                <a:cs typeface="Calibri"/>
              </a:rPr>
              <a:t>can</a:t>
            </a:r>
            <a:r>
              <a:rPr lang="en-US" sz="2400" spc="-15">
                <a:latin typeface="Calibri"/>
                <a:cs typeface="Calibri"/>
              </a:rPr>
              <a:t> </a:t>
            </a:r>
            <a:r>
              <a:rPr lang="en-US" sz="2400" spc="-5">
                <a:latin typeface="Calibri"/>
                <a:cs typeface="Calibri"/>
              </a:rPr>
              <a:t>draw</a:t>
            </a:r>
            <a:r>
              <a:rPr lang="en-US" sz="2400" spc="-20">
                <a:latin typeface="Calibri"/>
                <a:cs typeface="Calibri"/>
              </a:rPr>
              <a:t> </a:t>
            </a:r>
            <a:r>
              <a:rPr lang="en-US" sz="2400">
                <a:latin typeface="Calibri"/>
                <a:cs typeface="Calibri"/>
              </a:rPr>
              <a:t>conclusions </a:t>
            </a:r>
            <a:r>
              <a:rPr lang="en-US" sz="2400" spc="-530">
                <a:latin typeface="Calibri"/>
                <a:cs typeface="Calibri"/>
              </a:rPr>
              <a:t> </a:t>
            </a:r>
            <a:r>
              <a:rPr lang="en-US" sz="2400" spc="-5">
                <a:latin typeface="Calibri"/>
                <a:cs typeface="Calibri"/>
              </a:rPr>
              <a:t>based</a:t>
            </a:r>
            <a:r>
              <a:rPr lang="en-US" sz="2400" spc="-10">
                <a:latin typeface="Calibri"/>
                <a:cs typeface="Calibri"/>
              </a:rPr>
              <a:t> </a:t>
            </a:r>
            <a:r>
              <a:rPr lang="en-US" sz="2400" spc="-5">
                <a:latin typeface="Calibri"/>
                <a:cs typeface="Calibri"/>
              </a:rPr>
              <a:t>on</a:t>
            </a:r>
            <a:r>
              <a:rPr lang="en-US" sz="2400" spc="5">
                <a:latin typeface="Calibri"/>
                <a:cs typeface="Calibri"/>
              </a:rPr>
              <a:t> </a:t>
            </a:r>
            <a:r>
              <a:rPr lang="en-US" sz="2400" spc="-5">
                <a:latin typeface="Calibri"/>
                <a:cs typeface="Calibri"/>
              </a:rPr>
              <a:t>several </a:t>
            </a:r>
            <a:r>
              <a:rPr lang="en-US" sz="2400">
                <a:latin typeface="Calibri"/>
                <a:cs typeface="Calibri"/>
              </a:rPr>
              <a:t>characteristics</a:t>
            </a:r>
            <a:r>
              <a:rPr lang="en-US" sz="2400" spc="-35">
                <a:latin typeface="Calibri"/>
                <a:cs typeface="Calibri"/>
              </a:rPr>
              <a:t> </a:t>
            </a:r>
            <a:r>
              <a:rPr lang="en-US" sz="2400" spc="-5">
                <a:latin typeface="Calibri"/>
                <a:cs typeface="Calibri"/>
              </a:rPr>
              <a:t>of</a:t>
            </a:r>
            <a:r>
              <a:rPr lang="en-US" sz="2400" spc="-10">
                <a:latin typeface="Calibri"/>
                <a:cs typeface="Calibri"/>
              </a:rPr>
              <a:t> </a:t>
            </a:r>
            <a:r>
              <a:rPr lang="en-US" sz="2400">
                <a:latin typeface="Calibri"/>
                <a:cs typeface="Calibri"/>
              </a:rPr>
              <a:t>the graph </a:t>
            </a:r>
            <a:r>
              <a:rPr lang="en-US" sz="2400" b="1">
                <a:latin typeface="Calibri"/>
                <a:cs typeface="Calibri"/>
              </a:rPr>
              <a:t>You</a:t>
            </a:r>
            <a:r>
              <a:rPr lang="en-US" sz="2400" b="1" spc="-15">
                <a:latin typeface="Calibri"/>
                <a:cs typeface="Calibri"/>
              </a:rPr>
              <a:t> </a:t>
            </a:r>
            <a:r>
              <a:rPr lang="en-US" sz="2400" b="1" spc="-5">
                <a:latin typeface="Calibri"/>
                <a:cs typeface="Calibri"/>
              </a:rPr>
              <a:t>may</a:t>
            </a:r>
            <a:r>
              <a:rPr lang="en-US" sz="2400" b="1" spc="-30">
                <a:latin typeface="Calibri"/>
                <a:cs typeface="Calibri"/>
              </a:rPr>
              <a:t> </a:t>
            </a:r>
            <a:r>
              <a:rPr lang="en-US" sz="2400" b="1">
                <a:latin typeface="Calibri"/>
                <a:cs typeface="Calibri"/>
              </a:rPr>
              <a:t>ask</a:t>
            </a:r>
            <a:r>
              <a:rPr lang="en-US" sz="2400" b="1" spc="-25">
                <a:latin typeface="Calibri"/>
                <a:cs typeface="Calibri"/>
              </a:rPr>
              <a:t> </a:t>
            </a:r>
            <a:r>
              <a:rPr lang="en-US" sz="2400" b="1" spc="-5">
                <a:latin typeface="Calibri"/>
                <a:cs typeface="Calibri"/>
              </a:rPr>
              <a:t>questions</a:t>
            </a:r>
            <a:r>
              <a:rPr lang="en-US" sz="2400" b="1">
                <a:latin typeface="Calibri"/>
                <a:cs typeface="Calibri"/>
              </a:rPr>
              <a:t> such</a:t>
            </a:r>
            <a:r>
              <a:rPr lang="en-US" sz="2400" b="1" spc="-35">
                <a:latin typeface="Calibri"/>
                <a:cs typeface="Calibri"/>
              </a:rPr>
              <a:t> </a:t>
            </a:r>
            <a:r>
              <a:rPr lang="en-US" sz="2400" b="1">
                <a:latin typeface="Calibri"/>
                <a:cs typeface="Calibri"/>
              </a:rPr>
              <a:t>ask:</a:t>
            </a:r>
            <a:endParaRPr lang="en-US" sz="2400">
              <a:latin typeface="Calibri"/>
              <a:cs typeface="Calibri"/>
            </a:endParaRPr>
          </a:p>
          <a:p>
            <a:pPr marL="812165" lvl="1" indent="-342900">
              <a:lnSpc>
                <a:spcPct val="100000"/>
              </a:lnSpc>
              <a:spcBef>
                <a:spcPts val="320"/>
              </a:spcBef>
              <a:buClr>
                <a:srgbClr val="16165D"/>
              </a:buClr>
              <a:buSzPct val="68181"/>
              <a:buFont typeface="Arial" panose="020B0604020202020204" pitchFamily="34" charset="0"/>
              <a:buChar char="•"/>
              <a:tabLst>
                <a:tab pos="756285" algn="l"/>
                <a:tab pos="756920" algn="l"/>
              </a:tabLst>
            </a:pPr>
            <a:r>
              <a:rPr lang="en-US" sz="2400" spc="-5">
                <a:latin typeface="Calibri"/>
                <a:cs typeface="Calibri"/>
              </a:rPr>
              <a:t>Where</a:t>
            </a:r>
            <a:r>
              <a:rPr lang="en-US" sz="2400" spc="10">
                <a:latin typeface="Calibri"/>
                <a:cs typeface="Calibri"/>
              </a:rPr>
              <a:t> </a:t>
            </a:r>
            <a:r>
              <a:rPr lang="en-US" sz="2400" spc="-5">
                <a:latin typeface="Calibri"/>
                <a:cs typeface="Calibri"/>
              </a:rPr>
              <a:t>is</a:t>
            </a:r>
            <a:r>
              <a:rPr lang="en-US" sz="2400">
                <a:latin typeface="Calibri"/>
                <a:cs typeface="Calibri"/>
              </a:rPr>
              <a:t> </a:t>
            </a:r>
            <a:r>
              <a:rPr lang="en-US" sz="2400" spc="-5">
                <a:latin typeface="Calibri"/>
                <a:cs typeface="Calibri"/>
              </a:rPr>
              <a:t>the</a:t>
            </a:r>
            <a:r>
              <a:rPr lang="en-US" sz="2400" spc="10">
                <a:latin typeface="Calibri"/>
                <a:cs typeface="Calibri"/>
              </a:rPr>
              <a:t> </a:t>
            </a:r>
            <a:r>
              <a:rPr lang="en-US" sz="2400" spc="-5">
                <a:latin typeface="Calibri"/>
                <a:cs typeface="Calibri"/>
              </a:rPr>
              <a:t>approximate</a:t>
            </a:r>
            <a:r>
              <a:rPr lang="en-US" sz="2400" spc="-15">
                <a:latin typeface="Calibri"/>
                <a:cs typeface="Calibri"/>
              </a:rPr>
              <a:t> </a:t>
            </a:r>
            <a:r>
              <a:rPr lang="en-US" sz="2400" spc="-5">
                <a:latin typeface="Calibri"/>
                <a:cs typeface="Calibri"/>
              </a:rPr>
              <a:t>middle,</a:t>
            </a:r>
            <a:r>
              <a:rPr lang="en-US" sz="2400">
                <a:latin typeface="Calibri"/>
                <a:cs typeface="Calibri"/>
              </a:rPr>
              <a:t> or </a:t>
            </a:r>
            <a:r>
              <a:rPr lang="en-US" sz="2400" spc="-5">
                <a:latin typeface="Calibri"/>
                <a:cs typeface="Calibri"/>
              </a:rPr>
              <a:t>center,</a:t>
            </a:r>
            <a:r>
              <a:rPr lang="en-US" sz="2400" spc="20">
                <a:latin typeface="Calibri"/>
                <a:cs typeface="Calibri"/>
              </a:rPr>
              <a:t> </a:t>
            </a:r>
            <a:r>
              <a:rPr lang="en-US" sz="2400" spc="-5">
                <a:latin typeface="Calibri"/>
                <a:cs typeface="Calibri"/>
              </a:rPr>
              <a:t>of</a:t>
            </a:r>
            <a:r>
              <a:rPr lang="en-US" sz="2400" spc="5">
                <a:latin typeface="Calibri"/>
                <a:cs typeface="Calibri"/>
              </a:rPr>
              <a:t> </a:t>
            </a:r>
            <a:r>
              <a:rPr lang="en-US" sz="2400" spc="-5">
                <a:latin typeface="Calibri"/>
                <a:cs typeface="Calibri"/>
              </a:rPr>
              <a:t>the</a:t>
            </a:r>
            <a:r>
              <a:rPr lang="en-US" sz="2400" spc="10">
                <a:latin typeface="Calibri"/>
                <a:cs typeface="Calibri"/>
              </a:rPr>
              <a:t> </a:t>
            </a:r>
            <a:r>
              <a:rPr lang="en-US" sz="2400" spc="-5">
                <a:latin typeface="Calibri"/>
                <a:cs typeface="Calibri"/>
              </a:rPr>
              <a:t>graph?</a:t>
            </a:r>
            <a:endParaRPr lang="en-US" sz="2400">
              <a:latin typeface="Calibri"/>
              <a:cs typeface="Calibri"/>
            </a:endParaRPr>
          </a:p>
          <a:p>
            <a:pPr marL="812165" lvl="1" indent="-342900">
              <a:lnSpc>
                <a:spcPct val="100000"/>
              </a:lnSpc>
              <a:spcBef>
                <a:spcPts val="300"/>
              </a:spcBef>
              <a:buClr>
                <a:srgbClr val="16165D"/>
              </a:buClr>
              <a:buSzPct val="68181"/>
              <a:buFont typeface="Arial" panose="020B0604020202020204" pitchFamily="34" charset="0"/>
              <a:buChar char="•"/>
              <a:tabLst>
                <a:tab pos="756285" algn="l"/>
                <a:tab pos="756920" algn="l"/>
              </a:tabLst>
            </a:pPr>
            <a:r>
              <a:rPr lang="en-US" sz="2400" spc="-5">
                <a:latin typeface="Calibri"/>
                <a:cs typeface="Calibri"/>
              </a:rPr>
              <a:t>How</a:t>
            </a:r>
            <a:r>
              <a:rPr lang="en-US" sz="2400" spc="10">
                <a:latin typeface="Calibri"/>
                <a:cs typeface="Calibri"/>
              </a:rPr>
              <a:t> </a:t>
            </a:r>
            <a:r>
              <a:rPr lang="en-US" sz="2400" spc="-5">
                <a:latin typeface="Calibri"/>
                <a:cs typeface="Calibri"/>
              </a:rPr>
              <a:t>spread out are</a:t>
            </a:r>
            <a:r>
              <a:rPr lang="en-US" sz="2400" spc="10">
                <a:latin typeface="Calibri"/>
                <a:cs typeface="Calibri"/>
              </a:rPr>
              <a:t> </a:t>
            </a:r>
            <a:r>
              <a:rPr lang="en-US" sz="2400" spc="-5">
                <a:latin typeface="Calibri"/>
                <a:cs typeface="Calibri"/>
              </a:rPr>
              <a:t>the data</a:t>
            </a:r>
            <a:r>
              <a:rPr lang="en-US" sz="2400" spc="5">
                <a:latin typeface="Calibri"/>
                <a:cs typeface="Calibri"/>
              </a:rPr>
              <a:t> </a:t>
            </a:r>
            <a:r>
              <a:rPr lang="en-US" sz="2400" spc="-5">
                <a:latin typeface="Calibri"/>
                <a:cs typeface="Calibri"/>
              </a:rPr>
              <a:t>values</a:t>
            </a:r>
            <a:r>
              <a:rPr lang="en-US" sz="2400" spc="5">
                <a:latin typeface="Calibri"/>
                <a:cs typeface="Calibri"/>
              </a:rPr>
              <a:t> </a:t>
            </a:r>
            <a:r>
              <a:rPr lang="en-US" sz="2400">
                <a:latin typeface="Calibri"/>
                <a:cs typeface="Calibri"/>
              </a:rPr>
              <a:t>on</a:t>
            </a:r>
            <a:r>
              <a:rPr lang="en-US" sz="2400" spc="-5">
                <a:latin typeface="Calibri"/>
                <a:cs typeface="Calibri"/>
              </a:rPr>
              <a:t> the</a:t>
            </a:r>
            <a:r>
              <a:rPr lang="en-US" sz="2400" spc="10">
                <a:latin typeface="Calibri"/>
                <a:cs typeface="Calibri"/>
              </a:rPr>
              <a:t> </a:t>
            </a:r>
            <a:r>
              <a:rPr lang="en-US" sz="2400" spc="-5">
                <a:latin typeface="Calibri"/>
                <a:cs typeface="Calibri"/>
              </a:rPr>
              <a:t>graph?</a:t>
            </a:r>
            <a:endParaRPr lang="en-US" sz="2400">
              <a:latin typeface="Calibri"/>
              <a:cs typeface="Calibri"/>
            </a:endParaRPr>
          </a:p>
          <a:p>
            <a:pPr marL="812165" lvl="1" indent="-342900">
              <a:lnSpc>
                <a:spcPct val="100000"/>
              </a:lnSpc>
              <a:spcBef>
                <a:spcPts val="300"/>
              </a:spcBef>
              <a:buClr>
                <a:srgbClr val="16165D"/>
              </a:buClr>
              <a:buSzPct val="68181"/>
              <a:buFont typeface="Arial" panose="020B0604020202020204" pitchFamily="34" charset="0"/>
              <a:buChar char="•"/>
              <a:tabLst>
                <a:tab pos="756285" algn="l"/>
                <a:tab pos="756920" algn="l"/>
              </a:tabLst>
            </a:pPr>
            <a:r>
              <a:rPr lang="en-US" sz="2400" spc="-5">
                <a:latin typeface="Calibri"/>
                <a:cs typeface="Calibri"/>
              </a:rPr>
              <a:t>What</a:t>
            </a:r>
            <a:r>
              <a:rPr lang="en-US" sz="2400">
                <a:latin typeface="Calibri"/>
                <a:cs typeface="Calibri"/>
              </a:rPr>
              <a:t> </a:t>
            </a:r>
            <a:r>
              <a:rPr lang="en-US" sz="2400" spc="-5">
                <a:latin typeface="Calibri"/>
                <a:cs typeface="Calibri"/>
              </a:rPr>
              <a:t>is</a:t>
            </a:r>
            <a:r>
              <a:rPr lang="en-US" sz="2400">
                <a:latin typeface="Calibri"/>
                <a:cs typeface="Calibri"/>
              </a:rPr>
              <a:t> </a:t>
            </a:r>
            <a:r>
              <a:rPr lang="en-US" sz="2400" spc="-5">
                <a:latin typeface="Calibri"/>
                <a:cs typeface="Calibri"/>
              </a:rPr>
              <a:t>the</a:t>
            </a:r>
            <a:r>
              <a:rPr lang="en-US" sz="2400" spc="10">
                <a:latin typeface="Calibri"/>
                <a:cs typeface="Calibri"/>
              </a:rPr>
              <a:t> </a:t>
            </a:r>
            <a:r>
              <a:rPr lang="en-US" sz="2400" spc="-5">
                <a:latin typeface="Calibri"/>
                <a:cs typeface="Calibri"/>
              </a:rPr>
              <a:t>overall</a:t>
            </a:r>
            <a:r>
              <a:rPr lang="en-US" sz="2400" spc="-20">
                <a:latin typeface="Calibri"/>
                <a:cs typeface="Calibri"/>
              </a:rPr>
              <a:t> </a:t>
            </a:r>
            <a:r>
              <a:rPr lang="en-US" sz="2400" spc="-5">
                <a:latin typeface="Calibri"/>
                <a:cs typeface="Calibri"/>
              </a:rPr>
              <a:t>shape</a:t>
            </a:r>
            <a:r>
              <a:rPr lang="en-US" sz="2400" spc="-10">
                <a:latin typeface="Calibri"/>
                <a:cs typeface="Calibri"/>
              </a:rPr>
              <a:t> </a:t>
            </a:r>
            <a:r>
              <a:rPr lang="en-US" sz="2400" spc="-5">
                <a:latin typeface="Calibri"/>
                <a:cs typeface="Calibri"/>
              </a:rPr>
              <a:t>of</a:t>
            </a:r>
            <a:r>
              <a:rPr lang="en-US" sz="2400" spc="5">
                <a:latin typeface="Calibri"/>
                <a:cs typeface="Calibri"/>
              </a:rPr>
              <a:t> </a:t>
            </a:r>
            <a:r>
              <a:rPr lang="en-US" sz="2400" spc="-5">
                <a:latin typeface="Calibri"/>
                <a:cs typeface="Calibri"/>
              </a:rPr>
              <a:t>the</a:t>
            </a:r>
            <a:r>
              <a:rPr lang="en-US" sz="2400" spc="10">
                <a:latin typeface="Calibri"/>
                <a:cs typeface="Calibri"/>
              </a:rPr>
              <a:t> </a:t>
            </a:r>
            <a:r>
              <a:rPr lang="en-US" sz="2400" spc="-5">
                <a:latin typeface="Calibri"/>
                <a:cs typeface="Calibri"/>
              </a:rPr>
              <a:t>graph?</a:t>
            </a:r>
            <a:endParaRPr lang="en-US" sz="2400">
              <a:latin typeface="Calibri"/>
              <a:cs typeface="Calibri"/>
            </a:endParaRPr>
          </a:p>
          <a:p>
            <a:pPr marL="812165" lvl="1" indent="-342900">
              <a:lnSpc>
                <a:spcPct val="100000"/>
              </a:lnSpc>
              <a:spcBef>
                <a:spcPts val="305"/>
              </a:spcBef>
              <a:buClr>
                <a:srgbClr val="16165D"/>
              </a:buClr>
              <a:buSzPct val="68181"/>
              <a:buFont typeface="Arial" panose="020B0604020202020204" pitchFamily="34" charset="0"/>
              <a:buChar char="•"/>
              <a:tabLst>
                <a:tab pos="756285" algn="l"/>
                <a:tab pos="756920" algn="l"/>
              </a:tabLst>
            </a:pPr>
            <a:r>
              <a:rPr lang="en-US" sz="2400" spc="-5">
                <a:latin typeface="Calibri"/>
                <a:cs typeface="Calibri"/>
              </a:rPr>
              <a:t>Does</a:t>
            </a:r>
            <a:r>
              <a:rPr lang="en-US" sz="2400" spc="5">
                <a:latin typeface="Calibri"/>
                <a:cs typeface="Calibri"/>
              </a:rPr>
              <a:t> </a:t>
            </a:r>
            <a:r>
              <a:rPr lang="en-US" sz="2400" spc="-5">
                <a:latin typeface="Calibri"/>
                <a:cs typeface="Calibri"/>
              </a:rPr>
              <a:t>it</a:t>
            </a:r>
            <a:r>
              <a:rPr lang="en-US" sz="2400" spc="-10">
                <a:latin typeface="Calibri"/>
                <a:cs typeface="Calibri"/>
              </a:rPr>
              <a:t> </a:t>
            </a:r>
            <a:r>
              <a:rPr lang="en-US" sz="2400" spc="-5">
                <a:latin typeface="Calibri"/>
                <a:cs typeface="Calibri"/>
              </a:rPr>
              <a:t>have</a:t>
            </a:r>
            <a:r>
              <a:rPr lang="en-US" sz="2400">
                <a:latin typeface="Calibri"/>
                <a:cs typeface="Calibri"/>
              </a:rPr>
              <a:t> </a:t>
            </a:r>
            <a:r>
              <a:rPr lang="en-US" sz="2400" spc="-5">
                <a:latin typeface="Calibri"/>
                <a:cs typeface="Calibri"/>
              </a:rPr>
              <a:t>any</a:t>
            </a:r>
            <a:r>
              <a:rPr lang="en-US" sz="2400" spc="5">
                <a:latin typeface="Calibri"/>
                <a:cs typeface="Calibri"/>
              </a:rPr>
              <a:t> </a:t>
            </a:r>
            <a:r>
              <a:rPr lang="en-US" sz="2400" spc="-5">
                <a:latin typeface="Calibri"/>
                <a:cs typeface="Calibri"/>
              </a:rPr>
              <a:t>interesting</a:t>
            </a:r>
            <a:r>
              <a:rPr lang="en-US" sz="2400" spc="10">
                <a:latin typeface="Calibri"/>
                <a:cs typeface="Calibri"/>
              </a:rPr>
              <a:t> </a:t>
            </a:r>
            <a:r>
              <a:rPr lang="en-US" sz="2400" spc="-5">
                <a:latin typeface="Calibri"/>
                <a:cs typeface="Calibri"/>
              </a:rPr>
              <a:t>patterns?</a:t>
            </a:r>
            <a:endParaRPr lang="en-US" sz="2400"/>
          </a:p>
        </p:txBody>
      </p:sp>
      <p:grpSp>
        <p:nvGrpSpPr>
          <p:cNvPr id="8" name="object 4">
            <a:extLst>
              <a:ext uri="{FF2B5EF4-FFF2-40B4-BE49-F238E27FC236}">
                <a16:creationId xmlns:a16="http://schemas.microsoft.com/office/drawing/2014/main" id="{8BE6CCD2-E117-FA0F-FC3A-341CB5DCA868}"/>
              </a:ext>
            </a:extLst>
          </p:cNvPr>
          <p:cNvGrpSpPr/>
          <p:nvPr/>
        </p:nvGrpSpPr>
        <p:grpSpPr>
          <a:xfrm>
            <a:off x="2682496" y="5102249"/>
            <a:ext cx="1637030" cy="1278890"/>
            <a:chOff x="1973579" y="4788408"/>
            <a:chExt cx="1637030" cy="1278890"/>
          </a:xfrm>
        </p:grpSpPr>
        <p:sp>
          <p:nvSpPr>
            <p:cNvPr id="9" name="object 5">
              <a:extLst>
                <a:ext uri="{FF2B5EF4-FFF2-40B4-BE49-F238E27FC236}">
                  <a16:creationId xmlns:a16="http://schemas.microsoft.com/office/drawing/2014/main" id="{7381D5A0-E013-8EC4-833F-F3267A599687}"/>
                </a:ext>
              </a:extLst>
            </p:cNvPr>
            <p:cNvSpPr/>
            <p:nvPr/>
          </p:nvSpPr>
          <p:spPr>
            <a:xfrm>
              <a:off x="3059429" y="5092446"/>
              <a:ext cx="269875" cy="965200"/>
            </a:xfrm>
            <a:custGeom>
              <a:avLst/>
              <a:gdLst/>
              <a:ahLst/>
              <a:cxnLst/>
              <a:rect l="l" t="t" r="r" b="b"/>
              <a:pathLst>
                <a:path w="269875" h="965200">
                  <a:moveTo>
                    <a:pt x="269747" y="0"/>
                  </a:moveTo>
                  <a:lnTo>
                    <a:pt x="0" y="0"/>
                  </a:lnTo>
                  <a:lnTo>
                    <a:pt x="0" y="964691"/>
                  </a:lnTo>
                  <a:lnTo>
                    <a:pt x="269747" y="964691"/>
                  </a:lnTo>
                  <a:lnTo>
                    <a:pt x="269747" y="0"/>
                  </a:lnTo>
                  <a:close/>
                </a:path>
              </a:pathLst>
            </a:custGeom>
            <a:solidFill>
              <a:srgbClr val="F1F1F1"/>
            </a:solidFill>
          </p:spPr>
          <p:txBody>
            <a:bodyPr wrap="square" lIns="0" tIns="0" rIns="0" bIns="0" rtlCol="0"/>
            <a:lstStyle/>
            <a:p>
              <a:endParaRPr/>
            </a:p>
          </p:txBody>
        </p:sp>
        <p:sp>
          <p:nvSpPr>
            <p:cNvPr id="10" name="object 6">
              <a:extLst>
                <a:ext uri="{FF2B5EF4-FFF2-40B4-BE49-F238E27FC236}">
                  <a16:creationId xmlns:a16="http://schemas.microsoft.com/office/drawing/2014/main" id="{3C2CC443-DF29-4517-58FE-ED6E860BA661}"/>
                </a:ext>
              </a:extLst>
            </p:cNvPr>
            <p:cNvSpPr/>
            <p:nvPr/>
          </p:nvSpPr>
          <p:spPr>
            <a:xfrm>
              <a:off x="3059429" y="5092446"/>
              <a:ext cx="269875" cy="965200"/>
            </a:xfrm>
            <a:custGeom>
              <a:avLst/>
              <a:gdLst/>
              <a:ahLst/>
              <a:cxnLst/>
              <a:rect l="l" t="t" r="r" b="b"/>
              <a:pathLst>
                <a:path w="269875" h="965200">
                  <a:moveTo>
                    <a:pt x="0" y="964691"/>
                  </a:moveTo>
                  <a:lnTo>
                    <a:pt x="269747" y="964691"/>
                  </a:lnTo>
                  <a:lnTo>
                    <a:pt x="269747" y="0"/>
                  </a:lnTo>
                  <a:lnTo>
                    <a:pt x="0" y="0"/>
                  </a:lnTo>
                  <a:lnTo>
                    <a:pt x="0" y="964691"/>
                  </a:lnTo>
                  <a:close/>
                </a:path>
              </a:pathLst>
            </a:custGeom>
            <a:ln w="19812">
              <a:solidFill>
                <a:srgbClr val="181866"/>
              </a:solidFill>
            </a:ln>
          </p:spPr>
          <p:txBody>
            <a:bodyPr wrap="square" lIns="0" tIns="0" rIns="0" bIns="0" rtlCol="0"/>
            <a:lstStyle/>
            <a:p>
              <a:endParaRPr/>
            </a:p>
          </p:txBody>
        </p:sp>
        <p:sp>
          <p:nvSpPr>
            <p:cNvPr id="12" name="object 7">
              <a:extLst>
                <a:ext uri="{FF2B5EF4-FFF2-40B4-BE49-F238E27FC236}">
                  <a16:creationId xmlns:a16="http://schemas.microsoft.com/office/drawing/2014/main" id="{B6457DD4-4906-2D9F-FA31-1774241EF5D4}"/>
                </a:ext>
              </a:extLst>
            </p:cNvPr>
            <p:cNvSpPr/>
            <p:nvPr/>
          </p:nvSpPr>
          <p:spPr>
            <a:xfrm>
              <a:off x="2788157" y="4798314"/>
              <a:ext cx="271780" cy="1259205"/>
            </a:xfrm>
            <a:custGeom>
              <a:avLst/>
              <a:gdLst/>
              <a:ahLst/>
              <a:cxnLst/>
              <a:rect l="l" t="t" r="r" b="b"/>
              <a:pathLst>
                <a:path w="271780" h="1259204">
                  <a:moveTo>
                    <a:pt x="271271" y="0"/>
                  </a:moveTo>
                  <a:lnTo>
                    <a:pt x="0" y="0"/>
                  </a:lnTo>
                  <a:lnTo>
                    <a:pt x="0" y="1258824"/>
                  </a:lnTo>
                  <a:lnTo>
                    <a:pt x="271271" y="1258824"/>
                  </a:lnTo>
                  <a:lnTo>
                    <a:pt x="271271" y="0"/>
                  </a:lnTo>
                  <a:close/>
                </a:path>
              </a:pathLst>
            </a:custGeom>
            <a:solidFill>
              <a:srgbClr val="F1F1F1"/>
            </a:solidFill>
          </p:spPr>
          <p:txBody>
            <a:bodyPr wrap="square" lIns="0" tIns="0" rIns="0" bIns="0" rtlCol="0"/>
            <a:lstStyle/>
            <a:p>
              <a:endParaRPr/>
            </a:p>
          </p:txBody>
        </p:sp>
        <p:sp>
          <p:nvSpPr>
            <p:cNvPr id="14" name="object 8">
              <a:extLst>
                <a:ext uri="{FF2B5EF4-FFF2-40B4-BE49-F238E27FC236}">
                  <a16:creationId xmlns:a16="http://schemas.microsoft.com/office/drawing/2014/main" id="{E20FD59A-C5B8-96DA-9F62-99327B626693}"/>
                </a:ext>
              </a:extLst>
            </p:cNvPr>
            <p:cNvSpPr/>
            <p:nvPr/>
          </p:nvSpPr>
          <p:spPr>
            <a:xfrm>
              <a:off x="2788157" y="4798314"/>
              <a:ext cx="271780" cy="1259205"/>
            </a:xfrm>
            <a:custGeom>
              <a:avLst/>
              <a:gdLst/>
              <a:ahLst/>
              <a:cxnLst/>
              <a:rect l="l" t="t" r="r" b="b"/>
              <a:pathLst>
                <a:path w="271780" h="1259204">
                  <a:moveTo>
                    <a:pt x="0" y="1258824"/>
                  </a:moveTo>
                  <a:lnTo>
                    <a:pt x="271271" y="1258824"/>
                  </a:lnTo>
                  <a:lnTo>
                    <a:pt x="271271" y="0"/>
                  </a:lnTo>
                  <a:lnTo>
                    <a:pt x="0" y="0"/>
                  </a:lnTo>
                  <a:lnTo>
                    <a:pt x="0" y="1258824"/>
                  </a:lnTo>
                  <a:close/>
                </a:path>
              </a:pathLst>
            </a:custGeom>
            <a:ln w="19812">
              <a:solidFill>
                <a:srgbClr val="181866"/>
              </a:solidFill>
            </a:ln>
          </p:spPr>
          <p:txBody>
            <a:bodyPr wrap="square" lIns="0" tIns="0" rIns="0" bIns="0" rtlCol="0"/>
            <a:lstStyle/>
            <a:p>
              <a:endParaRPr/>
            </a:p>
          </p:txBody>
        </p:sp>
        <p:sp>
          <p:nvSpPr>
            <p:cNvPr id="16" name="object 9">
              <a:extLst>
                <a:ext uri="{FF2B5EF4-FFF2-40B4-BE49-F238E27FC236}">
                  <a16:creationId xmlns:a16="http://schemas.microsoft.com/office/drawing/2014/main" id="{6204B650-D5F0-393C-7E0E-7D982D1FF148}"/>
                </a:ext>
              </a:extLst>
            </p:cNvPr>
            <p:cNvSpPr/>
            <p:nvPr/>
          </p:nvSpPr>
          <p:spPr>
            <a:xfrm>
              <a:off x="2515361" y="5004054"/>
              <a:ext cx="273050" cy="1053465"/>
            </a:xfrm>
            <a:custGeom>
              <a:avLst/>
              <a:gdLst/>
              <a:ahLst/>
              <a:cxnLst/>
              <a:rect l="l" t="t" r="r" b="b"/>
              <a:pathLst>
                <a:path w="273050" h="1053464">
                  <a:moveTo>
                    <a:pt x="272795" y="0"/>
                  </a:moveTo>
                  <a:lnTo>
                    <a:pt x="0" y="0"/>
                  </a:lnTo>
                  <a:lnTo>
                    <a:pt x="0" y="1053084"/>
                  </a:lnTo>
                  <a:lnTo>
                    <a:pt x="272795" y="1053084"/>
                  </a:lnTo>
                  <a:lnTo>
                    <a:pt x="272795" y="0"/>
                  </a:lnTo>
                  <a:close/>
                </a:path>
              </a:pathLst>
            </a:custGeom>
            <a:solidFill>
              <a:srgbClr val="F1F1F1"/>
            </a:solidFill>
          </p:spPr>
          <p:txBody>
            <a:bodyPr wrap="square" lIns="0" tIns="0" rIns="0" bIns="0" rtlCol="0"/>
            <a:lstStyle/>
            <a:p>
              <a:endParaRPr/>
            </a:p>
          </p:txBody>
        </p:sp>
        <p:sp>
          <p:nvSpPr>
            <p:cNvPr id="17" name="object 10">
              <a:extLst>
                <a:ext uri="{FF2B5EF4-FFF2-40B4-BE49-F238E27FC236}">
                  <a16:creationId xmlns:a16="http://schemas.microsoft.com/office/drawing/2014/main" id="{1045F677-F2E7-505E-DDF5-FFA97E7AF9A1}"/>
                </a:ext>
              </a:extLst>
            </p:cNvPr>
            <p:cNvSpPr/>
            <p:nvPr/>
          </p:nvSpPr>
          <p:spPr>
            <a:xfrm>
              <a:off x="2515361" y="5004054"/>
              <a:ext cx="273050" cy="1053465"/>
            </a:xfrm>
            <a:custGeom>
              <a:avLst/>
              <a:gdLst/>
              <a:ahLst/>
              <a:cxnLst/>
              <a:rect l="l" t="t" r="r" b="b"/>
              <a:pathLst>
                <a:path w="273050" h="1053464">
                  <a:moveTo>
                    <a:pt x="0" y="1053084"/>
                  </a:moveTo>
                  <a:lnTo>
                    <a:pt x="272795" y="1053084"/>
                  </a:lnTo>
                  <a:lnTo>
                    <a:pt x="272795" y="0"/>
                  </a:lnTo>
                  <a:lnTo>
                    <a:pt x="0" y="0"/>
                  </a:lnTo>
                  <a:lnTo>
                    <a:pt x="0" y="1053084"/>
                  </a:lnTo>
                  <a:close/>
                </a:path>
              </a:pathLst>
            </a:custGeom>
            <a:ln w="19812">
              <a:solidFill>
                <a:srgbClr val="181866"/>
              </a:solidFill>
            </a:ln>
          </p:spPr>
          <p:txBody>
            <a:bodyPr wrap="square" lIns="0" tIns="0" rIns="0" bIns="0" rtlCol="0"/>
            <a:lstStyle/>
            <a:p>
              <a:endParaRPr/>
            </a:p>
          </p:txBody>
        </p:sp>
        <p:sp>
          <p:nvSpPr>
            <p:cNvPr id="18" name="object 11">
              <a:extLst>
                <a:ext uri="{FF2B5EF4-FFF2-40B4-BE49-F238E27FC236}">
                  <a16:creationId xmlns:a16="http://schemas.microsoft.com/office/drawing/2014/main" id="{AB0EAA71-3FE4-8366-C9DD-AB4F1055B4A5}"/>
                </a:ext>
              </a:extLst>
            </p:cNvPr>
            <p:cNvSpPr/>
            <p:nvPr/>
          </p:nvSpPr>
          <p:spPr>
            <a:xfrm>
              <a:off x="2244089" y="5430774"/>
              <a:ext cx="271780" cy="626745"/>
            </a:xfrm>
            <a:custGeom>
              <a:avLst/>
              <a:gdLst/>
              <a:ahLst/>
              <a:cxnLst/>
              <a:rect l="l" t="t" r="r" b="b"/>
              <a:pathLst>
                <a:path w="271780" h="626745">
                  <a:moveTo>
                    <a:pt x="271272" y="0"/>
                  </a:moveTo>
                  <a:lnTo>
                    <a:pt x="0" y="0"/>
                  </a:lnTo>
                  <a:lnTo>
                    <a:pt x="0" y="626363"/>
                  </a:lnTo>
                  <a:lnTo>
                    <a:pt x="271272" y="626363"/>
                  </a:lnTo>
                  <a:lnTo>
                    <a:pt x="271272" y="0"/>
                  </a:lnTo>
                  <a:close/>
                </a:path>
              </a:pathLst>
            </a:custGeom>
            <a:solidFill>
              <a:srgbClr val="F1F1F1"/>
            </a:solidFill>
          </p:spPr>
          <p:txBody>
            <a:bodyPr wrap="square" lIns="0" tIns="0" rIns="0" bIns="0" rtlCol="0"/>
            <a:lstStyle/>
            <a:p>
              <a:endParaRPr/>
            </a:p>
          </p:txBody>
        </p:sp>
        <p:sp>
          <p:nvSpPr>
            <p:cNvPr id="19" name="object 12">
              <a:extLst>
                <a:ext uri="{FF2B5EF4-FFF2-40B4-BE49-F238E27FC236}">
                  <a16:creationId xmlns:a16="http://schemas.microsoft.com/office/drawing/2014/main" id="{E762D07A-60D8-7CA4-B04F-018810174488}"/>
                </a:ext>
              </a:extLst>
            </p:cNvPr>
            <p:cNvSpPr/>
            <p:nvPr/>
          </p:nvSpPr>
          <p:spPr>
            <a:xfrm>
              <a:off x="2244089" y="5430774"/>
              <a:ext cx="271780" cy="626745"/>
            </a:xfrm>
            <a:custGeom>
              <a:avLst/>
              <a:gdLst/>
              <a:ahLst/>
              <a:cxnLst/>
              <a:rect l="l" t="t" r="r" b="b"/>
              <a:pathLst>
                <a:path w="271780" h="626745">
                  <a:moveTo>
                    <a:pt x="0" y="626363"/>
                  </a:moveTo>
                  <a:lnTo>
                    <a:pt x="271272" y="626363"/>
                  </a:lnTo>
                  <a:lnTo>
                    <a:pt x="271272" y="0"/>
                  </a:lnTo>
                  <a:lnTo>
                    <a:pt x="0" y="0"/>
                  </a:lnTo>
                  <a:lnTo>
                    <a:pt x="0" y="626363"/>
                  </a:lnTo>
                  <a:close/>
                </a:path>
              </a:pathLst>
            </a:custGeom>
            <a:ln w="19812">
              <a:solidFill>
                <a:srgbClr val="181866"/>
              </a:solidFill>
            </a:ln>
          </p:spPr>
          <p:txBody>
            <a:bodyPr wrap="square" lIns="0" tIns="0" rIns="0" bIns="0" rtlCol="0"/>
            <a:lstStyle/>
            <a:p>
              <a:endParaRPr/>
            </a:p>
          </p:txBody>
        </p:sp>
        <p:sp>
          <p:nvSpPr>
            <p:cNvPr id="20" name="object 13">
              <a:extLst>
                <a:ext uri="{FF2B5EF4-FFF2-40B4-BE49-F238E27FC236}">
                  <a16:creationId xmlns:a16="http://schemas.microsoft.com/office/drawing/2014/main" id="{25384E11-6F5B-4E1F-6C84-2BD730D6449A}"/>
                </a:ext>
              </a:extLst>
            </p:cNvPr>
            <p:cNvSpPr/>
            <p:nvPr/>
          </p:nvSpPr>
          <p:spPr>
            <a:xfrm>
              <a:off x="1983485" y="5636514"/>
              <a:ext cx="260985" cy="421005"/>
            </a:xfrm>
            <a:custGeom>
              <a:avLst/>
              <a:gdLst/>
              <a:ahLst/>
              <a:cxnLst/>
              <a:rect l="l" t="t" r="r" b="b"/>
              <a:pathLst>
                <a:path w="260985" h="421004">
                  <a:moveTo>
                    <a:pt x="260604" y="0"/>
                  </a:moveTo>
                  <a:lnTo>
                    <a:pt x="0" y="0"/>
                  </a:lnTo>
                  <a:lnTo>
                    <a:pt x="0" y="420624"/>
                  </a:lnTo>
                  <a:lnTo>
                    <a:pt x="260604" y="420624"/>
                  </a:lnTo>
                  <a:lnTo>
                    <a:pt x="260604" y="0"/>
                  </a:lnTo>
                  <a:close/>
                </a:path>
              </a:pathLst>
            </a:custGeom>
            <a:solidFill>
              <a:srgbClr val="F1F1F1"/>
            </a:solidFill>
          </p:spPr>
          <p:txBody>
            <a:bodyPr wrap="square" lIns="0" tIns="0" rIns="0" bIns="0" rtlCol="0"/>
            <a:lstStyle/>
            <a:p>
              <a:endParaRPr/>
            </a:p>
          </p:txBody>
        </p:sp>
        <p:sp>
          <p:nvSpPr>
            <p:cNvPr id="21" name="object 14">
              <a:extLst>
                <a:ext uri="{FF2B5EF4-FFF2-40B4-BE49-F238E27FC236}">
                  <a16:creationId xmlns:a16="http://schemas.microsoft.com/office/drawing/2014/main" id="{76A2A92C-FE00-A2C9-35F6-EEEBF1E12BC8}"/>
                </a:ext>
              </a:extLst>
            </p:cNvPr>
            <p:cNvSpPr/>
            <p:nvPr/>
          </p:nvSpPr>
          <p:spPr>
            <a:xfrm>
              <a:off x="1983485" y="5636514"/>
              <a:ext cx="260985" cy="421005"/>
            </a:xfrm>
            <a:custGeom>
              <a:avLst/>
              <a:gdLst/>
              <a:ahLst/>
              <a:cxnLst/>
              <a:rect l="l" t="t" r="r" b="b"/>
              <a:pathLst>
                <a:path w="260985" h="421004">
                  <a:moveTo>
                    <a:pt x="0" y="420624"/>
                  </a:moveTo>
                  <a:lnTo>
                    <a:pt x="260604" y="420624"/>
                  </a:lnTo>
                  <a:lnTo>
                    <a:pt x="260604" y="0"/>
                  </a:lnTo>
                  <a:lnTo>
                    <a:pt x="0" y="0"/>
                  </a:lnTo>
                  <a:lnTo>
                    <a:pt x="0" y="420624"/>
                  </a:lnTo>
                  <a:close/>
                </a:path>
              </a:pathLst>
            </a:custGeom>
            <a:ln w="19812">
              <a:solidFill>
                <a:srgbClr val="181866"/>
              </a:solidFill>
            </a:ln>
          </p:spPr>
          <p:txBody>
            <a:bodyPr wrap="square" lIns="0" tIns="0" rIns="0" bIns="0" rtlCol="0"/>
            <a:lstStyle/>
            <a:p>
              <a:endParaRPr/>
            </a:p>
          </p:txBody>
        </p:sp>
        <p:sp>
          <p:nvSpPr>
            <p:cNvPr id="22" name="object 15">
              <a:extLst>
                <a:ext uri="{FF2B5EF4-FFF2-40B4-BE49-F238E27FC236}">
                  <a16:creationId xmlns:a16="http://schemas.microsoft.com/office/drawing/2014/main" id="{99CE851B-9B1B-0F8C-64F6-D7952198CDA5}"/>
                </a:ext>
              </a:extLst>
            </p:cNvPr>
            <p:cNvSpPr/>
            <p:nvPr/>
          </p:nvSpPr>
          <p:spPr>
            <a:xfrm>
              <a:off x="3329177" y="5636514"/>
              <a:ext cx="271780" cy="421005"/>
            </a:xfrm>
            <a:custGeom>
              <a:avLst/>
              <a:gdLst/>
              <a:ahLst/>
              <a:cxnLst/>
              <a:rect l="l" t="t" r="r" b="b"/>
              <a:pathLst>
                <a:path w="271779" h="421004">
                  <a:moveTo>
                    <a:pt x="271272" y="0"/>
                  </a:moveTo>
                  <a:lnTo>
                    <a:pt x="0" y="0"/>
                  </a:lnTo>
                  <a:lnTo>
                    <a:pt x="0" y="420624"/>
                  </a:lnTo>
                  <a:lnTo>
                    <a:pt x="271272" y="420624"/>
                  </a:lnTo>
                  <a:lnTo>
                    <a:pt x="271272" y="0"/>
                  </a:lnTo>
                  <a:close/>
                </a:path>
              </a:pathLst>
            </a:custGeom>
            <a:solidFill>
              <a:srgbClr val="F1F1F1"/>
            </a:solidFill>
          </p:spPr>
          <p:txBody>
            <a:bodyPr wrap="square" lIns="0" tIns="0" rIns="0" bIns="0" rtlCol="0"/>
            <a:lstStyle/>
            <a:p>
              <a:endParaRPr/>
            </a:p>
          </p:txBody>
        </p:sp>
        <p:sp>
          <p:nvSpPr>
            <p:cNvPr id="23" name="object 16">
              <a:extLst>
                <a:ext uri="{FF2B5EF4-FFF2-40B4-BE49-F238E27FC236}">
                  <a16:creationId xmlns:a16="http://schemas.microsoft.com/office/drawing/2014/main" id="{7ADCA994-731C-59FF-BC54-E808E93FFDD5}"/>
                </a:ext>
              </a:extLst>
            </p:cNvPr>
            <p:cNvSpPr/>
            <p:nvPr/>
          </p:nvSpPr>
          <p:spPr>
            <a:xfrm>
              <a:off x="3329177" y="5636514"/>
              <a:ext cx="271780" cy="421005"/>
            </a:xfrm>
            <a:custGeom>
              <a:avLst/>
              <a:gdLst/>
              <a:ahLst/>
              <a:cxnLst/>
              <a:rect l="l" t="t" r="r" b="b"/>
              <a:pathLst>
                <a:path w="271779" h="421004">
                  <a:moveTo>
                    <a:pt x="0" y="420624"/>
                  </a:moveTo>
                  <a:lnTo>
                    <a:pt x="271272" y="420624"/>
                  </a:lnTo>
                  <a:lnTo>
                    <a:pt x="271272" y="0"/>
                  </a:lnTo>
                  <a:lnTo>
                    <a:pt x="0" y="0"/>
                  </a:lnTo>
                  <a:lnTo>
                    <a:pt x="0" y="420624"/>
                  </a:lnTo>
                  <a:close/>
                </a:path>
              </a:pathLst>
            </a:custGeom>
            <a:ln w="19812">
              <a:solidFill>
                <a:srgbClr val="181866"/>
              </a:solidFill>
            </a:ln>
          </p:spPr>
          <p:txBody>
            <a:bodyPr wrap="square" lIns="0" tIns="0" rIns="0" bIns="0" rtlCol="0"/>
            <a:lstStyle/>
            <a:p>
              <a:endParaRPr/>
            </a:p>
          </p:txBody>
        </p:sp>
      </p:grpSp>
      <p:grpSp>
        <p:nvGrpSpPr>
          <p:cNvPr id="24" name="object 17">
            <a:extLst>
              <a:ext uri="{FF2B5EF4-FFF2-40B4-BE49-F238E27FC236}">
                <a16:creationId xmlns:a16="http://schemas.microsoft.com/office/drawing/2014/main" id="{A43FC7F2-4922-9FAF-3EB5-8E5DE2B54D5C}"/>
              </a:ext>
            </a:extLst>
          </p:cNvPr>
          <p:cNvGrpSpPr/>
          <p:nvPr/>
        </p:nvGrpSpPr>
        <p:grpSpPr>
          <a:xfrm>
            <a:off x="6919217" y="5302655"/>
            <a:ext cx="962025" cy="1068070"/>
            <a:chOff x="6210300" y="4988814"/>
            <a:chExt cx="962025" cy="1068070"/>
          </a:xfrm>
        </p:grpSpPr>
        <p:sp>
          <p:nvSpPr>
            <p:cNvPr id="25" name="object 18">
              <a:extLst>
                <a:ext uri="{FF2B5EF4-FFF2-40B4-BE49-F238E27FC236}">
                  <a16:creationId xmlns:a16="http://schemas.microsoft.com/office/drawing/2014/main" id="{5305DE9E-D75D-3002-30C5-401778E0DC86}"/>
                </a:ext>
              </a:extLst>
            </p:cNvPr>
            <p:cNvSpPr/>
            <p:nvPr/>
          </p:nvSpPr>
          <p:spPr>
            <a:xfrm>
              <a:off x="6691122" y="4988814"/>
              <a:ext cx="0" cy="1068070"/>
            </a:xfrm>
            <a:custGeom>
              <a:avLst/>
              <a:gdLst/>
              <a:ahLst/>
              <a:cxnLst/>
              <a:rect l="l" t="t" r="r" b="b"/>
              <a:pathLst>
                <a:path h="1068070">
                  <a:moveTo>
                    <a:pt x="0" y="725424"/>
                  </a:moveTo>
                  <a:lnTo>
                    <a:pt x="0" y="1067816"/>
                  </a:lnTo>
                </a:path>
                <a:path h="1068070">
                  <a:moveTo>
                    <a:pt x="0" y="0"/>
                  </a:moveTo>
                  <a:lnTo>
                    <a:pt x="0" y="431292"/>
                  </a:lnTo>
                </a:path>
              </a:pathLst>
            </a:custGeom>
            <a:ln w="19811">
              <a:solidFill>
                <a:srgbClr val="000000"/>
              </a:solidFill>
            </a:ln>
          </p:spPr>
          <p:txBody>
            <a:bodyPr wrap="square" lIns="0" tIns="0" rIns="0" bIns="0" rtlCol="0"/>
            <a:lstStyle/>
            <a:p>
              <a:endParaRPr/>
            </a:p>
          </p:txBody>
        </p:sp>
        <p:sp>
          <p:nvSpPr>
            <p:cNvPr id="26" name="object 19">
              <a:extLst>
                <a:ext uri="{FF2B5EF4-FFF2-40B4-BE49-F238E27FC236}">
                  <a16:creationId xmlns:a16="http://schemas.microsoft.com/office/drawing/2014/main" id="{78A21C5D-5195-896F-E8CC-CD1ADA230212}"/>
                </a:ext>
              </a:extLst>
            </p:cNvPr>
            <p:cNvSpPr/>
            <p:nvPr/>
          </p:nvSpPr>
          <p:spPr>
            <a:xfrm>
              <a:off x="6220205" y="5420106"/>
              <a:ext cx="942340" cy="294640"/>
            </a:xfrm>
            <a:custGeom>
              <a:avLst/>
              <a:gdLst/>
              <a:ahLst/>
              <a:cxnLst/>
              <a:rect l="l" t="t" r="r" b="b"/>
              <a:pathLst>
                <a:path w="942340" h="294639">
                  <a:moveTo>
                    <a:pt x="941831" y="0"/>
                  </a:moveTo>
                  <a:lnTo>
                    <a:pt x="0" y="0"/>
                  </a:lnTo>
                  <a:lnTo>
                    <a:pt x="0" y="294132"/>
                  </a:lnTo>
                  <a:lnTo>
                    <a:pt x="941831" y="294132"/>
                  </a:lnTo>
                  <a:lnTo>
                    <a:pt x="941831" y="0"/>
                  </a:lnTo>
                  <a:close/>
                </a:path>
              </a:pathLst>
            </a:custGeom>
            <a:solidFill>
              <a:srgbClr val="FF6464"/>
            </a:solidFill>
          </p:spPr>
          <p:txBody>
            <a:bodyPr wrap="square" lIns="0" tIns="0" rIns="0" bIns="0" rtlCol="0"/>
            <a:lstStyle/>
            <a:p>
              <a:endParaRPr/>
            </a:p>
          </p:txBody>
        </p:sp>
        <p:sp>
          <p:nvSpPr>
            <p:cNvPr id="27" name="object 20">
              <a:extLst>
                <a:ext uri="{FF2B5EF4-FFF2-40B4-BE49-F238E27FC236}">
                  <a16:creationId xmlns:a16="http://schemas.microsoft.com/office/drawing/2014/main" id="{8A604E1C-610E-EBC3-397D-8690A9FCCDE8}"/>
                </a:ext>
              </a:extLst>
            </p:cNvPr>
            <p:cNvSpPr/>
            <p:nvPr/>
          </p:nvSpPr>
          <p:spPr>
            <a:xfrm>
              <a:off x="6220205" y="5420106"/>
              <a:ext cx="942340" cy="294640"/>
            </a:xfrm>
            <a:custGeom>
              <a:avLst/>
              <a:gdLst/>
              <a:ahLst/>
              <a:cxnLst/>
              <a:rect l="l" t="t" r="r" b="b"/>
              <a:pathLst>
                <a:path w="942340" h="294639">
                  <a:moveTo>
                    <a:pt x="0" y="294132"/>
                  </a:moveTo>
                  <a:lnTo>
                    <a:pt x="941831" y="294132"/>
                  </a:lnTo>
                  <a:lnTo>
                    <a:pt x="941831" y="0"/>
                  </a:lnTo>
                  <a:lnTo>
                    <a:pt x="0" y="0"/>
                  </a:lnTo>
                  <a:lnTo>
                    <a:pt x="0" y="294132"/>
                  </a:lnTo>
                  <a:close/>
                </a:path>
              </a:pathLst>
            </a:custGeom>
            <a:ln w="19812">
              <a:solidFill>
                <a:srgbClr val="000000"/>
              </a:solidFill>
            </a:ln>
          </p:spPr>
          <p:txBody>
            <a:bodyPr wrap="square" lIns="0" tIns="0" rIns="0" bIns="0" rtlCol="0"/>
            <a:lstStyle/>
            <a:p>
              <a:endParaRPr/>
            </a:p>
          </p:txBody>
        </p:sp>
        <p:sp>
          <p:nvSpPr>
            <p:cNvPr id="28" name="object 21">
              <a:extLst>
                <a:ext uri="{FF2B5EF4-FFF2-40B4-BE49-F238E27FC236}">
                  <a16:creationId xmlns:a16="http://schemas.microsoft.com/office/drawing/2014/main" id="{CBD51531-5DF0-054D-A3A4-C3705F9C0D1C}"/>
                </a:ext>
              </a:extLst>
            </p:cNvPr>
            <p:cNvSpPr/>
            <p:nvPr/>
          </p:nvSpPr>
          <p:spPr>
            <a:xfrm>
              <a:off x="6220205" y="5530596"/>
              <a:ext cx="942340" cy="20320"/>
            </a:xfrm>
            <a:custGeom>
              <a:avLst/>
              <a:gdLst/>
              <a:ahLst/>
              <a:cxnLst/>
              <a:rect l="l" t="t" r="r" b="b"/>
              <a:pathLst>
                <a:path w="942340" h="20320">
                  <a:moveTo>
                    <a:pt x="0" y="19811"/>
                  </a:moveTo>
                  <a:lnTo>
                    <a:pt x="942213" y="19811"/>
                  </a:lnTo>
                  <a:lnTo>
                    <a:pt x="942213" y="0"/>
                  </a:lnTo>
                  <a:lnTo>
                    <a:pt x="0" y="0"/>
                  </a:lnTo>
                  <a:lnTo>
                    <a:pt x="0" y="19811"/>
                  </a:lnTo>
                  <a:close/>
                </a:path>
              </a:pathLst>
            </a:custGeom>
            <a:solidFill>
              <a:srgbClr val="000000"/>
            </a:solidFill>
          </p:spPr>
          <p:txBody>
            <a:bodyPr wrap="square" lIns="0" tIns="0" rIns="0" bIns="0" rtlCol="0"/>
            <a:lstStyle/>
            <a:p>
              <a:endParaRPr/>
            </a:p>
          </p:txBody>
        </p:sp>
      </p:grpSp>
      <p:pic>
        <p:nvPicPr>
          <p:cNvPr id="29" name="object 23">
            <a:extLst>
              <a:ext uri="{FF2B5EF4-FFF2-40B4-BE49-F238E27FC236}">
                <a16:creationId xmlns:a16="http://schemas.microsoft.com/office/drawing/2014/main" id="{C70DBF3D-7AEF-BC19-F632-789E1C9B7F59}"/>
              </a:ext>
            </a:extLst>
          </p:cNvPr>
          <p:cNvPicPr/>
          <p:nvPr/>
        </p:nvPicPr>
        <p:blipFill>
          <a:blip r:embed="rId3" cstate="print"/>
          <a:stretch>
            <a:fillRect/>
          </a:stretch>
        </p:blipFill>
        <p:spPr>
          <a:xfrm>
            <a:off x="5140708" y="5396381"/>
            <a:ext cx="1094232" cy="973836"/>
          </a:xfrm>
          <a:prstGeom prst="rect">
            <a:avLst/>
          </a:prstGeom>
        </p:spPr>
      </p:pic>
      <p:sp>
        <p:nvSpPr>
          <p:cNvPr id="30" name="TextBox 29">
            <a:extLst>
              <a:ext uri="{FF2B5EF4-FFF2-40B4-BE49-F238E27FC236}">
                <a16:creationId xmlns:a16="http://schemas.microsoft.com/office/drawing/2014/main" id="{F332E14A-5A10-8E3A-ECAD-5388E74CEB4B}"/>
              </a:ext>
            </a:extLst>
          </p:cNvPr>
          <p:cNvSpPr txBox="1"/>
          <p:nvPr/>
        </p:nvSpPr>
        <p:spPr>
          <a:xfrm>
            <a:off x="6497354" y="6470393"/>
            <a:ext cx="6098763" cy="646331"/>
          </a:xfrm>
          <a:prstGeom prst="rect">
            <a:avLst/>
          </a:prstGeom>
          <a:noFill/>
        </p:spPr>
        <p:txBody>
          <a:bodyPr wrap="square" rtlCol="0">
            <a:spAutoFit/>
          </a:bodyPr>
          <a:lstStyle/>
          <a:p>
            <a:r>
              <a:rPr lang="en-MY"/>
              <a:t>From </a:t>
            </a:r>
            <a:r>
              <a:rPr lang="en-MY" sz="1800" spc="-10">
                <a:solidFill>
                  <a:srgbClr val="585858"/>
                </a:solidFill>
                <a:latin typeface="Calibri"/>
                <a:cs typeface="Calibri"/>
              </a:rPr>
              <a:t>Continuous</a:t>
            </a:r>
            <a:r>
              <a:rPr lang="en-MY" sz="1800" spc="5">
                <a:solidFill>
                  <a:srgbClr val="585858"/>
                </a:solidFill>
                <a:latin typeface="Calibri"/>
                <a:cs typeface="Calibri"/>
              </a:rPr>
              <a:t> </a:t>
            </a:r>
            <a:r>
              <a:rPr lang="en-MY" sz="1800" spc="-10">
                <a:solidFill>
                  <a:srgbClr val="585858"/>
                </a:solidFill>
                <a:latin typeface="Calibri"/>
                <a:cs typeface="Calibri"/>
              </a:rPr>
              <a:t>Improvement</a:t>
            </a:r>
            <a:r>
              <a:rPr lang="en-MY" sz="1800" spc="30">
                <a:solidFill>
                  <a:srgbClr val="585858"/>
                </a:solidFill>
                <a:latin typeface="Calibri"/>
                <a:cs typeface="Calibri"/>
              </a:rPr>
              <a:t> </a:t>
            </a:r>
            <a:r>
              <a:rPr lang="en-MY" sz="1800" spc="-30">
                <a:solidFill>
                  <a:srgbClr val="585858"/>
                </a:solidFill>
                <a:latin typeface="Calibri"/>
                <a:cs typeface="Calibri"/>
              </a:rPr>
              <a:t>Toolkit</a:t>
            </a:r>
            <a:r>
              <a:rPr lang="en-MY" sz="1800" spc="40">
                <a:solidFill>
                  <a:srgbClr val="585858"/>
                </a:solidFill>
                <a:latin typeface="Calibri"/>
                <a:cs typeface="Calibri"/>
              </a:rPr>
              <a:t> </a:t>
            </a:r>
            <a:r>
              <a:rPr lang="en-MY" sz="1800" b="1" spc="-5">
                <a:solidFill>
                  <a:srgbClr val="585858"/>
                </a:solidFill>
                <a:latin typeface="Calibri"/>
                <a:cs typeface="Calibri"/>
              </a:rPr>
              <a:t>.</a:t>
            </a:r>
            <a:r>
              <a:rPr lang="en-MY" sz="1800" b="1">
                <a:solidFill>
                  <a:srgbClr val="585858"/>
                </a:solidFill>
                <a:latin typeface="Calibri"/>
                <a:cs typeface="Calibri"/>
              </a:rPr>
              <a:t> </a:t>
            </a:r>
            <a:r>
              <a:rPr lang="en-MY" sz="1800" u="heavy" spc="-15">
                <a:solidFill>
                  <a:srgbClr val="585858"/>
                </a:solidFill>
                <a:uFill>
                  <a:solidFill>
                    <a:srgbClr val="585858"/>
                  </a:solidFill>
                </a:uFill>
                <a:latin typeface="Calibri"/>
                <a:cs typeface="Calibri"/>
                <a:hlinkClick r:id="rId4"/>
              </a:rPr>
              <a:t>www.citoolkit.com</a:t>
            </a:r>
            <a:endParaRPr lang="en-MY" sz="1800">
              <a:latin typeface="Calibri"/>
              <a:cs typeface="Calibri"/>
            </a:endParaRPr>
          </a:p>
          <a:p>
            <a:endParaRPr lang="en-MY"/>
          </a:p>
        </p:txBody>
      </p:sp>
      <p:pic>
        <p:nvPicPr>
          <p:cNvPr id="3" name="Picture 2">
            <a:extLst>
              <a:ext uri="{FF2B5EF4-FFF2-40B4-BE49-F238E27FC236}">
                <a16:creationId xmlns:a16="http://schemas.microsoft.com/office/drawing/2014/main" id="{7FCCC56B-318F-FACA-83D8-835B5B47015D}"/>
              </a:ext>
            </a:extLst>
          </p:cNvPr>
          <p:cNvPicPr>
            <a:picLocks noChangeAspect="1"/>
          </p:cNvPicPr>
          <p:nvPr/>
        </p:nvPicPr>
        <p:blipFill>
          <a:blip r:embed="rId5"/>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920090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70" y="2399809"/>
            <a:ext cx="10818175" cy="3492868"/>
          </a:xfrm>
          <a:prstGeom prst="rect">
            <a:avLst/>
          </a:prstGeom>
        </p:spPr>
        <p:txBody>
          <a:bodyPr vert="horz" lIns="91440" tIns="45720" rIns="91440" bIns="45720" rtlCol="0">
            <a:normAutofit/>
          </a:bodyPr>
          <a:lstStyle/>
          <a:p>
            <a:pPr marL="355600" marR="5080" indent="-342900">
              <a:lnSpc>
                <a:spcPct val="100000"/>
              </a:lnSpc>
              <a:spcBef>
                <a:spcPts val="100"/>
              </a:spcBef>
              <a:buClr>
                <a:srgbClr val="16165D"/>
              </a:buClr>
              <a:buSzPct val="68750"/>
              <a:buFont typeface="Arial" panose="020B0604020202020204" pitchFamily="34" charset="0"/>
              <a:buChar char="•"/>
              <a:tabLst>
                <a:tab pos="354965" algn="l"/>
                <a:tab pos="355600" algn="l"/>
              </a:tabLst>
            </a:pPr>
            <a:r>
              <a:rPr lang="en-US" sz="2400"/>
              <a:t>Measures of Frequency</a:t>
            </a:r>
          </a:p>
          <a:p>
            <a:pPr marL="355600" marR="5080" indent="-342900">
              <a:lnSpc>
                <a:spcPct val="100000"/>
              </a:lnSpc>
              <a:spcBef>
                <a:spcPts val="100"/>
              </a:spcBef>
              <a:buClr>
                <a:srgbClr val="16165D"/>
              </a:buClr>
              <a:buSzPct val="68750"/>
              <a:buFont typeface="Arial" panose="020B0604020202020204" pitchFamily="34" charset="0"/>
              <a:buChar char="•"/>
              <a:tabLst>
                <a:tab pos="354965" algn="l"/>
                <a:tab pos="355600" algn="l"/>
              </a:tabLst>
            </a:pPr>
            <a:r>
              <a:rPr lang="en-US" sz="2400"/>
              <a:t>Measures of Central Tendency</a:t>
            </a:r>
          </a:p>
          <a:p>
            <a:pPr marL="355600" marR="5080" indent="-342900">
              <a:lnSpc>
                <a:spcPct val="100000"/>
              </a:lnSpc>
              <a:spcBef>
                <a:spcPts val="100"/>
              </a:spcBef>
              <a:buClr>
                <a:srgbClr val="16165D"/>
              </a:buClr>
              <a:buSzPct val="68750"/>
              <a:buFont typeface="Arial" panose="020B0604020202020204" pitchFamily="34" charset="0"/>
              <a:buChar char="•"/>
              <a:tabLst>
                <a:tab pos="354965" algn="l"/>
                <a:tab pos="355600" algn="l"/>
              </a:tabLst>
            </a:pPr>
            <a:r>
              <a:rPr lang="en-US" sz="2400"/>
              <a:t>Measures of Dispersion or Variation</a:t>
            </a:r>
          </a:p>
        </p:txBody>
      </p:sp>
      <p:pic>
        <p:nvPicPr>
          <p:cNvPr id="3" name="Picture 2">
            <a:extLst>
              <a:ext uri="{FF2B5EF4-FFF2-40B4-BE49-F238E27FC236}">
                <a16:creationId xmlns:a16="http://schemas.microsoft.com/office/drawing/2014/main" id="{ADA1B6FA-DE25-03A5-F12A-814E72EAA838}"/>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38871253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70" y="2399809"/>
            <a:ext cx="10818175" cy="3492868"/>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2400" b="1"/>
              <a:t>Measures of Frequency</a:t>
            </a:r>
          </a:p>
          <a:p>
            <a:pPr marL="12700" marR="5080">
              <a:lnSpc>
                <a:spcPct val="100000"/>
              </a:lnSpc>
              <a:spcBef>
                <a:spcPts val="100"/>
              </a:spcBef>
              <a:buClr>
                <a:srgbClr val="16165D"/>
              </a:buClr>
              <a:buSzPct val="68750"/>
              <a:tabLst>
                <a:tab pos="354965" algn="l"/>
                <a:tab pos="355600" algn="l"/>
              </a:tabLst>
            </a:pPr>
            <a:endParaRPr lang="en-US" sz="2400" b="1"/>
          </a:p>
          <a:p>
            <a:pPr marL="355600" marR="5080" indent="-342900">
              <a:lnSpc>
                <a:spcPct val="100000"/>
              </a:lnSpc>
              <a:spcBef>
                <a:spcPts val="100"/>
              </a:spcBef>
              <a:buClr>
                <a:srgbClr val="16165D"/>
              </a:buClr>
              <a:buSzPct val="68750"/>
              <a:buFontTx/>
              <a:buChar char="-"/>
              <a:tabLst>
                <a:tab pos="354965" algn="l"/>
                <a:tab pos="355600" algn="l"/>
              </a:tabLst>
            </a:pPr>
            <a:r>
              <a:rPr lang="en-US" sz="2400"/>
              <a:t>It is also called measures of shape. It deals with how a data is distributed. Here we talk about variable count, frequency of occurrence, or even percent distribution. Essentially, it says how often something occurs. </a:t>
            </a:r>
          </a:p>
          <a:p>
            <a:pPr marL="355600" marR="5080" indent="-342900">
              <a:lnSpc>
                <a:spcPct val="100000"/>
              </a:lnSpc>
              <a:spcBef>
                <a:spcPts val="100"/>
              </a:spcBef>
              <a:buClr>
                <a:srgbClr val="16165D"/>
              </a:buClr>
              <a:buSzPct val="68750"/>
              <a:buFontTx/>
              <a:buChar char="-"/>
              <a:tabLst>
                <a:tab pos="354965" algn="l"/>
                <a:tab pos="355600" algn="l"/>
              </a:tabLst>
            </a:pPr>
            <a:r>
              <a:rPr lang="en-US" sz="2400"/>
              <a:t>Plotting the data into an histogram would reveal the shape of the data and thus shows its distribution. Data usually follows a particular distribution. This distribution/shape reveals a lot about the data</a:t>
            </a:r>
          </a:p>
        </p:txBody>
      </p:sp>
      <p:pic>
        <p:nvPicPr>
          <p:cNvPr id="3" name="Picture 2">
            <a:extLst>
              <a:ext uri="{FF2B5EF4-FFF2-40B4-BE49-F238E27FC236}">
                <a16:creationId xmlns:a16="http://schemas.microsoft.com/office/drawing/2014/main" id="{4F48D934-4DA9-9113-F4D5-F532BFB96F21}"/>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32332144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70" y="2399809"/>
            <a:ext cx="4599741" cy="3492868"/>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2400" b="1"/>
              <a:t>Measures of Frequency</a:t>
            </a:r>
          </a:p>
          <a:p>
            <a:pPr marL="355600" marR="5080" indent="-342900">
              <a:lnSpc>
                <a:spcPct val="100000"/>
              </a:lnSpc>
              <a:spcBef>
                <a:spcPts val="100"/>
              </a:spcBef>
              <a:buClr>
                <a:srgbClr val="16165D"/>
              </a:buClr>
              <a:buSzPct val="68750"/>
              <a:buFontTx/>
              <a:buChar char="-"/>
              <a:tabLst>
                <a:tab pos="354965" algn="l"/>
                <a:tab pos="355600" algn="l"/>
              </a:tabLst>
            </a:pPr>
            <a:r>
              <a:rPr lang="en-US" sz="2400"/>
              <a:t>The distribution or shape can by </a:t>
            </a:r>
            <a:r>
              <a:rPr lang="en-US" sz="2400" i="1"/>
              <a:t>symmetrical</a:t>
            </a:r>
            <a:r>
              <a:rPr lang="en-US" sz="2400"/>
              <a:t> or </a:t>
            </a:r>
            <a:r>
              <a:rPr lang="en-US" sz="2400" i="1"/>
              <a:t>non-symmetrical.</a:t>
            </a:r>
          </a:p>
          <a:p>
            <a:pPr marL="355600" marR="5080" indent="-342900">
              <a:lnSpc>
                <a:spcPct val="100000"/>
              </a:lnSpc>
              <a:spcBef>
                <a:spcPts val="100"/>
              </a:spcBef>
              <a:buClr>
                <a:srgbClr val="16165D"/>
              </a:buClr>
              <a:buSzPct val="68750"/>
              <a:buFontTx/>
              <a:buChar char="-"/>
              <a:tabLst>
                <a:tab pos="354965" algn="l"/>
                <a:tab pos="355600" algn="l"/>
              </a:tabLst>
            </a:pPr>
            <a:r>
              <a:rPr lang="en-US" sz="2400"/>
              <a:t>Symmetrical means the sides of the distribution are mirror images</a:t>
            </a:r>
            <a:r>
              <a:rPr lang="en-US" sz="2400" i="1"/>
              <a:t> </a:t>
            </a:r>
            <a:r>
              <a:rPr lang="en-US" sz="2400"/>
              <a:t> </a:t>
            </a:r>
          </a:p>
          <a:p>
            <a:pPr marL="355600" marR="5080" indent="-342900">
              <a:lnSpc>
                <a:spcPct val="100000"/>
              </a:lnSpc>
              <a:spcBef>
                <a:spcPts val="100"/>
              </a:spcBef>
              <a:buClr>
                <a:srgbClr val="16165D"/>
              </a:buClr>
              <a:buSzPct val="68750"/>
              <a:buFontTx/>
              <a:buChar char="-"/>
              <a:tabLst>
                <a:tab pos="354965" algn="l"/>
                <a:tab pos="355600" algn="l"/>
              </a:tabLst>
            </a:pPr>
            <a:r>
              <a:rPr lang="en-US" sz="2400"/>
              <a:t>The shape tells us what descriptive statistical analysis is more appropriate for a dataset.</a:t>
            </a:r>
          </a:p>
        </p:txBody>
      </p:sp>
      <p:pic>
        <p:nvPicPr>
          <p:cNvPr id="4" name="Picture 3">
            <a:extLst>
              <a:ext uri="{FF2B5EF4-FFF2-40B4-BE49-F238E27FC236}">
                <a16:creationId xmlns:a16="http://schemas.microsoft.com/office/drawing/2014/main" id="{CE6E28E2-58AF-00DC-9AC5-8C62CD7A79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0229" y="2104725"/>
            <a:ext cx="6276997" cy="4371713"/>
          </a:xfrm>
          <a:prstGeom prst="rect">
            <a:avLst/>
          </a:prstGeom>
        </p:spPr>
      </p:pic>
      <p:pic>
        <p:nvPicPr>
          <p:cNvPr id="3" name="Picture 2">
            <a:extLst>
              <a:ext uri="{FF2B5EF4-FFF2-40B4-BE49-F238E27FC236}">
                <a16:creationId xmlns:a16="http://schemas.microsoft.com/office/drawing/2014/main" id="{35A873BB-8B74-F445-598F-89ADCACBF265}"/>
              </a:ext>
            </a:extLst>
          </p:cNvPr>
          <p:cNvPicPr>
            <a:picLocks noChangeAspect="1"/>
          </p:cNvPicPr>
          <p:nvPr/>
        </p:nvPicPr>
        <p:blipFill>
          <a:blip r:embed="rId4"/>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23551722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70" y="2399809"/>
            <a:ext cx="10818175" cy="3492868"/>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2400" b="1"/>
              <a:t>Measures of Frequency</a:t>
            </a:r>
          </a:p>
          <a:p>
            <a:pPr marL="355600" marR="5080" indent="-342900">
              <a:lnSpc>
                <a:spcPct val="100000"/>
              </a:lnSpc>
              <a:spcBef>
                <a:spcPts val="100"/>
              </a:spcBef>
              <a:buClr>
                <a:srgbClr val="16165D"/>
              </a:buClr>
              <a:buSzPct val="68750"/>
              <a:buFontTx/>
              <a:buChar char="-"/>
              <a:tabLst>
                <a:tab pos="354965" algn="l"/>
                <a:tab pos="355600" algn="l"/>
              </a:tabLst>
            </a:pPr>
            <a:r>
              <a:rPr lang="en-US" sz="2400"/>
              <a:t>For example, a mean or median is an appropriate measure of central tendency for symmetrical data while median will be more useful in non-symmetrical data.</a:t>
            </a:r>
          </a:p>
          <a:p>
            <a:pPr marL="355600" marR="5080" indent="-342900">
              <a:lnSpc>
                <a:spcPct val="100000"/>
              </a:lnSpc>
              <a:spcBef>
                <a:spcPts val="100"/>
              </a:spcBef>
              <a:buClr>
                <a:srgbClr val="16165D"/>
              </a:buClr>
              <a:buSzPct val="68750"/>
              <a:buFontTx/>
              <a:buChar char="-"/>
              <a:tabLst>
                <a:tab pos="354965" algn="l"/>
                <a:tab pos="355600" algn="l"/>
              </a:tabLst>
            </a:pPr>
            <a:r>
              <a:rPr lang="en-US" sz="2400" b="1"/>
              <a:t>Skewness and Kurtosis </a:t>
            </a:r>
            <a:r>
              <a:rPr lang="en-US" sz="2400"/>
              <a:t>are concepts that are used in describing the shape of data. </a:t>
            </a:r>
          </a:p>
          <a:p>
            <a:pPr marL="355600" marR="5080" indent="-342900">
              <a:lnSpc>
                <a:spcPct val="100000"/>
              </a:lnSpc>
              <a:spcBef>
                <a:spcPts val="100"/>
              </a:spcBef>
              <a:buClr>
                <a:srgbClr val="16165D"/>
              </a:buClr>
              <a:buSzPct val="68750"/>
              <a:buFontTx/>
              <a:buChar char="-"/>
              <a:tabLst>
                <a:tab pos="354965" algn="l"/>
                <a:tab pos="355600" algn="l"/>
              </a:tabLst>
            </a:pPr>
            <a:r>
              <a:rPr lang="en-US" sz="2400"/>
              <a:t>Skewness answers the question of whether a dataset is distributed equally (symmetrically)around the mean</a:t>
            </a:r>
          </a:p>
          <a:p>
            <a:pPr marL="812800" marR="5080" lvl="1" indent="-342900">
              <a:spcBef>
                <a:spcPts val="100"/>
              </a:spcBef>
              <a:buClr>
                <a:srgbClr val="16165D"/>
              </a:buClr>
              <a:buSzPct val="68750"/>
              <a:buFont typeface="Arial" panose="020B0604020202020204" pitchFamily="34" charset="0"/>
              <a:buChar char="•"/>
              <a:tabLst>
                <a:tab pos="354965" algn="l"/>
                <a:tab pos="355600" algn="l"/>
              </a:tabLst>
            </a:pPr>
            <a:r>
              <a:rPr lang="en-US" sz="2400"/>
              <a:t>Skewness = 0 (symmetrical data) </a:t>
            </a:r>
          </a:p>
          <a:p>
            <a:pPr marL="812800" marR="5080" lvl="1" indent="-342900">
              <a:spcBef>
                <a:spcPts val="100"/>
              </a:spcBef>
              <a:buClr>
                <a:srgbClr val="16165D"/>
              </a:buClr>
              <a:buSzPct val="68750"/>
              <a:buFont typeface="Arial" panose="020B0604020202020204" pitchFamily="34" charset="0"/>
              <a:buChar char="•"/>
              <a:tabLst>
                <a:tab pos="354965" algn="l"/>
                <a:tab pos="355600" algn="l"/>
              </a:tabLst>
            </a:pPr>
            <a:r>
              <a:rPr lang="en-US" sz="2400"/>
              <a:t>Skewness = negative value (distribution is skewed to the left)</a:t>
            </a:r>
          </a:p>
          <a:p>
            <a:pPr marL="812800" marR="5080" lvl="1" indent="-342900">
              <a:spcBef>
                <a:spcPts val="100"/>
              </a:spcBef>
              <a:buClr>
                <a:srgbClr val="16165D"/>
              </a:buClr>
              <a:buSzPct val="68750"/>
              <a:buFont typeface="Arial" panose="020B0604020202020204" pitchFamily="34" charset="0"/>
              <a:buChar char="•"/>
              <a:tabLst>
                <a:tab pos="354965" algn="l"/>
                <a:tab pos="355600" algn="l"/>
              </a:tabLst>
            </a:pPr>
            <a:r>
              <a:rPr lang="en-US" sz="2400"/>
              <a:t>Skewness = positive values (distribution is skewed to the right)</a:t>
            </a:r>
          </a:p>
        </p:txBody>
      </p:sp>
      <p:pic>
        <p:nvPicPr>
          <p:cNvPr id="3" name="Picture 2">
            <a:extLst>
              <a:ext uri="{FF2B5EF4-FFF2-40B4-BE49-F238E27FC236}">
                <a16:creationId xmlns:a16="http://schemas.microsoft.com/office/drawing/2014/main" id="{B876893E-87F6-2539-D8DA-36F217E67E08}"/>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14056699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70" y="2399809"/>
            <a:ext cx="10818175" cy="3492868"/>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3200" b="1"/>
              <a:t>Measures of Frequency</a:t>
            </a:r>
          </a:p>
          <a:p>
            <a:pPr marL="12700" marR="5080">
              <a:lnSpc>
                <a:spcPct val="100000"/>
              </a:lnSpc>
              <a:spcBef>
                <a:spcPts val="100"/>
              </a:spcBef>
              <a:buClr>
                <a:srgbClr val="16165D"/>
              </a:buClr>
              <a:buSzPct val="68750"/>
              <a:tabLst>
                <a:tab pos="354965" algn="l"/>
                <a:tab pos="355600" algn="l"/>
              </a:tabLst>
            </a:pPr>
            <a:r>
              <a:rPr lang="en-US" sz="2400" b="1"/>
              <a:t>	</a:t>
            </a:r>
          </a:p>
          <a:p>
            <a:pPr marL="12700" marR="5080">
              <a:lnSpc>
                <a:spcPct val="100000"/>
              </a:lnSpc>
              <a:spcBef>
                <a:spcPts val="100"/>
              </a:spcBef>
              <a:buClr>
                <a:srgbClr val="16165D"/>
              </a:buClr>
              <a:buSzPct val="68750"/>
              <a:tabLst>
                <a:tab pos="354965" algn="l"/>
                <a:tab pos="355600" algn="l"/>
              </a:tabLst>
            </a:pPr>
            <a:endParaRPr lang="en-US" sz="2400" b="1"/>
          </a:p>
        </p:txBody>
      </p:sp>
      <p:sp>
        <p:nvSpPr>
          <p:cNvPr id="3" name="AutoShape 2" descr="Skewness of a distribution">
            <a:extLst>
              <a:ext uri="{FF2B5EF4-FFF2-40B4-BE49-F238E27FC236}">
                <a16:creationId xmlns:a16="http://schemas.microsoft.com/office/drawing/2014/main" id="{D0E11430-F130-B111-4217-E2F976B6AC92}"/>
              </a:ext>
            </a:extLst>
          </p:cNvPr>
          <p:cNvSpPr>
            <a:spLocks noChangeAspect="1" noChangeArrowheads="1"/>
          </p:cNvSpPr>
          <p:nvPr/>
        </p:nvSpPr>
        <p:spPr bwMode="auto">
          <a:xfrm>
            <a:off x="5943600" y="3276600"/>
            <a:ext cx="4238090" cy="423809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pic>
        <p:nvPicPr>
          <p:cNvPr id="5" name="Picture 4">
            <a:extLst>
              <a:ext uri="{FF2B5EF4-FFF2-40B4-BE49-F238E27FC236}">
                <a16:creationId xmlns:a16="http://schemas.microsoft.com/office/drawing/2014/main" id="{6A26A124-A4B8-C691-8402-6F2EDC9594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8813" y="2514730"/>
            <a:ext cx="7039989" cy="3703116"/>
          </a:xfrm>
          <a:prstGeom prst="rect">
            <a:avLst/>
          </a:prstGeom>
        </p:spPr>
      </p:pic>
      <p:pic>
        <p:nvPicPr>
          <p:cNvPr id="4" name="Picture 3">
            <a:extLst>
              <a:ext uri="{FF2B5EF4-FFF2-40B4-BE49-F238E27FC236}">
                <a16:creationId xmlns:a16="http://schemas.microsoft.com/office/drawing/2014/main" id="{1170A641-1580-ED3E-9CDC-FB2BB8D24A9D}"/>
              </a:ext>
            </a:extLst>
          </p:cNvPr>
          <p:cNvPicPr>
            <a:picLocks noChangeAspect="1"/>
          </p:cNvPicPr>
          <p:nvPr/>
        </p:nvPicPr>
        <p:blipFill>
          <a:blip r:embed="rId4"/>
          <a:stretch>
            <a:fillRect/>
          </a:stretch>
        </p:blipFill>
        <p:spPr>
          <a:xfrm>
            <a:off x="10319658" y="617704"/>
            <a:ext cx="1125764" cy="412584"/>
          </a:xfrm>
          <a:prstGeom prst="rect">
            <a:avLst/>
          </a:prstGeom>
        </p:spPr>
      </p:pic>
      <p:pic>
        <p:nvPicPr>
          <p:cNvPr id="7" name="Picture 6">
            <a:extLst>
              <a:ext uri="{FF2B5EF4-FFF2-40B4-BE49-F238E27FC236}">
                <a16:creationId xmlns:a16="http://schemas.microsoft.com/office/drawing/2014/main" id="{C3B5CE84-1B04-E712-B165-0038ED048702}"/>
              </a:ext>
            </a:extLst>
          </p:cNvPr>
          <p:cNvPicPr>
            <a:picLocks noChangeAspect="1"/>
          </p:cNvPicPr>
          <p:nvPr/>
        </p:nvPicPr>
        <p:blipFill>
          <a:blip r:embed="rId4"/>
          <a:stretch>
            <a:fillRect/>
          </a:stretch>
        </p:blipFill>
        <p:spPr>
          <a:xfrm>
            <a:off x="10472058" y="770104"/>
            <a:ext cx="1125764" cy="412584"/>
          </a:xfrm>
          <a:prstGeom prst="rect">
            <a:avLst/>
          </a:prstGeom>
        </p:spPr>
      </p:pic>
    </p:spTree>
    <p:extLst>
      <p:ext uri="{BB962C8B-B14F-4D97-AF65-F5344CB8AC3E}">
        <p14:creationId xmlns:p14="http://schemas.microsoft.com/office/powerpoint/2010/main" val="7482964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71" y="2399809"/>
            <a:ext cx="4784676" cy="3492868"/>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2400" b="1"/>
              <a:t>Measures of Frequency</a:t>
            </a:r>
          </a:p>
          <a:p>
            <a:pPr marL="12700" marR="5080">
              <a:lnSpc>
                <a:spcPct val="100000"/>
              </a:lnSpc>
              <a:spcBef>
                <a:spcPts val="100"/>
              </a:spcBef>
              <a:buClr>
                <a:srgbClr val="16165D"/>
              </a:buClr>
              <a:buSzPct val="68750"/>
              <a:tabLst>
                <a:tab pos="354965" algn="l"/>
                <a:tab pos="355600" algn="l"/>
              </a:tabLst>
            </a:pPr>
            <a:endParaRPr lang="en-US" sz="2400" b="1"/>
          </a:p>
          <a:p>
            <a:pPr marL="12700" marR="5080" algn="just">
              <a:lnSpc>
                <a:spcPct val="100000"/>
              </a:lnSpc>
              <a:spcBef>
                <a:spcPts val="100"/>
              </a:spcBef>
              <a:buClr>
                <a:srgbClr val="16165D"/>
              </a:buClr>
              <a:buSzPct val="68750"/>
              <a:tabLst>
                <a:tab pos="354965" algn="l"/>
                <a:tab pos="355600" algn="l"/>
              </a:tabLst>
            </a:pPr>
            <a:r>
              <a:rPr lang="en-US" sz="2400" b="1"/>
              <a:t>Kurtosis </a:t>
            </a:r>
            <a:r>
              <a:rPr lang="en-US" sz="2400"/>
              <a:t>is a measure of whether the data are heavy-tailed or light-tailed relative to a normal distribution. That is, data sets with high kurtosis tend to have heavy tails, or outliers. Data sets with low kurtosis tend to have light tails, or lack of outliers.</a:t>
            </a:r>
          </a:p>
        </p:txBody>
      </p:sp>
      <p:pic>
        <p:nvPicPr>
          <p:cNvPr id="4" name="Picture 3">
            <a:extLst>
              <a:ext uri="{FF2B5EF4-FFF2-40B4-BE49-F238E27FC236}">
                <a16:creationId xmlns:a16="http://schemas.microsoft.com/office/drawing/2014/main" id="{C93C7BC5-7FBD-7E2C-65F2-72AFFBE6BE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7290" y="2524000"/>
            <a:ext cx="6784710" cy="3692785"/>
          </a:xfrm>
          <a:prstGeom prst="rect">
            <a:avLst/>
          </a:prstGeom>
        </p:spPr>
      </p:pic>
      <p:pic>
        <p:nvPicPr>
          <p:cNvPr id="3" name="Picture 2">
            <a:extLst>
              <a:ext uri="{FF2B5EF4-FFF2-40B4-BE49-F238E27FC236}">
                <a16:creationId xmlns:a16="http://schemas.microsoft.com/office/drawing/2014/main" id="{160D591B-428A-1427-0010-C0B24754E33E}"/>
              </a:ext>
            </a:extLst>
          </p:cNvPr>
          <p:cNvPicPr>
            <a:picLocks noChangeAspect="1"/>
          </p:cNvPicPr>
          <p:nvPr/>
        </p:nvPicPr>
        <p:blipFill>
          <a:blip r:embed="rId4"/>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20425426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70" y="2399809"/>
            <a:ext cx="4680023" cy="3177606"/>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2400" b="1"/>
              <a:t>Measures of central tendency</a:t>
            </a:r>
          </a:p>
          <a:p>
            <a:pPr marL="12700" marR="5080" algn="just">
              <a:lnSpc>
                <a:spcPct val="100000"/>
              </a:lnSpc>
              <a:spcBef>
                <a:spcPts val="100"/>
              </a:spcBef>
              <a:buClr>
                <a:srgbClr val="16165D"/>
              </a:buClr>
              <a:buSzPct val="68750"/>
              <a:tabLst>
                <a:tab pos="354965" algn="l"/>
                <a:tab pos="355600" algn="l"/>
              </a:tabLst>
            </a:pPr>
            <a:r>
              <a:rPr lang="en-US" sz="2400"/>
              <a:t>This estimates the center or midpoint of a dataset. This is also called measures of position. Herein we deal with averages such as mean,  median, mode. Central tendency means where the data is centered. </a:t>
            </a:r>
          </a:p>
          <a:p>
            <a:pPr marL="12700" marR="5080">
              <a:lnSpc>
                <a:spcPct val="100000"/>
              </a:lnSpc>
              <a:spcBef>
                <a:spcPts val="100"/>
              </a:spcBef>
              <a:buClr>
                <a:srgbClr val="16165D"/>
              </a:buClr>
              <a:buSzPct val="68750"/>
              <a:tabLst>
                <a:tab pos="354965" algn="l"/>
                <a:tab pos="355600" algn="l"/>
              </a:tabLst>
            </a:pPr>
            <a:endParaRPr lang="en-US" sz="2400" b="1"/>
          </a:p>
        </p:txBody>
      </p:sp>
      <p:pic>
        <p:nvPicPr>
          <p:cNvPr id="7" name="Picture 6">
            <a:extLst>
              <a:ext uri="{FF2B5EF4-FFF2-40B4-BE49-F238E27FC236}">
                <a16:creationId xmlns:a16="http://schemas.microsoft.com/office/drawing/2014/main" id="{57C054E3-3917-8287-8EA6-0C0DC50E98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7107" y="1393049"/>
            <a:ext cx="4680023" cy="5451360"/>
          </a:xfrm>
          <a:prstGeom prst="rect">
            <a:avLst/>
          </a:prstGeom>
        </p:spPr>
      </p:pic>
      <p:pic>
        <p:nvPicPr>
          <p:cNvPr id="3" name="Picture 2">
            <a:extLst>
              <a:ext uri="{FF2B5EF4-FFF2-40B4-BE49-F238E27FC236}">
                <a16:creationId xmlns:a16="http://schemas.microsoft.com/office/drawing/2014/main" id="{F93C9BC6-B161-7009-CA1F-2A9B3D74ECD7}"/>
              </a:ext>
            </a:extLst>
          </p:cNvPr>
          <p:cNvPicPr>
            <a:picLocks noChangeAspect="1"/>
          </p:cNvPicPr>
          <p:nvPr/>
        </p:nvPicPr>
        <p:blipFill>
          <a:blip r:embed="rId4"/>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26610224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69" y="2400502"/>
            <a:ext cx="4680023" cy="3177606"/>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2400" b="1"/>
              <a:t>Measures of central tendency</a:t>
            </a:r>
          </a:p>
          <a:p>
            <a:pPr marL="12700" marR="5080">
              <a:lnSpc>
                <a:spcPct val="100000"/>
              </a:lnSpc>
              <a:spcBef>
                <a:spcPts val="100"/>
              </a:spcBef>
              <a:buClr>
                <a:srgbClr val="16165D"/>
              </a:buClr>
              <a:buSzPct val="68750"/>
              <a:tabLst>
                <a:tab pos="354965" algn="l"/>
                <a:tab pos="355600" algn="l"/>
              </a:tabLst>
            </a:pPr>
            <a:endParaRPr lang="en-US" sz="2400" b="1"/>
          </a:p>
        </p:txBody>
      </p:sp>
      <p:sp>
        <p:nvSpPr>
          <p:cNvPr id="3" name="TextBox 2">
            <a:extLst>
              <a:ext uri="{FF2B5EF4-FFF2-40B4-BE49-F238E27FC236}">
                <a16:creationId xmlns:a16="http://schemas.microsoft.com/office/drawing/2014/main" id="{1D4F6AC3-4CB8-1656-24F1-9D9B4EBB6029}"/>
              </a:ext>
            </a:extLst>
          </p:cNvPr>
          <p:cNvSpPr txBox="1"/>
          <p:nvPr/>
        </p:nvSpPr>
        <p:spPr>
          <a:xfrm>
            <a:off x="7384836" y="2721476"/>
            <a:ext cx="4362295" cy="3177606"/>
          </a:xfrm>
          <a:prstGeom prst="rect">
            <a:avLst/>
          </a:prstGeom>
        </p:spPr>
        <p:txBody>
          <a:bodyPr vert="horz" lIns="91440" tIns="45720" rIns="91440" bIns="45720" rtlCol="0">
            <a:normAutofit/>
          </a:bodyPr>
          <a:lstStyle/>
          <a:p>
            <a:pPr marL="12700" marR="5080" algn="just">
              <a:lnSpc>
                <a:spcPct val="100000"/>
              </a:lnSpc>
              <a:spcBef>
                <a:spcPts val="100"/>
              </a:spcBef>
              <a:buClr>
                <a:srgbClr val="16165D"/>
              </a:buClr>
              <a:buSzPct val="68750"/>
              <a:tabLst>
                <a:tab pos="354965" algn="l"/>
                <a:tab pos="355600" algn="l"/>
              </a:tabLst>
            </a:pPr>
            <a:r>
              <a:rPr lang="en-US" sz="2400" b="1"/>
              <a:t>Median</a:t>
            </a:r>
          </a:p>
          <a:p>
            <a:pPr marL="12700" marR="5080" algn="just">
              <a:lnSpc>
                <a:spcPct val="100000"/>
              </a:lnSpc>
              <a:spcBef>
                <a:spcPts val="100"/>
              </a:spcBef>
              <a:buClr>
                <a:srgbClr val="16165D"/>
              </a:buClr>
              <a:buSzPct val="68750"/>
              <a:tabLst>
                <a:tab pos="354965" algn="l"/>
                <a:tab pos="355600" algn="l"/>
              </a:tabLst>
            </a:pPr>
            <a:r>
              <a:rPr lang="en-US" sz="2400"/>
              <a:t>This is the value right at the middle of a data set. The median is robust and can reduce the effect outliers. It is often used when data is asymmetrical. Before calculating the median, the values must be ordered.</a:t>
            </a:r>
          </a:p>
          <a:p>
            <a:pPr marL="12700" marR="5080">
              <a:lnSpc>
                <a:spcPct val="100000"/>
              </a:lnSpc>
              <a:spcBef>
                <a:spcPts val="100"/>
              </a:spcBef>
              <a:buClr>
                <a:srgbClr val="16165D"/>
              </a:buClr>
              <a:buSzPct val="68750"/>
              <a:tabLst>
                <a:tab pos="354965" algn="l"/>
                <a:tab pos="355600" algn="l"/>
              </a:tabLst>
            </a:pPr>
            <a:endParaRPr lang="en-US" sz="2400"/>
          </a:p>
        </p:txBody>
      </p:sp>
      <p:sp>
        <p:nvSpPr>
          <p:cNvPr id="20" name="TextBox 19">
            <a:extLst>
              <a:ext uri="{FF2B5EF4-FFF2-40B4-BE49-F238E27FC236}">
                <a16:creationId xmlns:a16="http://schemas.microsoft.com/office/drawing/2014/main" id="{DBDC40C4-2726-ECF3-BCDB-C8F1D8D7001F}"/>
              </a:ext>
            </a:extLst>
          </p:cNvPr>
          <p:cNvSpPr txBox="1"/>
          <p:nvPr/>
        </p:nvSpPr>
        <p:spPr>
          <a:xfrm>
            <a:off x="381299" y="2833774"/>
            <a:ext cx="4362295" cy="3177606"/>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2400" b="1"/>
              <a:t>Mean</a:t>
            </a:r>
          </a:p>
          <a:p>
            <a:pPr marL="12700" marR="5080">
              <a:lnSpc>
                <a:spcPct val="100000"/>
              </a:lnSpc>
              <a:spcBef>
                <a:spcPts val="100"/>
              </a:spcBef>
              <a:buClr>
                <a:srgbClr val="16165D"/>
              </a:buClr>
              <a:buSzPct val="68750"/>
              <a:tabLst>
                <a:tab pos="354965" algn="l"/>
                <a:tab pos="355600" algn="l"/>
              </a:tabLst>
            </a:pPr>
            <a:r>
              <a:rPr lang="en-US" sz="2400"/>
              <a:t>This the most common measure of average. The mean  is given as the sum of all the values of a variable divided by the number of observations. It is best used when the data is symmetrical and without outliers. </a:t>
            </a:r>
          </a:p>
        </p:txBody>
      </p:sp>
      <p:pic>
        <p:nvPicPr>
          <p:cNvPr id="4" name="Picture 3">
            <a:extLst>
              <a:ext uri="{FF2B5EF4-FFF2-40B4-BE49-F238E27FC236}">
                <a16:creationId xmlns:a16="http://schemas.microsoft.com/office/drawing/2014/main" id="{AA87551C-2425-673B-9BF7-E24A095E2B4D}"/>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5997527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69" y="2400502"/>
            <a:ext cx="4680023" cy="3177606"/>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2400" b="1"/>
              <a:t>Measures of central tendency</a:t>
            </a:r>
          </a:p>
          <a:p>
            <a:pPr marL="12700" marR="5080">
              <a:lnSpc>
                <a:spcPct val="100000"/>
              </a:lnSpc>
              <a:spcBef>
                <a:spcPts val="100"/>
              </a:spcBef>
              <a:buClr>
                <a:srgbClr val="16165D"/>
              </a:buClr>
              <a:buSzPct val="68750"/>
              <a:tabLst>
                <a:tab pos="354965" algn="l"/>
                <a:tab pos="355600" algn="l"/>
              </a:tabLst>
            </a:pPr>
            <a:endParaRPr lang="en-US" sz="2400" b="1"/>
          </a:p>
        </p:txBody>
      </p:sp>
      <p:sp>
        <p:nvSpPr>
          <p:cNvPr id="3" name="TextBox 2">
            <a:extLst>
              <a:ext uri="{FF2B5EF4-FFF2-40B4-BE49-F238E27FC236}">
                <a16:creationId xmlns:a16="http://schemas.microsoft.com/office/drawing/2014/main" id="{1D4F6AC3-4CB8-1656-24F1-9D9B4EBB6029}"/>
              </a:ext>
            </a:extLst>
          </p:cNvPr>
          <p:cNvSpPr txBox="1"/>
          <p:nvPr/>
        </p:nvSpPr>
        <p:spPr>
          <a:xfrm>
            <a:off x="444499" y="3040448"/>
            <a:ext cx="4362295" cy="3177606"/>
          </a:xfrm>
          <a:prstGeom prst="rect">
            <a:avLst/>
          </a:prstGeom>
        </p:spPr>
        <p:txBody>
          <a:bodyPr vert="horz" lIns="91440" tIns="45720" rIns="91440" bIns="45720" rtlCol="0">
            <a:normAutofit/>
          </a:bodyPr>
          <a:lstStyle/>
          <a:p>
            <a:pPr marL="12700" marR="5080">
              <a:lnSpc>
                <a:spcPct val="100000"/>
              </a:lnSpc>
              <a:spcBef>
                <a:spcPts val="100"/>
              </a:spcBef>
              <a:buClr>
                <a:srgbClr val="16165D"/>
              </a:buClr>
              <a:buSzPct val="68750"/>
              <a:tabLst>
                <a:tab pos="354965" algn="l"/>
                <a:tab pos="355600" algn="l"/>
              </a:tabLst>
            </a:pPr>
            <a:r>
              <a:rPr lang="en-US" sz="2400" b="1"/>
              <a:t>Mode</a:t>
            </a:r>
          </a:p>
          <a:p>
            <a:pPr marL="12700" marR="5080">
              <a:lnSpc>
                <a:spcPct val="100000"/>
              </a:lnSpc>
              <a:spcBef>
                <a:spcPts val="100"/>
              </a:spcBef>
              <a:buClr>
                <a:srgbClr val="16165D"/>
              </a:buClr>
              <a:buSzPct val="68750"/>
              <a:tabLst>
                <a:tab pos="354965" algn="l"/>
                <a:tab pos="355600" algn="l"/>
              </a:tabLst>
            </a:pPr>
            <a:r>
              <a:rPr lang="en-US" sz="2400"/>
              <a:t> The mode is the value with the highest frequency. It is rarely used as a measure of central tendency. Mode is more useful in determining if a distribution is unimodal or multimodal.</a:t>
            </a:r>
          </a:p>
          <a:p>
            <a:pPr marL="12700" marR="5080">
              <a:lnSpc>
                <a:spcPct val="100000"/>
              </a:lnSpc>
              <a:spcBef>
                <a:spcPts val="100"/>
              </a:spcBef>
              <a:buClr>
                <a:srgbClr val="16165D"/>
              </a:buClr>
              <a:buSzPct val="68750"/>
              <a:tabLst>
                <a:tab pos="354965" algn="l"/>
                <a:tab pos="355600" algn="l"/>
              </a:tabLst>
            </a:pPr>
            <a:endParaRPr lang="en-US" sz="2400"/>
          </a:p>
        </p:txBody>
      </p:sp>
      <p:grpSp>
        <p:nvGrpSpPr>
          <p:cNvPr id="4" name="object 2">
            <a:extLst>
              <a:ext uri="{FF2B5EF4-FFF2-40B4-BE49-F238E27FC236}">
                <a16:creationId xmlns:a16="http://schemas.microsoft.com/office/drawing/2014/main" id="{26426975-B140-61CD-D1F3-7B5075E273D3}"/>
              </a:ext>
            </a:extLst>
          </p:cNvPr>
          <p:cNvGrpSpPr/>
          <p:nvPr/>
        </p:nvGrpSpPr>
        <p:grpSpPr>
          <a:xfrm>
            <a:off x="7771691" y="2573078"/>
            <a:ext cx="3378432" cy="1494244"/>
            <a:chOff x="2977895" y="4250435"/>
            <a:chExt cx="3477895" cy="1676400"/>
          </a:xfrm>
        </p:grpSpPr>
        <p:sp>
          <p:nvSpPr>
            <p:cNvPr id="5" name="object 3">
              <a:extLst>
                <a:ext uri="{FF2B5EF4-FFF2-40B4-BE49-F238E27FC236}">
                  <a16:creationId xmlns:a16="http://schemas.microsoft.com/office/drawing/2014/main" id="{5DC75835-2E61-45FB-4499-9138250893F7}"/>
                </a:ext>
              </a:extLst>
            </p:cNvPr>
            <p:cNvSpPr/>
            <p:nvPr/>
          </p:nvSpPr>
          <p:spPr>
            <a:xfrm>
              <a:off x="2987801" y="4260341"/>
              <a:ext cx="3458210" cy="1656714"/>
            </a:xfrm>
            <a:custGeom>
              <a:avLst/>
              <a:gdLst/>
              <a:ahLst/>
              <a:cxnLst/>
              <a:rect l="l" t="t" r="r" b="b"/>
              <a:pathLst>
                <a:path w="3458210" h="1656714">
                  <a:moveTo>
                    <a:pt x="3457955" y="0"/>
                  </a:moveTo>
                  <a:lnTo>
                    <a:pt x="0" y="0"/>
                  </a:lnTo>
                  <a:lnTo>
                    <a:pt x="0" y="1656587"/>
                  </a:lnTo>
                  <a:lnTo>
                    <a:pt x="3457955" y="1656587"/>
                  </a:lnTo>
                  <a:lnTo>
                    <a:pt x="3457955" y="0"/>
                  </a:lnTo>
                  <a:close/>
                </a:path>
              </a:pathLst>
            </a:custGeom>
            <a:solidFill>
              <a:srgbClr val="D9D9D9"/>
            </a:solidFill>
          </p:spPr>
          <p:txBody>
            <a:bodyPr wrap="square" lIns="0" tIns="0" rIns="0" bIns="0" rtlCol="0"/>
            <a:lstStyle/>
            <a:p>
              <a:endParaRPr/>
            </a:p>
          </p:txBody>
        </p:sp>
        <p:sp>
          <p:nvSpPr>
            <p:cNvPr id="7" name="object 4">
              <a:extLst>
                <a:ext uri="{FF2B5EF4-FFF2-40B4-BE49-F238E27FC236}">
                  <a16:creationId xmlns:a16="http://schemas.microsoft.com/office/drawing/2014/main" id="{6871B8C2-BDFE-96BD-597C-461AE111B5CE}"/>
                </a:ext>
              </a:extLst>
            </p:cNvPr>
            <p:cNvSpPr/>
            <p:nvPr/>
          </p:nvSpPr>
          <p:spPr>
            <a:xfrm>
              <a:off x="2987801" y="4260341"/>
              <a:ext cx="3458210" cy="1656714"/>
            </a:xfrm>
            <a:custGeom>
              <a:avLst/>
              <a:gdLst/>
              <a:ahLst/>
              <a:cxnLst/>
              <a:rect l="l" t="t" r="r" b="b"/>
              <a:pathLst>
                <a:path w="3458210" h="1656714">
                  <a:moveTo>
                    <a:pt x="0" y="1656587"/>
                  </a:moveTo>
                  <a:lnTo>
                    <a:pt x="3457955" y="1656587"/>
                  </a:lnTo>
                  <a:lnTo>
                    <a:pt x="3457955" y="0"/>
                  </a:lnTo>
                  <a:lnTo>
                    <a:pt x="0" y="0"/>
                  </a:lnTo>
                  <a:lnTo>
                    <a:pt x="0" y="1656587"/>
                  </a:lnTo>
                  <a:close/>
                </a:path>
              </a:pathLst>
            </a:custGeom>
            <a:ln w="19812">
              <a:solidFill>
                <a:srgbClr val="CCA400"/>
              </a:solidFill>
            </a:ln>
          </p:spPr>
          <p:txBody>
            <a:bodyPr wrap="square" lIns="0" tIns="0" rIns="0" bIns="0" rtlCol="0"/>
            <a:lstStyle/>
            <a:p>
              <a:endParaRPr/>
            </a:p>
          </p:txBody>
        </p:sp>
        <p:sp>
          <p:nvSpPr>
            <p:cNvPr id="8" name="object 5">
              <a:extLst>
                <a:ext uri="{FF2B5EF4-FFF2-40B4-BE49-F238E27FC236}">
                  <a16:creationId xmlns:a16="http://schemas.microsoft.com/office/drawing/2014/main" id="{9BACD8B4-A737-9FEC-311D-3EFD346877FB}"/>
                </a:ext>
              </a:extLst>
            </p:cNvPr>
            <p:cNvSpPr/>
            <p:nvPr/>
          </p:nvSpPr>
          <p:spPr>
            <a:xfrm>
              <a:off x="4716780" y="4581143"/>
              <a:ext cx="1295400" cy="1335405"/>
            </a:xfrm>
            <a:custGeom>
              <a:avLst/>
              <a:gdLst/>
              <a:ahLst/>
              <a:cxnLst/>
              <a:rect l="l" t="t" r="r" b="b"/>
              <a:pathLst>
                <a:path w="1295400" h="1335404">
                  <a:moveTo>
                    <a:pt x="1295400" y="762254"/>
                  </a:moveTo>
                  <a:lnTo>
                    <a:pt x="1032891" y="762254"/>
                  </a:lnTo>
                  <a:lnTo>
                    <a:pt x="1032891" y="378968"/>
                  </a:lnTo>
                  <a:lnTo>
                    <a:pt x="776097" y="378968"/>
                  </a:lnTo>
                  <a:lnTo>
                    <a:pt x="776097" y="0"/>
                  </a:lnTo>
                  <a:lnTo>
                    <a:pt x="513588" y="0"/>
                  </a:lnTo>
                  <a:lnTo>
                    <a:pt x="513588" y="189484"/>
                  </a:lnTo>
                  <a:lnTo>
                    <a:pt x="256794" y="189484"/>
                  </a:lnTo>
                  <a:lnTo>
                    <a:pt x="256794" y="572770"/>
                  </a:lnTo>
                  <a:lnTo>
                    <a:pt x="0" y="572770"/>
                  </a:lnTo>
                  <a:lnTo>
                    <a:pt x="0" y="1335024"/>
                  </a:lnTo>
                  <a:lnTo>
                    <a:pt x="1295400" y="1335024"/>
                  </a:lnTo>
                  <a:lnTo>
                    <a:pt x="1295400" y="762254"/>
                  </a:lnTo>
                  <a:close/>
                </a:path>
              </a:pathLst>
            </a:custGeom>
            <a:solidFill>
              <a:srgbClr val="F1F1F1"/>
            </a:solidFill>
          </p:spPr>
          <p:txBody>
            <a:bodyPr wrap="square" lIns="0" tIns="0" rIns="0" bIns="0" rtlCol="0"/>
            <a:lstStyle/>
            <a:p>
              <a:endParaRPr/>
            </a:p>
          </p:txBody>
        </p:sp>
        <p:sp>
          <p:nvSpPr>
            <p:cNvPr id="9" name="object 6">
              <a:extLst>
                <a:ext uri="{FF2B5EF4-FFF2-40B4-BE49-F238E27FC236}">
                  <a16:creationId xmlns:a16="http://schemas.microsoft.com/office/drawing/2014/main" id="{283651EE-73AA-0AD7-1D68-9B6A18A756BF}"/>
                </a:ext>
              </a:extLst>
            </p:cNvPr>
            <p:cNvSpPr/>
            <p:nvPr/>
          </p:nvSpPr>
          <p:spPr>
            <a:xfrm>
              <a:off x="4716779" y="4581143"/>
              <a:ext cx="1295400" cy="1335405"/>
            </a:xfrm>
            <a:custGeom>
              <a:avLst/>
              <a:gdLst/>
              <a:ahLst/>
              <a:cxnLst/>
              <a:rect l="l" t="t" r="r" b="b"/>
              <a:pathLst>
                <a:path w="1295400" h="1335404">
                  <a:moveTo>
                    <a:pt x="0" y="1335023"/>
                  </a:moveTo>
                  <a:lnTo>
                    <a:pt x="0" y="572769"/>
                  </a:lnTo>
                  <a:lnTo>
                    <a:pt x="256794" y="572769"/>
                  </a:lnTo>
                  <a:lnTo>
                    <a:pt x="256794" y="1335023"/>
                  </a:lnTo>
                  <a:lnTo>
                    <a:pt x="256794" y="189483"/>
                  </a:lnTo>
                  <a:lnTo>
                    <a:pt x="513588" y="189483"/>
                  </a:lnTo>
                  <a:lnTo>
                    <a:pt x="513588" y="1335023"/>
                  </a:lnTo>
                  <a:lnTo>
                    <a:pt x="513588" y="0"/>
                  </a:lnTo>
                  <a:lnTo>
                    <a:pt x="776097" y="0"/>
                  </a:lnTo>
                  <a:lnTo>
                    <a:pt x="776097" y="1335023"/>
                  </a:lnTo>
                  <a:lnTo>
                    <a:pt x="776097" y="378967"/>
                  </a:lnTo>
                  <a:lnTo>
                    <a:pt x="1032891" y="378967"/>
                  </a:lnTo>
                  <a:lnTo>
                    <a:pt x="1032891" y="1335023"/>
                  </a:lnTo>
                  <a:lnTo>
                    <a:pt x="1032891" y="762253"/>
                  </a:lnTo>
                  <a:lnTo>
                    <a:pt x="1295400" y="762253"/>
                  </a:lnTo>
                  <a:lnTo>
                    <a:pt x="1295400" y="1335023"/>
                  </a:lnTo>
                </a:path>
              </a:pathLst>
            </a:custGeom>
            <a:ln w="12192">
              <a:solidFill>
                <a:srgbClr val="7E7E7E"/>
              </a:solidFill>
            </a:ln>
          </p:spPr>
          <p:txBody>
            <a:bodyPr wrap="square" lIns="0" tIns="0" rIns="0" bIns="0" rtlCol="0"/>
            <a:lstStyle/>
            <a:p>
              <a:endParaRPr/>
            </a:p>
          </p:txBody>
        </p:sp>
        <p:sp>
          <p:nvSpPr>
            <p:cNvPr id="10" name="object 7">
              <a:extLst>
                <a:ext uri="{FF2B5EF4-FFF2-40B4-BE49-F238E27FC236}">
                  <a16:creationId xmlns:a16="http://schemas.microsoft.com/office/drawing/2014/main" id="{684B1FAF-F578-718A-BE25-02699EFCB2F1}"/>
                </a:ext>
              </a:extLst>
            </p:cNvPr>
            <p:cNvSpPr/>
            <p:nvPr/>
          </p:nvSpPr>
          <p:spPr>
            <a:xfrm>
              <a:off x="3419856" y="4351019"/>
              <a:ext cx="1297305" cy="1565275"/>
            </a:xfrm>
            <a:custGeom>
              <a:avLst/>
              <a:gdLst/>
              <a:ahLst/>
              <a:cxnLst/>
              <a:rect l="l" t="t" r="r" b="b"/>
              <a:pathLst>
                <a:path w="1297304" h="1565275">
                  <a:moveTo>
                    <a:pt x="1296924" y="893699"/>
                  </a:moveTo>
                  <a:lnTo>
                    <a:pt x="1034161" y="893699"/>
                  </a:lnTo>
                  <a:lnTo>
                    <a:pt x="1034161" y="444373"/>
                  </a:lnTo>
                  <a:lnTo>
                    <a:pt x="776986" y="444373"/>
                  </a:lnTo>
                  <a:lnTo>
                    <a:pt x="776986" y="0"/>
                  </a:lnTo>
                  <a:lnTo>
                    <a:pt x="514223" y="0"/>
                  </a:lnTo>
                  <a:lnTo>
                    <a:pt x="514223" y="222123"/>
                  </a:lnTo>
                  <a:lnTo>
                    <a:pt x="257048" y="222123"/>
                  </a:lnTo>
                  <a:lnTo>
                    <a:pt x="257048" y="671449"/>
                  </a:lnTo>
                  <a:lnTo>
                    <a:pt x="0" y="671449"/>
                  </a:lnTo>
                  <a:lnTo>
                    <a:pt x="0" y="1565148"/>
                  </a:lnTo>
                  <a:lnTo>
                    <a:pt x="1296924" y="1565148"/>
                  </a:lnTo>
                  <a:lnTo>
                    <a:pt x="1296924" y="893699"/>
                  </a:lnTo>
                  <a:close/>
                </a:path>
              </a:pathLst>
            </a:custGeom>
            <a:solidFill>
              <a:srgbClr val="F1F1F1"/>
            </a:solidFill>
          </p:spPr>
          <p:txBody>
            <a:bodyPr wrap="square" lIns="0" tIns="0" rIns="0" bIns="0" rtlCol="0"/>
            <a:lstStyle/>
            <a:p>
              <a:endParaRPr/>
            </a:p>
          </p:txBody>
        </p:sp>
        <p:sp>
          <p:nvSpPr>
            <p:cNvPr id="12" name="object 8">
              <a:extLst>
                <a:ext uri="{FF2B5EF4-FFF2-40B4-BE49-F238E27FC236}">
                  <a16:creationId xmlns:a16="http://schemas.microsoft.com/office/drawing/2014/main" id="{C11893D4-8E5D-4067-03C0-23621FD7C9A0}"/>
                </a:ext>
              </a:extLst>
            </p:cNvPr>
            <p:cNvSpPr/>
            <p:nvPr/>
          </p:nvSpPr>
          <p:spPr>
            <a:xfrm>
              <a:off x="3419855" y="4351019"/>
              <a:ext cx="1297305" cy="1565275"/>
            </a:xfrm>
            <a:custGeom>
              <a:avLst/>
              <a:gdLst/>
              <a:ahLst/>
              <a:cxnLst/>
              <a:rect l="l" t="t" r="r" b="b"/>
              <a:pathLst>
                <a:path w="1297304" h="1565275">
                  <a:moveTo>
                    <a:pt x="0" y="1565147"/>
                  </a:moveTo>
                  <a:lnTo>
                    <a:pt x="0" y="671448"/>
                  </a:lnTo>
                  <a:lnTo>
                    <a:pt x="257048" y="671448"/>
                  </a:lnTo>
                  <a:lnTo>
                    <a:pt x="257048" y="1565147"/>
                  </a:lnTo>
                  <a:lnTo>
                    <a:pt x="257048" y="222122"/>
                  </a:lnTo>
                  <a:lnTo>
                    <a:pt x="514223" y="222122"/>
                  </a:lnTo>
                  <a:lnTo>
                    <a:pt x="514223" y="1565147"/>
                  </a:lnTo>
                  <a:lnTo>
                    <a:pt x="514223" y="0"/>
                  </a:lnTo>
                  <a:lnTo>
                    <a:pt x="776986" y="0"/>
                  </a:lnTo>
                  <a:lnTo>
                    <a:pt x="776986" y="1565147"/>
                  </a:lnTo>
                  <a:lnTo>
                    <a:pt x="776986" y="444372"/>
                  </a:lnTo>
                  <a:lnTo>
                    <a:pt x="1034161" y="444372"/>
                  </a:lnTo>
                  <a:lnTo>
                    <a:pt x="1034161" y="1565147"/>
                  </a:lnTo>
                  <a:lnTo>
                    <a:pt x="1034161" y="893698"/>
                  </a:lnTo>
                  <a:lnTo>
                    <a:pt x="1296924" y="893698"/>
                  </a:lnTo>
                  <a:lnTo>
                    <a:pt x="1296924" y="1565147"/>
                  </a:lnTo>
                </a:path>
              </a:pathLst>
            </a:custGeom>
            <a:ln w="12192">
              <a:solidFill>
                <a:srgbClr val="7E7E7E"/>
              </a:solidFill>
            </a:ln>
          </p:spPr>
          <p:txBody>
            <a:bodyPr wrap="square" lIns="0" tIns="0" rIns="0" bIns="0" rtlCol="0"/>
            <a:lstStyle/>
            <a:p>
              <a:endParaRPr/>
            </a:p>
          </p:txBody>
        </p:sp>
        <p:sp>
          <p:nvSpPr>
            <p:cNvPr id="14" name="object 9">
              <a:extLst>
                <a:ext uri="{FF2B5EF4-FFF2-40B4-BE49-F238E27FC236}">
                  <a16:creationId xmlns:a16="http://schemas.microsoft.com/office/drawing/2014/main" id="{DF0E80B2-FAD6-CD0B-5032-975ED7773375}"/>
                </a:ext>
              </a:extLst>
            </p:cNvPr>
            <p:cNvSpPr/>
            <p:nvPr/>
          </p:nvSpPr>
          <p:spPr>
            <a:xfrm>
              <a:off x="3419855" y="5916167"/>
              <a:ext cx="2592705" cy="0"/>
            </a:xfrm>
            <a:custGeom>
              <a:avLst/>
              <a:gdLst/>
              <a:ahLst/>
              <a:cxnLst/>
              <a:rect l="l" t="t" r="r" b="b"/>
              <a:pathLst>
                <a:path w="2592704">
                  <a:moveTo>
                    <a:pt x="0" y="0"/>
                  </a:moveTo>
                  <a:lnTo>
                    <a:pt x="2592578" y="0"/>
                  </a:lnTo>
                </a:path>
              </a:pathLst>
            </a:custGeom>
            <a:ln w="12192">
              <a:solidFill>
                <a:srgbClr val="D9D9D9"/>
              </a:solidFill>
            </a:ln>
          </p:spPr>
          <p:txBody>
            <a:bodyPr wrap="square" lIns="0" tIns="0" rIns="0" bIns="0" rtlCol="0"/>
            <a:lstStyle/>
            <a:p>
              <a:endParaRPr/>
            </a:p>
          </p:txBody>
        </p:sp>
      </p:grpSp>
      <p:sp>
        <p:nvSpPr>
          <p:cNvPr id="16" name="TextBox 15">
            <a:extLst>
              <a:ext uri="{FF2B5EF4-FFF2-40B4-BE49-F238E27FC236}">
                <a16:creationId xmlns:a16="http://schemas.microsoft.com/office/drawing/2014/main" id="{5D100859-1E88-6E02-6BDB-A5C2CD8C6A33}"/>
              </a:ext>
            </a:extLst>
          </p:cNvPr>
          <p:cNvSpPr txBox="1"/>
          <p:nvPr/>
        </p:nvSpPr>
        <p:spPr>
          <a:xfrm>
            <a:off x="8831114" y="5469258"/>
            <a:ext cx="1956392" cy="923330"/>
          </a:xfrm>
          <a:prstGeom prst="rect">
            <a:avLst/>
          </a:prstGeom>
          <a:noFill/>
        </p:spPr>
        <p:txBody>
          <a:bodyPr wrap="square" rtlCol="0">
            <a:spAutoFit/>
          </a:bodyPr>
          <a:lstStyle/>
          <a:p>
            <a:r>
              <a:rPr lang="en-MY"/>
              <a:t>Multimodal = more than one peak(mode)</a:t>
            </a:r>
          </a:p>
        </p:txBody>
      </p:sp>
      <p:cxnSp>
        <p:nvCxnSpPr>
          <p:cNvPr id="18" name="Straight Arrow Connector 17">
            <a:extLst>
              <a:ext uri="{FF2B5EF4-FFF2-40B4-BE49-F238E27FC236}">
                <a16:creationId xmlns:a16="http://schemas.microsoft.com/office/drawing/2014/main" id="{AB696705-D49D-6E05-AC79-7781200A2370}"/>
              </a:ext>
            </a:extLst>
          </p:cNvPr>
          <p:cNvCxnSpPr>
            <a:cxnSpLocks/>
          </p:cNvCxnSpPr>
          <p:nvPr/>
        </p:nvCxnSpPr>
        <p:spPr>
          <a:xfrm flipV="1">
            <a:off x="9481621" y="4057813"/>
            <a:ext cx="0" cy="126416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7" name="Picture 16">
            <a:extLst>
              <a:ext uri="{FF2B5EF4-FFF2-40B4-BE49-F238E27FC236}">
                <a16:creationId xmlns:a16="http://schemas.microsoft.com/office/drawing/2014/main" id="{A9AAA305-CA1F-C7C9-F7F6-52E2AD393173}"/>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15590497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70" y="2399809"/>
            <a:ext cx="10818175" cy="3492868"/>
          </a:xfrm>
          <a:prstGeom prst="rect">
            <a:avLst/>
          </a:prstGeom>
        </p:spPr>
        <p:txBody>
          <a:bodyPr vert="horz" lIns="91440" tIns="45720" rIns="91440" bIns="45720" rtlCol="0" anchor="t">
            <a:normAutofit/>
          </a:bodyPr>
          <a:lstStyle/>
          <a:p>
            <a:pPr marL="12700" marR="5080" algn="just">
              <a:lnSpc>
                <a:spcPct val="100000"/>
              </a:lnSpc>
              <a:spcBef>
                <a:spcPts val="100"/>
              </a:spcBef>
              <a:buClr>
                <a:srgbClr val="16165D"/>
              </a:buClr>
              <a:buSzPct val="68750"/>
              <a:tabLst>
                <a:tab pos="354965" algn="l"/>
                <a:tab pos="355600" algn="l"/>
              </a:tabLst>
            </a:pPr>
            <a:r>
              <a:rPr lang="en-US" sz="2400" b="1"/>
              <a:t>Measures of spread</a:t>
            </a:r>
          </a:p>
          <a:p>
            <a:pPr marL="12700" marR="5080" algn="just">
              <a:lnSpc>
                <a:spcPct val="100000"/>
              </a:lnSpc>
              <a:spcBef>
                <a:spcPts val="100"/>
              </a:spcBef>
              <a:buClr>
                <a:srgbClr val="16165D"/>
              </a:buClr>
              <a:buSzPct val="68750"/>
              <a:tabLst>
                <a:tab pos="354965" algn="l"/>
                <a:tab pos="355600" algn="l"/>
              </a:tabLst>
            </a:pPr>
            <a:r>
              <a:rPr lang="en-US" sz="2400"/>
              <a:t>Also known as </a:t>
            </a:r>
            <a:r>
              <a:rPr lang="en-US" sz="2400">
                <a:solidFill>
                  <a:srgbClr val="FF0000"/>
                </a:solidFill>
              </a:rPr>
              <a:t>measure of variability or dispersion.</a:t>
            </a:r>
            <a:r>
              <a:rPr lang="en-US" sz="2400"/>
              <a:t> Here, we want to know how spread out a distribution is or how the dataset deviates from the position measure. It shows the variation in datapoints.</a:t>
            </a:r>
            <a:endParaRPr lang="en-US"/>
          </a:p>
          <a:p>
            <a:pPr marL="12700" marR="5080" algn="just">
              <a:lnSpc>
                <a:spcPct val="100000"/>
              </a:lnSpc>
              <a:spcBef>
                <a:spcPts val="100"/>
              </a:spcBef>
              <a:buClr>
                <a:srgbClr val="16165D"/>
              </a:buClr>
              <a:buSzPct val="68750"/>
              <a:tabLst>
                <a:tab pos="354965" algn="l"/>
                <a:tab pos="355600" algn="l"/>
              </a:tabLst>
            </a:pPr>
            <a:r>
              <a:rPr lang="en-US" sz="2400"/>
              <a:t>There are different statistics by which  we can describe the spread of a data set:</a:t>
            </a:r>
            <a:endParaRPr lang="en-US"/>
          </a:p>
          <a:p>
            <a:pPr marL="355600" marR="5080" indent="-342900" algn="just">
              <a:lnSpc>
                <a:spcPct val="100000"/>
              </a:lnSpc>
              <a:spcBef>
                <a:spcPts val="100"/>
              </a:spcBef>
              <a:buClr>
                <a:srgbClr val="16165D"/>
              </a:buClr>
              <a:buSzPct val="68750"/>
              <a:buFontTx/>
              <a:buChar char="-"/>
              <a:tabLst>
                <a:tab pos="354965" algn="l"/>
                <a:tab pos="355600" algn="l"/>
              </a:tabLst>
            </a:pPr>
            <a:r>
              <a:rPr lang="en-US" sz="2400"/>
              <a:t>Range</a:t>
            </a:r>
            <a:endParaRPr lang="en-US"/>
          </a:p>
          <a:p>
            <a:pPr marL="355600" marR="5080" indent="-342900" algn="just">
              <a:lnSpc>
                <a:spcPct val="100000"/>
              </a:lnSpc>
              <a:spcBef>
                <a:spcPts val="100"/>
              </a:spcBef>
              <a:buClr>
                <a:srgbClr val="16165D"/>
              </a:buClr>
              <a:buSzPct val="68750"/>
              <a:buFontTx/>
              <a:buChar char="-"/>
              <a:tabLst>
                <a:tab pos="354965" algn="l"/>
                <a:tab pos="355600" algn="l"/>
              </a:tabLst>
            </a:pPr>
            <a:r>
              <a:rPr lang="en-US" sz="2400"/>
              <a:t>Standard deviation.</a:t>
            </a:r>
            <a:endParaRPr lang="en-US"/>
          </a:p>
          <a:p>
            <a:pPr marL="12700" marR="5080" algn="just">
              <a:lnSpc>
                <a:spcPct val="100000"/>
              </a:lnSpc>
              <a:spcBef>
                <a:spcPts val="100"/>
              </a:spcBef>
              <a:buClr>
                <a:srgbClr val="16165D"/>
              </a:buClr>
              <a:buSzPct val="68750"/>
              <a:tabLst>
                <a:tab pos="354965" algn="l"/>
                <a:tab pos="355600" algn="l"/>
              </a:tabLst>
            </a:pPr>
            <a:endParaRPr lang="en-US"/>
          </a:p>
          <a:p>
            <a:pPr marL="12700" marR="5080" algn="just">
              <a:lnSpc>
                <a:spcPct val="100000"/>
              </a:lnSpc>
              <a:spcBef>
                <a:spcPts val="100"/>
              </a:spcBef>
              <a:buClr>
                <a:srgbClr val="16165D"/>
              </a:buClr>
              <a:buSzPct val="68750"/>
              <a:tabLst>
                <a:tab pos="354965" algn="l"/>
                <a:tab pos="355600" algn="l"/>
              </a:tabLst>
            </a:pPr>
            <a:endParaRPr lang="en-US"/>
          </a:p>
        </p:txBody>
      </p:sp>
      <p:pic>
        <p:nvPicPr>
          <p:cNvPr id="3" name="Picture 2">
            <a:extLst>
              <a:ext uri="{FF2B5EF4-FFF2-40B4-BE49-F238E27FC236}">
                <a16:creationId xmlns:a16="http://schemas.microsoft.com/office/drawing/2014/main" id="{295A35ED-79FC-0187-80A0-50CE6FBF1B17}"/>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7774595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78" y="1393049"/>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descriptive statistics</a:t>
            </a:r>
            <a:endParaRPr lang="en-US" sz="3400" kern="1200">
              <a:solidFill>
                <a:schemeClr val="tx1"/>
              </a:solidFill>
              <a:latin typeface="Abadi" panose="020B0604020104020204" pitchFamily="34" charset="0"/>
            </a:endParaRPr>
          </a:p>
        </p:txBody>
      </p:sp>
      <p:sp>
        <p:nvSpPr>
          <p:cNvPr id="6" name="TextBox 5">
            <a:extLst>
              <a:ext uri="{FF2B5EF4-FFF2-40B4-BE49-F238E27FC236}">
                <a16:creationId xmlns:a16="http://schemas.microsoft.com/office/drawing/2014/main" id="{5316FCCE-4179-9146-0F6F-85F0AFBC6860}"/>
              </a:ext>
            </a:extLst>
          </p:cNvPr>
          <p:cNvSpPr txBox="1"/>
          <p:nvPr/>
        </p:nvSpPr>
        <p:spPr>
          <a:xfrm>
            <a:off x="444870" y="2399809"/>
            <a:ext cx="10995763" cy="3501261"/>
          </a:xfrm>
          <a:prstGeom prst="rect">
            <a:avLst/>
          </a:prstGeom>
        </p:spPr>
        <p:txBody>
          <a:bodyPr vert="horz" lIns="91440" tIns="45720" rIns="91440" bIns="45720" rtlCol="0">
            <a:normAutofit lnSpcReduction="10000"/>
          </a:bodyPr>
          <a:lstStyle/>
          <a:p>
            <a:pPr marL="12700" marR="5080" algn="just">
              <a:lnSpc>
                <a:spcPct val="100000"/>
              </a:lnSpc>
              <a:spcBef>
                <a:spcPts val="100"/>
              </a:spcBef>
              <a:buClr>
                <a:srgbClr val="16165D"/>
              </a:buClr>
              <a:buSzPct val="68750"/>
              <a:tabLst>
                <a:tab pos="354965" algn="l"/>
                <a:tab pos="355600" algn="l"/>
              </a:tabLst>
            </a:pPr>
            <a:r>
              <a:rPr lang="en-US" sz="2400" b="1"/>
              <a:t>Measures of spread</a:t>
            </a:r>
          </a:p>
          <a:p>
            <a:pPr marL="12700" marR="5080" algn="just">
              <a:lnSpc>
                <a:spcPct val="100000"/>
              </a:lnSpc>
              <a:spcBef>
                <a:spcPts val="100"/>
              </a:spcBef>
              <a:buClr>
                <a:srgbClr val="16165D"/>
              </a:buClr>
              <a:buSzPct val="68750"/>
              <a:tabLst>
                <a:tab pos="354965" algn="l"/>
                <a:tab pos="355600" algn="l"/>
              </a:tabLst>
            </a:pPr>
            <a:r>
              <a:rPr lang="en-US" sz="2400" i="1"/>
              <a:t>Range</a:t>
            </a:r>
          </a:p>
          <a:p>
            <a:pPr marL="12700" marR="5080" algn="just">
              <a:lnSpc>
                <a:spcPct val="100000"/>
              </a:lnSpc>
              <a:spcBef>
                <a:spcPts val="100"/>
              </a:spcBef>
              <a:buClr>
                <a:srgbClr val="16165D"/>
              </a:buClr>
              <a:buSzPct val="68750"/>
              <a:tabLst>
                <a:tab pos="354965" algn="l"/>
                <a:tab pos="355600" algn="l"/>
              </a:tabLst>
            </a:pPr>
            <a:r>
              <a:rPr lang="en-US" sz="2400"/>
              <a:t>The range gives you an idea of how far apart the most extreme response scores are. To find the range, simply subtract the lowest value from the highest value. The range can be misleading in the presence of an outlier or when the dataset is skewed.</a:t>
            </a:r>
          </a:p>
          <a:p>
            <a:pPr marL="12700" marR="5080" algn="just">
              <a:lnSpc>
                <a:spcPct val="100000"/>
              </a:lnSpc>
              <a:spcBef>
                <a:spcPts val="100"/>
              </a:spcBef>
              <a:buClr>
                <a:srgbClr val="16165D"/>
              </a:buClr>
              <a:buSzPct val="68750"/>
              <a:tabLst>
                <a:tab pos="354965" algn="l"/>
                <a:tab pos="355600" algn="l"/>
              </a:tabLst>
            </a:pPr>
            <a:endParaRPr lang="en-US" sz="2400"/>
          </a:p>
          <a:p>
            <a:pPr marL="12700" marR="5080" algn="just">
              <a:lnSpc>
                <a:spcPct val="100000"/>
              </a:lnSpc>
              <a:spcBef>
                <a:spcPts val="100"/>
              </a:spcBef>
              <a:buClr>
                <a:srgbClr val="16165D"/>
              </a:buClr>
              <a:buSzPct val="68750"/>
              <a:tabLst>
                <a:tab pos="354965" algn="l"/>
                <a:tab pos="355600" algn="l"/>
              </a:tabLst>
            </a:pPr>
            <a:r>
              <a:rPr lang="en-US" sz="2400" i="1"/>
              <a:t>Standard deviation</a:t>
            </a:r>
          </a:p>
          <a:p>
            <a:pPr marL="12700" marR="5080" algn="just">
              <a:lnSpc>
                <a:spcPct val="100000"/>
              </a:lnSpc>
              <a:spcBef>
                <a:spcPts val="100"/>
              </a:spcBef>
              <a:buClr>
                <a:srgbClr val="16165D"/>
              </a:buClr>
              <a:buSzPct val="68750"/>
              <a:tabLst>
                <a:tab pos="354965" algn="l"/>
                <a:tab pos="355600" algn="l"/>
              </a:tabLst>
            </a:pPr>
            <a:r>
              <a:rPr lang="en-US" sz="2400"/>
              <a:t>The standard deviation is the average amount of variability in your dataset. It tells you, on average, how far each score lies from the mean. The larger the standard deviation, the more variable the data set is. Standard deviation is more robust to outliers</a:t>
            </a:r>
          </a:p>
          <a:p>
            <a:pPr marL="12700" marR="5080" algn="just">
              <a:lnSpc>
                <a:spcPct val="100000"/>
              </a:lnSpc>
              <a:spcBef>
                <a:spcPts val="100"/>
              </a:spcBef>
              <a:buClr>
                <a:srgbClr val="16165D"/>
              </a:buClr>
              <a:buSzPct val="68750"/>
              <a:tabLst>
                <a:tab pos="354965" algn="l"/>
                <a:tab pos="355600" algn="l"/>
              </a:tabLst>
            </a:pPr>
            <a:endParaRPr lang="en-US" sz="2400"/>
          </a:p>
        </p:txBody>
      </p:sp>
      <p:sp>
        <p:nvSpPr>
          <p:cNvPr id="3" name="object 25">
            <a:extLst>
              <a:ext uri="{FF2B5EF4-FFF2-40B4-BE49-F238E27FC236}">
                <a16:creationId xmlns:a16="http://schemas.microsoft.com/office/drawing/2014/main" id="{26DEE872-836A-EED8-407B-B5FF3D3C50C1}"/>
              </a:ext>
            </a:extLst>
          </p:cNvPr>
          <p:cNvSpPr txBox="1"/>
          <p:nvPr/>
        </p:nvSpPr>
        <p:spPr>
          <a:xfrm>
            <a:off x="6830888" y="5813984"/>
            <a:ext cx="2158365" cy="1083945"/>
          </a:xfrm>
          <a:prstGeom prst="rect">
            <a:avLst/>
          </a:prstGeom>
          <a:solidFill>
            <a:srgbClr val="00B050"/>
          </a:solidFill>
        </p:spPr>
        <p:txBody>
          <a:bodyPr vert="horz" wrap="square" lIns="0" tIns="35560" rIns="0" bIns="0" rtlCol="0">
            <a:spAutoFit/>
          </a:bodyPr>
          <a:lstStyle/>
          <a:p>
            <a:pPr marL="90805">
              <a:lnSpc>
                <a:spcPct val="100000"/>
              </a:lnSpc>
              <a:spcBef>
                <a:spcPts val="280"/>
              </a:spcBef>
            </a:pPr>
            <a:r>
              <a:rPr sz="1400">
                <a:latin typeface="Calibri"/>
                <a:cs typeface="Calibri"/>
              </a:rPr>
              <a:t>s</a:t>
            </a:r>
            <a:r>
              <a:rPr sz="1400" spc="-15">
                <a:latin typeface="Calibri"/>
                <a:cs typeface="Calibri"/>
              </a:rPr>
              <a:t> </a:t>
            </a:r>
            <a:r>
              <a:rPr sz="1400">
                <a:latin typeface="Calibri"/>
                <a:cs typeface="Calibri"/>
              </a:rPr>
              <a:t>=</a:t>
            </a:r>
            <a:r>
              <a:rPr sz="1400" spc="-20">
                <a:latin typeface="Calibri"/>
                <a:cs typeface="Calibri"/>
              </a:rPr>
              <a:t> </a:t>
            </a:r>
            <a:r>
              <a:rPr sz="1400" spc="-10">
                <a:latin typeface="Calibri"/>
                <a:cs typeface="Calibri"/>
              </a:rPr>
              <a:t>standard</a:t>
            </a:r>
            <a:r>
              <a:rPr sz="1400">
                <a:latin typeface="Calibri"/>
                <a:cs typeface="Calibri"/>
              </a:rPr>
              <a:t> </a:t>
            </a:r>
            <a:r>
              <a:rPr sz="1400" spc="-5">
                <a:latin typeface="Calibri"/>
                <a:cs typeface="Calibri"/>
              </a:rPr>
              <a:t>deviation</a:t>
            </a:r>
            <a:endParaRPr sz="1400">
              <a:latin typeface="Calibri"/>
              <a:cs typeface="Calibri"/>
            </a:endParaRPr>
          </a:p>
          <a:p>
            <a:pPr marL="90805">
              <a:lnSpc>
                <a:spcPct val="100000"/>
              </a:lnSpc>
              <a:spcBef>
                <a:spcPts val="340"/>
              </a:spcBef>
            </a:pPr>
            <a:r>
              <a:rPr sz="1400">
                <a:latin typeface="Calibri"/>
                <a:cs typeface="Calibri"/>
              </a:rPr>
              <a:t>x</a:t>
            </a:r>
            <a:r>
              <a:rPr sz="1400" spc="-25">
                <a:latin typeface="Calibri"/>
                <a:cs typeface="Calibri"/>
              </a:rPr>
              <a:t> </a:t>
            </a:r>
            <a:r>
              <a:rPr sz="1400">
                <a:latin typeface="Calibri"/>
                <a:cs typeface="Calibri"/>
              </a:rPr>
              <a:t>=</a:t>
            </a:r>
            <a:r>
              <a:rPr sz="1400" spc="-30">
                <a:latin typeface="Calibri"/>
                <a:cs typeface="Calibri"/>
              </a:rPr>
              <a:t> </a:t>
            </a:r>
            <a:r>
              <a:rPr sz="1400" spc="-5">
                <a:latin typeface="Calibri"/>
                <a:cs typeface="Calibri"/>
              </a:rPr>
              <a:t>mean</a:t>
            </a:r>
            <a:endParaRPr sz="1400">
              <a:latin typeface="Calibri"/>
              <a:cs typeface="Calibri"/>
            </a:endParaRPr>
          </a:p>
          <a:p>
            <a:pPr marL="90805" marR="267970">
              <a:lnSpc>
                <a:spcPct val="120000"/>
              </a:lnSpc>
            </a:pPr>
            <a:r>
              <a:rPr sz="1400">
                <a:latin typeface="Calibri"/>
                <a:cs typeface="Calibri"/>
              </a:rPr>
              <a:t>x = </a:t>
            </a:r>
            <a:r>
              <a:rPr sz="1400" spc="-5">
                <a:latin typeface="Calibri"/>
                <a:cs typeface="Calibri"/>
              </a:rPr>
              <a:t>values of the </a:t>
            </a:r>
            <a:r>
              <a:rPr sz="1400" spc="-10">
                <a:latin typeface="Calibri"/>
                <a:cs typeface="Calibri"/>
              </a:rPr>
              <a:t>data </a:t>
            </a:r>
            <a:r>
              <a:rPr sz="1400" spc="-5">
                <a:latin typeface="Calibri"/>
                <a:cs typeface="Calibri"/>
              </a:rPr>
              <a:t>set </a:t>
            </a:r>
            <a:r>
              <a:rPr sz="1400" spc="-305">
                <a:latin typeface="Calibri"/>
                <a:cs typeface="Calibri"/>
              </a:rPr>
              <a:t> </a:t>
            </a:r>
            <a:r>
              <a:rPr sz="1400">
                <a:latin typeface="Calibri"/>
                <a:cs typeface="Calibri"/>
              </a:rPr>
              <a:t>n</a:t>
            </a:r>
            <a:r>
              <a:rPr sz="1400" spc="-20">
                <a:latin typeface="Calibri"/>
                <a:cs typeface="Calibri"/>
              </a:rPr>
              <a:t> </a:t>
            </a:r>
            <a:r>
              <a:rPr sz="1400">
                <a:latin typeface="Calibri"/>
                <a:cs typeface="Calibri"/>
              </a:rPr>
              <a:t>=</a:t>
            </a:r>
            <a:r>
              <a:rPr sz="1400" spc="-5">
                <a:latin typeface="Calibri"/>
                <a:cs typeface="Calibri"/>
              </a:rPr>
              <a:t> </a:t>
            </a:r>
            <a:r>
              <a:rPr sz="1400" spc="-15">
                <a:latin typeface="Calibri"/>
                <a:cs typeface="Calibri"/>
              </a:rPr>
              <a:t>size </a:t>
            </a:r>
            <a:r>
              <a:rPr sz="1400" spc="-5">
                <a:latin typeface="Calibri"/>
                <a:cs typeface="Calibri"/>
              </a:rPr>
              <a:t>of</a:t>
            </a:r>
            <a:r>
              <a:rPr sz="1400" spc="-15">
                <a:latin typeface="Calibri"/>
                <a:cs typeface="Calibri"/>
              </a:rPr>
              <a:t> </a:t>
            </a:r>
            <a:r>
              <a:rPr sz="1400" spc="-5">
                <a:latin typeface="Calibri"/>
                <a:cs typeface="Calibri"/>
              </a:rPr>
              <a:t>the</a:t>
            </a:r>
            <a:r>
              <a:rPr sz="1400" spc="5">
                <a:latin typeface="Calibri"/>
                <a:cs typeface="Calibri"/>
              </a:rPr>
              <a:t> </a:t>
            </a:r>
            <a:r>
              <a:rPr sz="1400" spc="-10">
                <a:latin typeface="Calibri"/>
                <a:cs typeface="Calibri"/>
              </a:rPr>
              <a:t>data</a:t>
            </a:r>
            <a:r>
              <a:rPr sz="1400">
                <a:latin typeface="Calibri"/>
                <a:cs typeface="Calibri"/>
              </a:rPr>
              <a:t> </a:t>
            </a:r>
            <a:r>
              <a:rPr sz="1400" spc="-5">
                <a:latin typeface="Calibri"/>
                <a:cs typeface="Calibri"/>
              </a:rPr>
              <a:t>set</a:t>
            </a:r>
            <a:endParaRPr sz="1400">
              <a:latin typeface="Calibri"/>
              <a:cs typeface="Calibri"/>
            </a:endParaRPr>
          </a:p>
        </p:txBody>
      </p:sp>
      <p:sp>
        <p:nvSpPr>
          <p:cNvPr id="4" name="object 30">
            <a:extLst>
              <a:ext uri="{FF2B5EF4-FFF2-40B4-BE49-F238E27FC236}">
                <a16:creationId xmlns:a16="http://schemas.microsoft.com/office/drawing/2014/main" id="{EFD89635-72B8-CAD0-B07A-66ACF7285A0E}"/>
              </a:ext>
            </a:extLst>
          </p:cNvPr>
          <p:cNvSpPr txBox="1"/>
          <p:nvPr/>
        </p:nvSpPr>
        <p:spPr>
          <a:xfrm>
            <a:off x="3937635" y="5982527"/>
            <a:ext cx="2158365" cy="833945"/>
          </a:xfrm>
          <a:prstGeom prst="rect">
            <a:avLst/>
          </a:prstGeom>
          <a:solidFill>
            <a:srgbClr val="FFC000"/>
          </a:solidFill>
        </p:spPr>
        <p:txBody>
          <a:bodyPr vert="horz" wrap="square" lIns="0" tIns="13335" rIns="0" bIns="0" rtlCol="0">
            <a:spAutoFit/>
          </a:bodyPr>
          <a:lstStyle/>
          <a:p>
            <a:pPr marL="726440">
              <a:lnSpc>
                <a:spcPts val="1770"/>
              </a:lnSpc>
              <a:spcBef>
                <a:spcPts val="105"/>
              </a:spcBef>
            </a:pPr>
            <a:r>
              <a:rPr sz="2000">
                <a:latin typeface="Verdana"/>
                <a:cs typeface="Verdana"/>
              </a:rPr>
              <a:t>∑</a:t>
            </a:r>
            <a:r>
              <a:rPr sz="2000" spc="-270">
                <a:latin typeface="Verdana"/>
                <a:cs typeface="Verdana"/>
              </a:rPr>
              <a:t> </a:t>
            </a:r>
            <a:r>
              <a:rPr sz="2000">
                <a:latin typeface="Calibri"/>
                <a:cs typeface="Calibri"/>
              </a:rPr>
              <a:t>( x</a:t>
            </a:r>
            <a:r>
              <a:rPr sz="2000" spc="-10">
                <a:latin typeface="Calibri"/>
                <a:cs typeface="Calibri"/>
              </a:rPr>
              <a:t> </a:t>
            </a:r>
            <a:r>
              <a:rPr sz="2000">
                <a:latin typeface="Calibri"/>
                <a:cs typeface="Calibri"/>
              </a:rPr>
              <a:t>– x</a:t>
            </a:r>
            <a:r>
              <a:rPr sz="2000" spc="-15">
                <a:latin typeface="Calibri"/>
                <a:cs typeface="Calibri"/>
              </a:rPr>
              <a:t> </a:t>
            </a:r>
            <a:r>
              <a:rPr sz="2000">
                <a:latin typeface="Calibri"/>
                <a:cs typeface="Calibri"/>
              </a:rPr>
              <a:t>)</a:t>
            </a:r>
            <a:r>
              <a:rPr sz="1950" spc="22" baseline="25641">
                <a:latin typeface="Calibri"/>
                <a:cs typeface="Calibri"/>
              </a:rPr>
              <a:t>2</a:t>
            </a:r>
            <a:endParaRPr sz="1950" baseline="25641">
              <a:latin typeface="Calibri"/>
              <a:cs typeface="Calibri"/>
            </a:endParaRPr>
          </a:p>
          <a:p>
            <a:pPr marL="25400">
              <a:lnSpc>
                <a:spcPts val="2140"/>
              </a:lnSpc>
              <a:tabLst>
                <a:tab pos="657225" algn="l"/>
                <a:tab pos="1973580" algn="l"/>
              </a:tabLst>
            </a:pPr>
            <a:r>
              <a:rPr sz="2400">
                <a:latin typeface="Calibri"/>
                <a:cs typeface="Calibri"/>
              </a:rPr>
              <a:t>s</a:t>
            </a:r>
            <a:r>
              <a:rPr sz="2400" spc="-130">
                <a:latin typeface="Calibri"/>
                <a:cs typeface="Calibri"/>
              </a:rPr>
              <a:t> </a:t>
            </a:r>
            <a:r>
              <a:rPr sz="2000">
                <a:latin typeface="Calibri"/>
                <a:cs typeface="Calibri"/>
              </a:rPr>
              <a:t>=	</a:t>
            </a:r>
            <a:r>
              <a:rPr sz="2000" u="sng">
                <a:uFill>
                  <a:solidFill>
                    <a:srgbClr val="000000"/>
                  </a:solidFill>
                </a:uFill>
                <a:latin typeface="Calibri"/>
                <a:cs typeface="Calibri"/>
              </a:rPr>
              <a:t> 	</a:t>
            </a:r>
            <a:endParaRPr sz="2000">
              <a:latin typeface="Calibri"/>
              <a:cs typeface="Calibri"/>
            </a:endParaRPr>
          </a:p>
          <a:p>
            <a:pPr marL="1061720">
              <a:lnSpc>
                <a:spcPts val="2295"/>
              </a:lnSpc>
            </a:pPr>
            <a:r>
              <a:rPr sz="2000">
                <a:latin typeface="Calibri"/>
                <a:cs typeface="Calibri"/>
              </a:rPr>
              <a:t>n</a:t>
            </a:r>
            <a:r>
              <a:rPr sz="2000" spc="-35">
                <a:latin typeface="Calibri"/>
                <a:cs typeface="Calibri"/>
              </a:rPr>
              <a:t> </a:t>
            </a:r>
            <a:r>
              <a:rPr sz="2000">
                <a:latin typeface="Calibri"/>
                <a:cs typeface="Calibri"/>
              </a:rPr>
              <a:t>-</a:t>
            </a:r>
            <a:r>
              <a:rPr sz="2000" spc="-25">
                <a:latin typeface="Calibri"/>
                <a:cs typeface="Calibri"/>
              </a:rPr>
              <a:t> </a:t>
            </a:r>
            <a:r>
              <a:rPr sz="2000">
                <a:latin typeface="Calibri"/>
                <a:cs typeface="Calibri"/>
              </a:rPr>
              <a:t>1</a:t>
            </a:r>
          </a:p>
        </p:txBody>
      </p:sp>
      <p:pic>
        <p:nvPicPr>
          <p:cNvPr id="5" name="Picture 4">
            <a:extLst>
              <a:ext uri="{FF2B5EF4-FFF2-40B4-BE49-F238E27FC236}">
                <a16:creationId xmlns:a16="http://schemas.microsoft.com/office/drawing/2014/main" id="{78FD515E-0152-C7CD-14FC-720D079847B9}"/>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19878700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1E128CB-274A-F8AD-8D71-768908B88F60}"/>
              </a:ext>
            </a:extLst>
          </p:cNvPr>
          <p:cNvSpPr>
            <a:spLocks noGrp="1"/>
          </p:cNvSpPr>
          <p:nvPr>
            <p:ph type="title"/>
          </p:nvPr>
        </p:nvSpPr>
        <p:spPr>
          <a:xfrm>
            <a:off x="681820" y="912677"/>
            <a:ext cx="3719694" cy="1106424"/>
          </a:xfrm>
        </p:spPr>
        <p:txBody>
          <a:bodyPr>
            <a:normAutofit/>
          </a:bodyPr>
          <a:lstStyle/>
          <a:p>
            <a:r>
              <a:rPr lang="en-GB" sz="2800">
                <a:latin typeface="Abadi" panose="020B0604020104020204" pitchFamily="34" charset="0"/>
              </a:rPr>
              <a:t>Outliers</a:t>
            </a:r>
            <a:endParaRPr lang="en-US" sz="2800">
              <a:latin typeface="Abadi" panose="020B0604020104020204" pitchFamily="34" charset="0"/>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0A34007-B40F-6E1E-AA7C-7A4E439F8AF4}"/>
                  </a:ext>
                </a:extLst>
              </p14:cNvPr>
              <p14:cNvContentPartPr/>
              <p14:nvPr/>
            </p14:nvContentPartPr>
            <p14:xfrm>
              <a:off x="8333633" y="4920532"/>
              <a:ext cx="105480" cy="97560"/>
            </p14:xfrm>
          </p:contentPart>
        </mc:Choice>
        <mc:Fallback>
          <p:pic>
            <p:nvPicPr>
              <p:cNvPr id="2" name="Ink 1">
                <a:extLst>
                  <a:ext uri="{FF2B5EF4-FFF2-40B4-BE49-F238E27FC236}">
                    <a16:creationId xmlns:a16="http://schemas.microsoft.com/office/drawing/2014/main" id="{60A34007-B40F-6E1E-AA7C-7A4E439F8AF4}"/>
                  </a:ext>
                </a:extLst>
              </p:cNvPr>
              <p:cNvPicPr/>
              <p:nvPr/>
            </p:nvPicPr>
            <p:blipFill>
              <a:blip r:embed="rId4"/>
              <a:stretch>
                <a:fillRect/>
              </a:stretch>
            </p:blipFill>
            <p:spPr>
              <a:xfrm>
                <a:off x="8324602" y="4911532"/>
                <a:ext cx="12318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22CD2AB4-4CB8-A75D-0B7A-3FA62C715EC2}"/>
                  </a:ext>
                </a:extLst>
              </p14:cNvPr>
              <p14:cNvContentPartPr/>
              <p14:nvPr/>
            </p14:nvContentPartPr>
            <p14:xfrm>
              <a:off x="8359193" y="4916212"/>
              <a:ext cx="50040" cy="127800"/>
            </p14:xfrm>
          </p:contentPart>
        </mc:Choice>
        <mc:Fallback>
          <p:pic>
            <p:nvPicPr>
              <p:cNvPr id="3" name="Ink 2">
                <a:extLst>
                  <a:ext uri="{FF2B5EF4-FFF2-40B4-BE49-F238E27FC236}">
                    <a16:creationId xmlns:a16="http://schemas.microsoft.com/office/drawing/2014/main" id="{22CD2AB4-4CB8-A75D-0B7A-3FA62C715EC2}"/>
                  </a:ext>
                </a:extLst>
              </p:cNvPr>
              <p:cNvPicPr/>
              <p:nvPr/>
            </p:nvPicPr>
            <p:blipFill>
              <a:blip r:embed="rId6"/>
              <a:stretch>
                <a:fillRect/>
              </a:stretch>
            </p:blipFill>
            <p:spPr>
              <a:xfrm>
                <a:off x="8350193" y="4907212"/>
                <a:ext cx="67680" cy="145440"/>
              </a:xfrm>
              <a:prstGeom prst="rect">
                <a:avLst/>
              </a:prstGeom>
            </p:spPr>
          </p:pic>
        </mc:Fallback>
      </mc:AlternateContent>
      <p:pic>
        <p:nvPicPr>
          <p:cNvPr id="5" name="Picture 4">
            <a:extLst>
              <a:ext uri="{FF2B5EF4-FFF2-40B4-BE49-F238E27FC236}">
                <a16:creationId xmlns:a16="http://schemas.microsoft.com/office/drawing/2014/main" id="{5E48DECF-1F9E-31A7-357D-63FCD6ABD09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09337" y="1279499"/>
            <a:ext cx="3743947" cy="5105382"/>
          </a:xfrm>
          <a:prstGeom prst="rect">
            <a:avLst/>
          </a:prstGeom>
        </p:spPr>
      </p:pic>
      <p:pic>
        <p:nvPicPr>
          <p:cNvPr id="12" name="Picture 11">
            <a:extLst>
              <a:ext uri="{FF2B5EF4-FFF2-40B4-BE49-F238E27FC236}">
                <a16:creationId xmlns:a16="http://schemas.microsoft.com/office/drawing/2014/main" id="{30B66414-1273-EE57-9809-6FADDF0C679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1820" y="2448722"/>
            <a:ext cx="5803900" cy="3251200"/>
          </a:xfrm>
          <a:prstGeom prst="rect">
            <a:avLst/>
          </a:prstGeom>
        </p:spPr>
      </p:pic>
      <p:pic>
        <p:nvPicPr>
          <p:cNvPr id="4" name="Picture 3">
            <a:extLst>
              <a:ext uri="{FF2B5EF4-FFF2-40B4-BE49-F238E27FC236}">
                <a16:creationId xmlns:a16="http://schemas.microsoft.com/office/drawing/2014/main" id="{BEF9DC67-53C0-9228-20AB-A9D62971F759}"/>
              </a:ext>
            </a:extLst>
          </p:cNvPr>
          <p:cNvPicPr>
            <a:picLocks noChangeAspect="1"/>
          </p:cNvPicPr>
          <p:nvPr/>
        </p:nvPicPr>
        <p:blipFill>
          <a:blip r:embed="rId9"/>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35480065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1E128CB-274A-F8AD-8D71-768908B88F60}"/>
              </a:ext>
            </a:extLst>
          </p:cNvPr>
          <p:cNvSpPr>
            <a:spLocks noGrp="1"/>
          </p:cNvSpPr>
          <p:nvPr>
            <p:ph type="title"/>
          </p:nvPr>
        </p:nvSpPr>
        <p:spPr>
          <a:xfrm>
            <a:off x="681820" y="912677"/>
            <a:ext cx="3719694" cy="1106424"/>
          </a:xfrm>
        </p:spPr>
        <p:txBody>
          <a:bodyPr>
            <a:normAutofit/>
          </a:bodyPr>
          <a:lstStyle/>
          <a:p>
            <a:r>
              <a:rPr lang="en-GB" sz="2800">
                <a:latin typeface="Abadi" panose="020B0604020104020204" pitchFamily="34" charset="0"/>
              </a:rPr>
              <a:t>Outliers</a:t>
            </a:r>
            <a:endParaRPr lang="en-US" sz="2800">
              <a:latin typeface="Abadi" panose="020B0604020104020204" pitchFamily="34" charset="0"/>
            </a:endParaRPr>
          </a:p>
        </p:txBody>
      </p:sp>
      <p:sp>
        <p:nvSpPr>
          <p:cNvPr id="7" name="TextBox 6">
            <a:extLst>
              <a:ext uri="{FF2B5EF4-FFF2-40B4-BE49-F238E27FC236}">
                <a16:creationId xmlns:a16="http://schemas.microsoft.com/office/drawing/2014/main" id="{71AE16CD-E7AA-DE38-CE67-AF76DFF3AC07}"/>
              </a:ext>
            </a:extLst>
          </p:cNvPr>
          <p:cNvSpPr txBox="1"/>
          <p:nvPr/>
        </p:nvSpPr>
        <p:spPr>
          <a:xfrm>
            <a:off x="473583" y="2445488"/>
            <a:ext cx="11308842" cy="3785652"/>
          </a:xfrm>
          <a:prstGeom prst="rect">
            <a:avLst/>
          </a:prstGeom>
          <a:noFill/>
        </p:spPr>
        <p:txBody>
          <a:bodyPr wrap="square" rtlCol="0">
            <a:spAutoFit/>
          </a:bodyPr>
          <a:lstStyle/>
          <a:p>
            <a:pPr marL="342900" indent="-342900">
              <a:buFontTx/>
              <a:buChar char="-"/>
            </a:pPr>
            <a:r>
              <a:rPr lang="en-US" sz="2400"/>
              <a:t>Outlier is  data point that is significantly greater or smaller than other  data points in a data set.</a:t>
            </a:r>
          </a:p>
          <a:p>
            <a:pPr marL="342900" indent="-342900">
              <a:buFontTx/>
              <a:buChar char="-"/>
            </a:pPr>
            <a:r>
              <a:rPr lang="en-US" sz="2400"/>
              <a:t>It is useful when analyzing data to identify outliers as they may affect the calculation of descriptive  statistics.</a:t>
            </a:r>
          </a:p>
          <a:p>
            <a:pPr marL="342900" indent="-342900">
              <a:buFontTx/>
              <a:buChar char="-"/>
            </a:pPr>
            <a:r>
              <a:rPr lang="en-US" sz="2400"/>
              <a:t>Outliers can occur in any given data set and in  any distribution and may indicate an experimental error or incorrect  recording of data. They may also occur by chance.</a:t>
            </a:r>
          </a:p>
          <a:p>
            <a:pPr marL="342900" indent="-342900">
              <a:buFontTx/>
              <a:buChar char="-"/>
            </a:pPr>
            <a:r>
              <a:rPr lang="en-US" sz="2400"/>
              <a:t>In some cases it may be normal to have high or low data points.</a:t>
            </a:r>
          </a:p>
          <a:p>
            <a:pPr marL="342900" indent="-342900">
              <a:buFontTx/>
              <a:buChar char="-"/>
            </a:pPr>
            <a:r>
              <a:rPr lang="en-US" sz="2400"/>
              <a:t>Before carrying out you analysis, you must decide whether to include or exclude the outliers. An outlier should be excluded if it is due to  measurement or human error.</a:t>
            </a:r>
          </a:p>
          <a:p>
            <a:pPr marL="342900" indent="-342900">
              <a:buFontTx/>
              <a:buChar char="-"/>
            </a:pPr>
            <a:endParaRPr lang="en-US" sz="2400"/>
          </a:p>
        </p:txBody>
      </p:sp>
      <p:pic>
        <p:nvPicPr>
          <p:cNvPr id="2" name="Picture 1">
            <a:extLst>
              <a:ext uri="{FF2B5EF4-FFF2-40B4-BE49-F238E27FC236}">
                <a16:creationId xmlns:a16="http://schemas.microsoft.com/office/drawing/2014/main" id="{B341B1EE-8D64-3F2A-641F-6C7F55CD784C}"/>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40693351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1E128CB-274A-F8AD-8D71-768908B88F60}"/>
              </a:ext>
            </a:extLst>
          </p:cNvPr>
          <p:cNvSpPr>
            <a:spLocks noGrp="1"/>
          </p:cNvSpPr>
          <p:nvPr>
            <p:ph type="title"/>
          </p:nvPr>
        </p:nvSpPr>
        <p:spPr>
          <a:xfrm>
            <a:off x="681820" y="912677"/>
            <a:ext cx="3719694" cy="1106424"/>
          </a:xfrm>
        </p:spPr>
        <p:txBody>
          <a:bodyPr>
            <a:normAutofit/>
          </a:bodyPr>
          <a:lstStyle/>
          <a:p>
            <a:r>
              <a:rPr lang="en-GB" sz="2800">
                <a:latin typeface="Abadi" panose="020B0604020104020204" pitchFamily="34" charset="0"/>
              </a:rPr>
              <a:t>Outliers</a:t>
            </a:r>
            <a:endParaRPr lang="en-US" sz="2800">
              <a:latin typeface="Abadi" panose="020B0604020104020204" pitchFamily="34" charset="0"/>
            </a:endParaRPr>
          </a:p>
        </p:txBody>
      </p:sp>
      <p:grpSp>
        <p:nvGrpSpPr>
          <p:cNvPr id="18" name="object 5">
            <a:extLst>
              <a:ext uri="{FF2B5EF4-FFF2-40B4-BE49-F238E27FC236}">
                <a16:creationId xmlns:a16="http://schemas.microsoft.com/office/drawing/2014/main" id="{9BAA724B-F37C-A213-FD54-D342999FFBFA}"/>
              </a:ext>
            </a:extLst>
          </p:cNvPr>
          <p:cNvGrpSpPr/>
          <p:nvPr/>
        </p:nvGrpSpPr>
        <p:grpSpPr>
          <a:xfrm>
            <a:off x="4688958" y="2816953"/>
            <a:ext cx="3459479" cy="1655445"/>
            <a:chOff x="2842260" y="2997707"/>
            <a:chExt cx="3459479" cy="1655445"/>
          </a:xfrm>
        </p:grpSpPr>
        <p:sp>
          <p:nvSpPr>
            <p:cNvPr id="19" name="object 6">
              <a:extLst>
                <a:ext uri="{FF2B5EF4-FFF2-40B4-BE49-F238E27FC236}">
                  <a16:creationId xmlns:a16="http://schemas.microsoft.com/office/drawing/2014/main" id="{11598178-A139-4094-85EB-440E975FF299}"/>
                </a:ext>
              </a:extLst>
            </p:cNvPr>
            <p:cNvSpPr/>
            <p:nvPr/>
          </p:nvSpPr>
          <p:spPr>
            <a:xfrm>
              <a:off x="2842260" y="2997707"/>
              <a:ext cx="3459479" cy="1655445"/>
            </a:xfrm>
            <a:custGeom>
              <a:avLst/>
              <a:gdLst/>
              <a:ahLst/>
              <a:cxnLst/>
              <a:rect l="l" t="t" r="r" b="b"/>
              <a:pathLst>
                <a:path w="3459479" h="1655445">
                  <a:moveTo>
                    <a:pt x="3459479" y="0"/>
                  </a:moveTo>
                  <a:lnTo>
                    <a:pt x="0" y="0"/>
                  </a:lnTo>
                  <a:lnTo>
                    <a:pt x="0" y="1655064"/>
                  </a:lnTo>
                  <a:lnTo>
                    <a:pt x="3459479" y="1655064"/>
                  </a:lnTo>
                  <a:lnTo>
                    <a:pt x="3459479" y="0"/>
                  </a:lnTo>
                  <a:close/>
                </a:path>
              </a:pathLst>
            </a:custGeom>
            <a:solidFill>
              <a:srgbClr val="EDEDED"/>
            </a:solidFill>
          </p:spPr>
          <p:txBody>
            <a:bodyPr wrap="square" lIns="0" tIns="0" rIns="0" bIns="0" rtlCol="0"/>
            <a:lstStyle/>
            <a:p>
              <a:endParaRPr/>
            </a:p>
          </p:txBody>
        </p:sp>
        <p:sp>
          <p:nvSpPr>
            <p:cNvPr id="20" name="object 7">
              <a:extLst>
                <a:ext uri="{FF2B5EF4-FFF2-40B4-BE49-F238E27FC236}">
                  <a16:creationId xmlns:a16="http://schemas.microsoft.com/office/drawing/2014/main" id="{132178F5-DB92-F35B-B91A-1BF75C59C29C}"/>
                </a:ext>
              </a:extLst>
            </p:cNvPr>
            <p:cNvSpPr/>
            <p:nvPr/>
          </p:nvSpPr>
          <p:spPr>
            <a:xfrm>
              <a:off x="3341370" y="3531869"/>
              <a:ext cx="0" cy="402590"/>
            </a:xfrm>
            <a:custGeom>
              <a:avLst/>
              <a:gdLst/>
              <a:ahLst/>
              <a:cxnLst/>
              <a:rect l="l" t="t" r="r" b="b"/>
              <a:pathLst>
                <a:path h="402589">
                  <a:moveTo>
                    <a:pt x="0" y="0"/>
                  </a:moveTo>
                  <a:lnTo>
                    <a:pt x="0" y="402335"/>
                  </a:lnTo>
                </a:path>
              </a:pathLst>
            </a:custGeom>
            <a:ln w="28956">
              <a:solidFill>
                <a:srgbClr val="000000"/>
              </a:solidFill>
            </a:ln>
          </p:spPr>
          <p:txBody>
            <a:bodyPr wrap="square" lIns="0" tIns="0" rIns="0" bIns="0" rtlCol="0"/>
            <a:lstStyle/>
            <a:p>
              <a:endParaRPr/>
            </a:p>
          </p:txBody>
        </p:sp>
        <p:sp>
          <p:nvSpPr>
            <p:cNvPr id="21" name="object 8">
              <a:extLst>
                <a:ext uri="{FF2B5EF4-FFF2-40B4-BE49-F238E27FC236}">
                  <a16:creationId xmlns:a16="http://schemas.microsoft.com/office/drawing/2014/main" id="{B6B68C19-CB9C-B942-925E-F32B709D3FEA}"/>
                </a:ext>
              </a:extLst>
            </p:cNvPr>
            <p:cNvSpPr/>
            <p:nvPr/>
          </p:nvSpPr>
          <p:spPr>
            <a:xfrm>
              <a:off x="3589020" y="3729227"/>
              <a:ext cx="1937385" cy="201295"/>
            </a:xfrm>
            <a:custGeom>
              <a:avLst/>
              <a:gdLst/>
              <a:ahLst/>
              <a:cxnLst/>
              <a:rect l="l" t="t" r="r" b="b"/>
              <a:pathLst>
                <a:path w="1937385" h="201295">
                  <a:moveTo>
                    <a:pt x="0" y="0"/>
                  </a:moveTo>
                  <a:lnTo>
                    <a:pt x="0" y="201168"/>
                  </a:lnTo>
                </a:path>
                <a:path w="1937385" h="201295">
                  <a:moveTo>
                    <a:pt x="242315" y="0"/>
                  </a:moveTo>
                  <a:lnTo>
                    <a:pt x="242315" y="201168"/>
                  </a:lnTo>
                </a:path>
                <a:path w="1937385" h="201295">
                  <a:moveTo>
                    <a:pt x="484631" y="0"/>
                  </a:moveTo>
                  <a:lnTo>
                    <a:pt x="484631" y="201168"/>
                  </a:lnTo>
                </a:path>
                <a:path w="1937385" h="201295">
                  <a:moveTo>
                    <a:pt x="726947" y="0"/>
                  </a:moveTo>
                  <a:lnTo>
                    <a:pt x="726947" y="201168"/>
                  </a:lnTo>
                </a:path>
                <a:path w="1937385" h="201295">
                  <a:moveTo>
                    <a:pt x="967739" y="0"/>
                  </a:moveTo>
                  <a:lnTo>
                    <a:pt x="967739" y="201168"/>
                  </a:lnTo>
                </a:path>
                <a:path w="1937385" h="201295">
                  <a:moveTo>
                    <a:pt x="1210055" y="0"/>
                  </a:moveTo>
                  <a:lnTo>
                    <a:pt x="1210055" y="201168"/>
                  </a:lnTo>
                </a:path>
                <a:path w="1937385" h="201295">
                  <a:moveTo>
                    <a:pt x="1452371" y="0"/>
                  </a:moveTo>
                  <a:lnTo>
                    <a:pt x="1452371" y="201168"/>
                  </a:lnTo>
                </a:path>
                <a:path w="1937385" h="201295">
                  <a:moveTo>
                    <a:pt x="1694688" y="0"/>
                  </a:moveTo>
                  <a:lnTo>
                    <a:pt x="1694688" y="201168"/>
                  </a:lnTo>
                </a:path>
                <a:path w="1937385" h="201295">
                  <a:moveTo>
                    <a:pt x="1937003" y="0"/>
                  </a:moveTo>
                  <a:lnTo>
                    <a:pt x="1937003" y="201168"/>
                  </a:lnTo>
                </a:path>
              </a:pathLst>
            </a:custGeom>
            <a:ln w="12192">
              <a:solidFill>
                <a:srgbClr val="BEBEBE"/>
              </a:solidFill>
            </a:ln>
          </p:spPr>
          <p:txBody>
            <a:bodyPr wrap="square" lIns="0" tIns="0" rIns="0" bIns="0" rtlCol="0"/>
            <a:lstStyle/>
            <a:p>
              <a:endParaRPr/>
            </a:p>
          </p:txBody>
        </p:sp>
        <p:sp>
          <p:nvSpPr>
            <p:cNvPr id="22" name="object 9">
              <a:extLst>
                <a:ext uri="{FF2B5EF4-FFF2-40B4-BE49-F238E27FC236}">
                  <a16:creationId xmlns:a16="http://schemas.microsoft.com/office/drawing/2014/main" id="{8B059159-2EDE-4497-2F81-2C546AB44FAA}"/>
                </a:ext>
              </a:extLst>
            </p:cNvPr>
            <p:cNvSpPr/>
            <p:nvPr/>
          </p:nvSpPr>
          <p:spPr>
            <a:xfrm>
              <a:off x="3335274" y="3653555"/>
              <a:ext cx="2533015" cy="171450"/>
            </a:xfrm>
            <a:custGeom>
              <a:avLst/>
              <a:gdLst/>
              <a:ahLst/>
              <a:cxnLst/>
              <a:rect l="l" t="t" r="r" b="b"/>
              <a:pathLst>
                <a:path w="2533015" h="171450">
                  <a:moveTo>
                    <a:pt x="2457214" y="85578"/>
                  </a:moveTo>
                  <a:lnTo>
                    <a:pt x="2371216" y="135743"/>
                  </a:lnTo>
                  <a:lnTo>
                    <a:pt x="2365609" y="140795"/>
                  </a:lnTo>
                  <a:lnTo>
                    <a:pt x="2362454" y="147395"/>
                  </a:lnTo>
                  <a:lnTo>
                    <a:pt x="2361965" y="154709"/>
                  </a:lnTo>
                  <a:lnTo>
                    <a:pt x="2364359" y="161905"/>
                  </a:lnTo>
                  <a:lnTo>
                    <a:pt x="2369411" y="167512"/>
                  </a:lnTo>
                  <a:lnTo>
                    <a:pt x="2376011" y="170668"/>
                  </a:lnTo>
                  <a:lnTo>
                    <a:pt x="2383325" y="171156"/>
                  </a:lnTo>
                  <a:lnTo>
                    <a:pt x="2390521" y="168763"/>
                  </a:lnTo>
                  <a:lnTo>
                    <a:pt x="2500382" y="104628"/>
                  </a:lnTo>
                  <a:lnTo>
                    <a:pt x="2495168" y="104628"/>
                  </a:lnTo>
                  <a:lnTo>
                    <a:pt x="2495168" y="102088"/>
                  </a:lnTo>
                  <a:lnTo>
                    <a:pt x="2485516" y="102088"/>
                  </a:lnTo>
                  <a:lnTo>
                    <a:pt x="2457214" y="85578"/>
                  </a:lnTo>
                  <a:close/>
                </a:path>
                <a:path w="2533015" h="171450">
                  <a:moveTo>
                    <a:pt x="2424556" y="66528"/>
                  </a:moveTo>
                  <a:lnTo>
                    <a:pt x="0" y="66528"/>
                  </a:lnTo>
                  <a:lnTo>
                    <a:pt x="0" y="104628"/>
                  </a:lnTo>
                  <a:lnTo>
                    <a:pt x="2424557" y="104628"/>
                  </a:lnTo>
                  <a:lnTo>
                    <a:pt x="2457214" y="85578"/>
                  </a:lnTo>
                  <a:lnTo>
                    <a:pt x="2424556" y="66528"/>
                  </a:lnTo>
                  <a:close/>
                </a:path>
                <a:path w="2533015" h="171450">
                  <a:moveTo>
                    <a:pt x="2500382" y="66528"/>
                  </a:moveTo>
                  <a:lnTo>
                    <a:pt x="2495168" y="66528"/>
                  </a:lnTo>
                  <a:lnTo>
                    <a:pt x="2495168" y="104628"/>
                  </a:lnTo>
                  <a:lnTo>
                    <a:pt x="2500382" y="104628"/>
                  </a:lnTo>
                  <a:lnTo>
                    <a:pt x="2533014" y="85578"/>
                  </a:lnTo>
                  <a:lnTo>
                    <a:pt x="2500382" y="66528"/>
                  </a:lnTo>
                  <a:close/>
                </a:path>
                <a:path w="2533015" h="171450">
                  <a:moveTo>
                    <a:pt x="2485516" y="69068"/>
                  </a:moveTo>
                  <a:lnTo>
                    <a:pt x="2457214" y="85578"/>
                  </a:lnTo>
                  <a:lnTo>
                    <a:pt x="2485516" y="102088"/>
                  </a:lnTo>
                  <a:lnTo>
                    <a:pt x="2485516" y="69068"/>
                  </a:lnTo>
                  <a:close/>
                </a:path>
                <a:path w="2533015" h="171450">
                  <a:moveTo>
                    <a:pt x="2495168" y="69068"/>
                  </a:moveTo>
                  <a:lnTo>
                    <a:pt x="2485516" y="69068"/>
                  </a:lnTo>
                  <a:lnTo>
                    <a:pt x="2485516" y="102088"/>
                  </a:lnTo>
                  <a:lnTo>
                    <a:pt x="2495168" y="102088"/>
                  </a:lnTo>
                  <a:lnTo>
                    <a:pt x="2495168" y="69068"/>
                  </a:lnTo>
                  <a:close/>
                </a:path>
                <a:path w="2533015" h="171450">
                  <a:moveTo>
                    <a:pt x="2383325" y="0"/>
                  </a:moveTo>
                  <a:lnTo>
                    <a:pt x="2376011" y="488"/>
                  </a:lnTo>
                  <a:lnTo>
                    <a:pt x="2369411" y="3643"/>
                  </a:lnTo>
                  <a:lnTo>
                    <a:pt x="2364359" y="9251"/>
                  </a:lnTo>
                  <a:lnTo>
                    <a:pt x="2361965" y="16446"/>
                  </a:lnTo>
                  <a:lnTo>
                    <a:pt x="2362454" y="23760"/>
                  </a:lnTo>
                  <a:lnTo>
                    <a:pt x="2365609" y="30360"/>
                  </a:lnTo>
                  <a:lnTo>
                    <a:pt x="2371216" y="35413"/>
                  </a:lnTo>
                  <a:lnTo>
                    <a:pt x="2457214" y="85578"/>
                  </a:lnTo>
                  <a:lnTo>
                    <a:pt x="2485516" y="69068"/>
                  </a:lnTo>
                  <a:lnTo>
                    <a:pt x="2495168" y="69068"/>
                  </a:lnTo>
                  <a:lnTo>
                    <a:pt x="2495168" y="66528"/>
                  </a:lnTo>
                  <a:lnTo>
                    <a:pt x="2500382" y="66528"/>
                  </a:lnTo>
                  <a:lnTo>
                    <a:pt x="2390521" y="2393"/>
                  </a:lnTo>
                  <a:lnTo>
                    <a:pt x="2383325" y="0"/>
                  </a:lnTo>
                  <a:close/>
                </a:path>
              </a:pathLst>
            </a:custGeom>
            <a:solidFill>
              <a:srgbClr val="000000"/>
            </a:solidFill>
          </p:spPr>
          <p:txBody>
            <a:bodyPr wrap="square" lIns="0" tIns="0" rIns="0" bIns="0" rtlCol="0"/>
            <a:lstStyle/>
            <a:p>
              <a:endParaRPr/>
            </a:p>
          </p:txBody>
        </p:sp>
        <p:sp>
          <p:nvSpPr>
            <p:cNvPr id="23" name="object 10">
              <a:extLst>
                <a:ext uri="{FF2B5EF4-FFF2-40B4-BE49-F238E27FC236}">
                  <a16:creationId xmlns:a16="http://schemas.microsoft.com/office/drawing/2014/main" id="{8044509F-FAD0-5EA0-42AA-94F65D05343B}"/>
                </a:ext>
              </a:extLst>
            </p:cNvPr>
            <p:cNvSpPr/>
            <p:nvPr/>
          </p:nvSpPr>
          <p:spPr>
            <a:xfrm>
              <a:off x="3762756" y="3653027"/>
              <a:ext cx="165100" cy="165100"/>
            </a:xfrm>
            <a:custGeom>
              <a:avLst/>
              <a:gdLst/>
              <a:ahLst/>
              <a:cxnLst/>
              <a:rect l="l" t="t" r="r" b="b"/>
              <a:pathLst>
                <a:path w="165100" h="165100">
                  <a:moveTo>
                    <a:pt x="82296" y="0"/>
                  </a:moveTo>
                  <a:lnTo>
                    <a:pt x="50256" y="6465"/>
                  </a:lnTo>
                  <a:lnTo>
                    <a:pt x="24098" y="24098"/>
                  </a:lnTo>
                  <a:lnTo>
                    <a:pt x="6465" y="50256"/>
                  </a:lnTo>
                  <a:lnTo>
                    <a:pt x="0" y="82296"/>
                  </a:lnTo>
                  <a:lnTo>
                    <a:pt x="6465" y="114335"/>
                  </a:lnTo>
                  <a:lnTo>
                    <a:pt x="24098" y="140493"/>
                  </a:lnTo>
                  <a:lnTo>
                    <a:pt x="50256" y="158126"/>
                  </a:lnTo>
                  <a:lnTo>
                    <a:pt x="82296" y="164592"/>
                  </a:lnTo>
                  <a:lnTo>
                    <a:pt x="114335" y="158126"/>
                  </a:lnTo>
                  <a:lnTo>
                    <a:pt x="140493" y="140493"/>
                  </a:lnTo>
                  <a:lnTo>
                    <a:pt x="158126" y="114335"/>
                  </a:lnTo>
                  <a:lnTo>
                    <a:pt x="164592" y="82296"/>
                  </a:lnTo>
                  <a:lnTo>
                    <a:pt x="158126" y="50256"/>
                  </a:lnTo>
                  <a:lnTo>
                    <a:pt x="140493" y="24098"/>
                  </a:lnTo>
                  <a:lnTo>
                    <a:pt x="114335" y="6465"/>
                  </a:lnTo>
                  <a:lnTo>
                    <a:pt x="82296" y="0"/>
                  </a:lnTo>
                  <a:close/>
                </a:path>
              </a:pathLst>
            </a:custGeom>
            <a:solidFill>
              <a:srgbClr val="00AFEF"/>
            </a:solidFill>
          </p:spPr>
          <p:txBody>
            <a:bodyPr wrap="square" lIns="0" tIns="0" rIns="0" bIns="0" rtlCol="0"/>
            <a:lstStyle/>
            <a:p>
              <a:endParaRPr/>
            </a:p>
          </p:txBody>
        </p:sp>
        <p:sp>
          <p:nvSpPr>
            <p:cNvPr id="24" name="object 11">
              <a:extLst>
                <a:ext uri="{FF2B5EF4-FFF2-40B4-BE49-F238E27FC236}">
                  <a16:creationId xmlns:a16="http://schemas.microsoft.com/office/drawing/2014/main" id="{5885785F-5BDD-54BB-635C-924D77F931CC}"/>
                </a:ext>
              </a:extLst>
            </p:cNvPr>
            <p:cNvSpPr/>
            <p:nvPr/>
          </p:nvSpPr>
          <p:spPr>
            <a:xfrm>
              <a:off x="3762756" y="3653027"/>
              <a:ext cx="165100" cy="165100"/>
            </a:xfrm>
            <a:custGeom>
              <a:avLst/>
              <a:gdLst/>
              <a:ahLst/>
              <a:cxnLst/>
              <a:rect l="l" t="t" r="r" b="b"/>
              <a:pathLst>
                <a:path w="165100" h="165100">
                  <a:moveTo>
                    <a:pt x="0" y="82296"/>
                  </a:moveTo>
                  <a:lnTo>
                    <a:pt x="6465" y="50256"/>
                  </a:lnTo>
                  <a:lnTo>
                    <a:pt x="24098" y="24098"/>
                  </a:lnTo>
                  <a:lnTo>
                    <a:pt x="50256" y="6465"/>
                  </a:lnTo>
                  <a:lnTo>
                    <a:pt x="82296" y="0"/>
                  </a:lnTo>
                  <a:lnTo>
                    <a:pt x="114335" y="6465"/>
                  </a:lnTo>
                  <a:lnTo>
                    <a:pt x="140493" y="24098"/>
                  </a:lnTo>
                  <a:lnTo>
                    <a:pt x="158126" y="50256"/>
                  </a:lnTo>
                  <a:lnTo>
                    <a:pt x="164592" y="82296"/>
                  </a:lnTo>
                  <a:lnTo>
                    <a:pt x="158126" y="114335"/>
                  </a:lnTo>
                  <a:lnTo>
                    <a:pt x="140493" y="140493"/>
                  </a:lnTo>
                  <a:lnTo>
                    <a:pt x="114335" y="158126"/>
                  </a:lnTo>
                  <a:lnTo>
                    <a:pt x="82296" y="164592"/>
                  </a:lnTo>
                  <a:lnTo>
                    <a:pt x="50256" y="158126"/>
                  </a:lnTo>
                  <a:lnTo>
                    <a:pt x="24098" y="140493"/>
                  </a:lnTo>
                  <a:lnTo>
                    <a:pt x="6465" y="114335"/>
                  </a:lnTo>
                  <a:lnTo>
                    <a:pt x="0" y="82296"/>
                  </a:lnTo>
                  <a:close/>
                </a:path>
              </a:pathLst>
            </a:custGeom>
            <a:ln w="12192">
              <a:solidFill>
                <a:srgbClr val="006FC0"/>
              </a:solidFill>
            </a:ln>
          </p:spPr>
          <p:txBody>
            <a:bodyPr wrap="square" lIns="0" tIns="0" rIns="0" bIns="0" rtlCol="0"/>
            <a:lstStyle/>
            <a:p>
              <a:endParaRPr/>
            </a:p>
          </p:txBody>
        </p:sp>
        <p:sp>
          <p:nvSpPr>
            <p:cNvPr id="25" name="object 12">
              <a:extLst>
                <a:ext uri="{FF2B5EF4-FFF2-40B4-BE49-F238E27FC236}">
                  <a16:creationId xmlns:a16="http://schemas.microsoft.com/office/drawing/2014/main" id="{784D6FE7-02F1-4E64-72E1-D668D60BE3B6}"/>
                </a:ext>
              </a:extLst>
            </p:cNvPr>
            <p:cNvSpPr/>
            <p:nvPr/>
          </p:nvSpPr>
          <p:spPr>
            <a:xfrm>
              <a:off x="3941063" y="3653027"/>
              <a:ext cx="165100" cy="165100"/>
            </a:xfrm>
            <a:custGeom>
              <a:avLst/>
              <a:gdLst/>
              <a:ahLst/>
              <a:cxnLst/>
              <a:rect l="l" t="t" r="r" b="b"/>
              <a:pathLst>
                <a:path w="165100" h="165100">
                  <a:moveTo>
                    <a:pt x="82296" y="0"/>
                  </a:moveTo>
                  <a:lnTo>
                    <a:pt x="50256" y="6465"/>
                  </a:lnTo>
                  <a:lnTo>
                    <a:pt x="24098" y="24098"/>
                  </a:lnTo>
                  <a:lnTo>
                    <a:pt x="6465" y="50256"/>
                  </a:lnTo>
                  <a:lnTo>
                    <a:pt x="0" y="82296"/>
                  </a:lnTo>
                  <a:lnTo>
                    <a:pt x="6465" y="114335"/>
                  </a:lnTo>
                  <a:lnTo>
                    <a:pt x="24098" y="140493"/>
                  </a:lnTo>
                  <a:lnTo>
                    <a:pt x="50256" y="158126"/>
                  </a:lnTo>
                  <a:lnTo>
                    <a:pt x="82296" y="164592"/>
                  </a:lnTo>
                  <a:lnTo>
                    <a:pt x="114335" y="158126"/>
                  </a:lnTo>
                  <a:lnTo>
                    <a:pt x="140493" y="140493"/>
                  </a:lnTo>
                  <a:lnTo>
                    <a:pt x="158126" y="114335"/>
                  </a:lnTo>
                  <a:lnTo>
                    <a:pt x="164591" y="82296"/>
                  </a:lnTo>
                  <a:lnTo>
                    <a:pt x="158126" y="50256"/>
                  </a:lnTo>
                  <a:lnTo>
                    <a:pt x="140493" y="24098"/>
                  </a:lnTo>
                  <a:lnTo>
                    <a:pt x="114335" y="6465"/>
                  </a:lnTo>
                  <a:lnTo>
                    <a:pt x="82296" y="0"/>
                  </a:lnTo>
                  <a:close/>
                </a:path>
              </a:pathLst>
            </a:custGeom>
            <a:solidFill>
              <a:srgbClr val="00AFEF"/>
            </a:solidFill>
          </p:spPr>
          <p:txBody>
            <a:bodyPr wrap="square" lIns="0" tIns="0" rIns="0" bIns="0" rtlCol="0"/>
            <a:lstStyle/>
            <a:p>
              <a:endParaRPr/>
            </a:p>
          </p:txBody>
        </p:sp>
        <p:sp>
          <p:nvSpPr>
            <p:cNvPr id="26" name="object 13">
              <a:extLst>
                <a:ext uri="{FF2B5EF4-FFF2-40B4-BE49-F238E27FC236}">
                  <a16:creationId xmlns:a16="http://schemas.microsoft.com/office/drawing/2014/main" id="{97C956DE-28A7-3685-26F7-65DDB99FFCA5}"/>
                </a:ext>
              </a:extLst>
            </p:cNvPr>
            <p:cNvSpPr/>
            <p:nvPr/>
          </p:nvSpPr>
          <p:spPr>
            <a:xfrm>
              <a:off x="3941063" y="3653027"/>
              <a:ext cx="165100" cy="165100"/>
            </a:xfrm>
            <a:custGeom>
              <a:avLst/>
              <a:gdLst/>
              <a:ahLst/>
              <a:cxnLst/>
              <a:rect l="l" t="t" r="r" b="b"/>
              <a:pathLst>
                <a:path w="165100" h="165100">
                  <a:moveTo>
                    <a:pt x="0" y="82296"/>
                  </a:moveTo>
                  <a:lnTo>
                    <a:pt x="6465" y="50256"/>
                  </a:lnTo>
                  <a:lnTo>
                    <a:pt x="24098" y="24098"/>
                  </a:lnTo>
                  <a:lnTo>
                    <a:pt x="50256" y="6465"/>
                  </a:lnTo>
                  <a:lnTo>
                    <a:pt x="82296" y="0"/>
                  </a:lnTo>
                  <a:lnTo>
                    <a:pt x="114335" y="6465"/>
                  </a:lnTo>
                  <a:lnTo>
                    <a:pt x="140493" y="24098"/>
                  </a:lnTo>
                  <a:lnTo>
                    <a:pt x="158126" y="50256"/>
                  </a:lnTo>
                  <a:lnTo>
                    <a:pt x="164591" y="82296"/>
                  </a:lnTo>
                  <a:lnTo>
                    <a:pt x="158126" y="114335"/>
                  </a:lnTo>
                  <a:lnTo>
                    <a:pt x="140493" y="140493"/>
                  </a:lnTo>
                  <a:lnTo>
                    <a:pt x="114335" y="158126"/>
                  </a:lnTo>
                  <a:lnTo>
                    <a:pt x="82296" y="164592"/>
                  </a:lnTo>
                  <a:lnTo>
                    <a:pt x="50256" y="158126"/>
                  </a:lnTo>
                  <a:lnTo>
                    <a:pt x="24098" y="140493"/>
                  </a:lnTo>
                  <a:lnTo>
                    <a:pt x="6465" y="114335"/>
                  </a:lnTo>
                  <a:lnTo>
                    <a:pt x="0" y="82296"/>
                  </a:lnTo>
                  <a:close/>
                </a:path>
              </a:pathLst>
            </a:custGeom>
            <a:ln w="12192">
              <a:solidFill>
                <a:srgbClr val="006FC0"/>
              </a:solidFill>
            </a:ln>
          </p:spPr>
          <p:txBody>
            <a:bodyPr wrap="square" lIns="0" tIns="0" rIns="0" bIns="0" rtlCol="0"/>
            <a:lstStyle/>
            <a:p>
              <a:endParaRPr/>
            </a:p>
          </p:txBody>
        </p:sp>
        <p:sp>
          <p:nvSpPr>
            <p:cNvPr id="27" name="object 14">
              <a:extLst>
                <a:ext uri="{FF2B5EF4-FFF2-40B4-BE49-F238E27FC236}">
                  <a16:creationId xmlns:a16="http://schemas.microsoft.com/office/drawing/2014/main" id="{D981C500-D9BD-0C9A-D80A-DC37E23F579B}"/>
                </a:ext>
              </a:extLst>
            </p:cNvPr>
            <p:cNvSpPr/>
            <p:nvPr/>
          </p:nvSpPr>
          <p:spPr>
            <a:xfrm>
              <a:off x="4090416" y="3653027"/>
              <a:ext cx="165100" cy="165100"/>
            </a:xfrm>
            <a:custGeom>
              <a:avLst/>
              <a:gdLst/>
              <a:ahLst/>
              <a:cxnLst/>
              <a:rect l="l" t="t" r="r" b="b"/>
              <a:pathLst>
                <a:path w="165100" h="165100">
                  <a:moveTo>
                    <a:pt x="82296" y="0"/>
                  </a:moveTo>
                  <a:lnTo>
                    <a:pt x="50256" y="6465"/>
                  </a:lnTo>
                  <a:lnTo>
                    <a:pt x="24098" y="24098"/>
                  </a:lnTo>
                  <a:lnTo>
                    <a:pt x="6465" y="50256"/>
                  </a:lnTo>
                  <a:lnTo>
                    <a:pt x="0" y="82296"/>
                  </a:lnTo>
                  <a:lnTo>
                    <a:pt x="6465" y="114335"/>
                  </a:lnTo>
                  <a:lnTo>
                    <a:pt x="24098" y="140493"/>
                  </a:lnTo>
                  <a:lnTo>
                    <a:pt x="50256" y="158126"/>
                  </a:lnTo>
                  <a:lnTo>
                    <a:pt x="82296" y="164592"/>
                  </a:lnTo>
                  <a:lnTo>
                    <a:pt x="114335" y="158126"/>
                  </a:lnTo>
                  <a:lnTo>
                    <a:pt x="140493" y="140493"/>
                  </a:lnTo>
                  <a:lnTo>
                    <a:pt x="158126" y="114335"/>
                  </a:lnTo>
                  <a:lnTo>
                    <a:pt x="164592" y="82296"/>
                  </a:lnTo>
                  <a:lnTo>
                    <a:pt x="158126" y="50256"/>
                  </a:lnTo>
                  <a:lnTo>
                    <a:pt x="140493" y="24098"/>
                  </a:lnTo>
                  <a:lnTo>
                    <a:pt x="114335" y="6465"/>
                  </a:lnTo>
                  <a:lnTo>
                    <a:pt x="82296" y="0"/>
                  </a:lnTo>
                  <a:close/>
                </a:path>
              </a:pathLst>
            </a:custGeom>
            <a:solidFill>
              <a:srgbClr val="00AFEF"/>
            </a:solidFill>
          </p:spPr>
          <p:txBody>
            <a:bodyPr wrap="square" lIns="0" tIns="0" rIns="0" bIns="0" rtlCol="0"/>
            <a:lstStyle/>
            <a:p>
              <a:endParaRPr/>
            </a:p>
          </p:txBody>
        </p:sp>
        <p:sp>
          <p:nvSpPr>
            <p:cNvPr id="28" name="object 15">
              <a:extLst>
                <a:ext uri="{FF2B5EF4-FFF2-40B4-BE49-F238E27FC236}">
                  <a16:creationId xmlns:a16="http://schemas.microsoft.com/office/drawing/2014/main" id="{92BA4C1F-9179-5F77-FD6F-332A55CAC268}"/>
                </a:ext>
              </a:extLst>
            </p:cNvPr>
            <p:cNvSpPr/>
            <p:nvPr/>
          </p:nvSpPr>
          <p:spPr>
            <a:xfrm>
              <a:off x="4090416" y="3653027"/>
              <a:ext cx="165100" cy="165100"/>
            </a:xfrm>
            <a:custGeom>
              <a:avLst/>
              <a:gdLst/>
              <a:ahLst/>
              <a:cxnLst/>
              <a:rect l="l" t="t" r="r" b="b"/>
              <a:pathLst>
                <a:path w="165100" h="165100">
                  <a:moveTo>
                    <a:pt x="0" y="82296"/>
                  </a:moveTo>
                  <a:lnTo>
                    <a:pt x="6465" y="50256"/>
                  </a:lnTo>
                  <a:lnTo>
                    <a:pt x="24098" y="24098"/>
                  </a:lnTo>
                  <a:lnTo>
                    <a:pt x="50256" y="6465"/>
                  </a:lnTo>
                  <a:lnTo>
                    <a:pt x="82296" y="0"/>
                  </a:lnTo>
                  <a:lnTo>
                    <a:pt x="114335" y="6465"/>
                  </a:lnTo>
                  <a:lnTo>
                    <a:pt x="140493" y="24098"/>
                  </a:lnTo>
                  <a:lnTo>
                    <a:pt x="158126" y="50256"/>
                  </a:lnTo>
                  <a:lnTo>
                    <a:pt x="164592" y="82296"/>
                  </a:lnTo>
                  <a:lnTo>
                    <a:pt x="158126" y="114335"/>
                  </a:lnTo>
                  <a:lnTo>
                    <a:pt x="140493" y="140493"/>
                  </a:lnTo>
                  <a:lnTo>
                    <a:pt x="114335" y="158126"/>
                  </a:lnTo>
                  <a:lnTo>
                    <a:pt x="82296" y="164592"/>
                  </a:lnTo>
                  <a:lnTo>
                    <a:pt x="50256" y="158126"/>
                  </a:lnTo>
                  <a:lnTo>
                    <a:pt x="24098" y="140493"/>
                  </a:lnTo>
                  <a:lnTo>
                    <a:pt x="6465" y="114335"/>
                  </a:lnTo>
                  <a:lnTo>
                    <a:pt x="0" y="82296"/>
                  </a:lnTo>
                  <a:close/>
                </a:path>
              </a:pathLst>
            </a:custGeom>
            <a:ln w="12192">
              <a:solidFill>
                <a:srgbClr val="006FC0"/>
              </a:solidFill>
            </a:ln>
          </p:spPr>
          <p:txBody>
            <a:bodyPr wrap="square" lIns="0" tIns="0" rIns="0" bIns="0" rtlCol="0"/>
            <a:lstStyle/>
            <a:p>
              <a:endParaRPr/>
            </a:p>
          </p:txBody>
        </p:sp>
        <p:sp>
          <p:nvSpPr>
            <p:cNvPr id="29" name="object 16">
              <a:extLst>
                <a:ext uri="{FF2B5EF4-FFF2-40B4-BE49-F238E27FC236}">
                  <a16:creationId xmlns:a16="http://schemas.microsoft.com/office/drawing/2014/main" id="{7AC09625-1753-8976-23FE-380213FA3D49}"/>
                </a:ext>
              </a:extLst>
            </p:cNvPr>
            <p:cNvSpPr/>
            <p:nvPr/>
          </p:nvSpPr>
          <p:spPr>
            <a:xfrm>
              <a:off x="4227576" y="3653027"/>
              <a:ext cx="165100" cy="165100"/>
            </a:xfrm>
            <a:custGeom>
              <a:avLst/>
              <a:gdLst/>
              <a:ahLst/>
              <a:cxnLst/>
              <a:rect l="l" t="t" r="r" b="b"/>
              <a:pathLst>
                <a:path w="165100" h="165100">
                  <a:moveTo>
                    <a:pt x="82296" y="0"/>
                  </a:moveTo>
                  <a:lnTo>
                    <a:pt x="50256" y="6465"/>
                  </a:lnTo>
                  <a:lnTo>
                    <a:pt x="24098" y="24098"/>
                  </a:lnTo>
                  <a:lnTo>
                    <a:pt x="6465" y="50256"/>
                  </a:lnTo>
                  <a:lnTo>
                    <a:pt x="0" y="82296"/>
                  </a:lnTo>
                  <a:lnTo>
                    <a:pt x="6465" y="114335"/>
                  </a:lnTo>
                  <a:lnTo>
                    <a:pt x="24098" y="140493"/>
                  </a:lnTo>
                  <a:lnTo>
                    <a:pt x="50256" y="158126"/>
                  </a:lnTo>
                  <a:lnTo>
                    <a:pt x="82296" y="164592"/>
                  </a:lnTo>
                  <a:lnTo>
                    <a:pt x="114335" y="158126"/>
                  </a:lnTo>
                  <a:lnTo>
                    <a:pt x="140493" y="140493"/>
                  </a:lnTo>
                  <a:lnTo>
                    <a:pt x="158126" y="114335"/>
                  </a:lnTo>
                  <a:lnTo>
                    <a:pt x="164591" y="82296"/>
                  </a:lnTo>
                  <a:lnTo>
                    <a:pt x="158126" y="50256"/>
                  </a:lnTo>
                  <a:lnTo>
                    <a:pt x="140493" y="24098"/>
                  </a:lnTo>
                  <a:lnTo>
                    <a:pt x="114335" y="6465"/>
                  </a:lnTo>
                  <a:lnTo>
                    <a:pt x="82296" y="0"/>
                  </a:lnTo>
                  <a:close/>
                </a:path>
              </a:pathLst>
            </a:custGeom>
            <a:solidFill>
              <a:srgbClr val="00AFEF"/>
            </a:solidFill>
          </p:spPr>
          <p:txBody>
            <a:bodyPr wrap="square" lIns="0" tIns="0" rIns="0" bIns="0" rtlCol="0"/>
            <a:lstStyle/>
            <a:p>
              <a:endParaRPr/>
            </a:p>
          </p:txBody>
        </p:sp>
        <p:sp>
          <p:nvSpPr>
            <p:cNvPr id="30" name="object 17">
              <a:extLst>
                <a:ext uri="{FF2B5EF4-FFF2-40B4-BE49-F238E27FC236}">
                  <a16:creationId xmlns:a16="http://schemas.microsoft.com/office/drawing/2014/main" id="{6A9B3318-BD9A-1A1B-D40B-CF7774BA2435}"/>
                </a:ext>
              </a:extLst>
            </p:cNvPr>
            <p:cNvSpPr/>
            <p:nvPr/>
          </p:nvSpPr>
          <p:spPr>
            <a:xfrm>
              <a:off x="4227576" y="3653027"/>
              <a:ext cx="165100" cy="165100"/>
            </a:xfrm>
            <a:custGeom>
              <a:avLst/>
              <a:gdLst/>
              <a:ahLst/>
              <a:cxnLst/>
              <a:rect l="l" t="t" r="r" b="b"/>
              <a:pathLst>
                <a:path w="165100" h="165100">
                  <a:moveTo>
                    <a:pt x="0" y="82296"/>
                  </a:moveTo>
                  <a:lnTo>
                    <a:pt x="6465" y="50256"/>
                  </a:lnTo>
                  <a:lnTo>
                    <a:pt x="24098" y="24098"/>
                  </a:lnTo>
                  <a:lnTo>
                    <a:pt x="50256" y="6465"/>
                  </a:lnTo>
                  <a:lnTo>
                    <a:pt x="82296" y="0"/>
                  </a:lnTo>
                  <a:lnTo>
                    <a:pt x="114335" y="6465"/>
                  </a:lnTo>
                  <a:lnTo>
                    <a:pt x="140493" y="24098"/>
                  </a:lnTo>
                  <a:lnTo>
                    <a:pt x="158126" y="50256"/>
                  </a:lnTo>
                  <a:lnTo>
                    <a:pt x="164591" y="82296"/>
                  </a:lnTo>
                  <a:lnTo>
                    <a:pt x="158126" y="114335"/>
                  </a:lnTo>
                  <a:lnTo>
                    <a:pt x="140493" y="140493"/>
                  </a:lnTo>
                  <a:lnTo>
                    <a:pt x="114335" y="158126"/>
                  </a:lnTo>
                  <a:lnTo>
                    <a:pt x="82296" y="164592"/>
                  </a:lnTo>
                  <a:lnTo>
                    <a:pt x="50256" y="158126"/>
                  </a:lnTo>
                  <a:lnTo>
                    <a:pt x="24098" y="140493"/>
                  </a:lnTo>
                  <a:lnTo>
                    <a:pt x="6465" y="114335"/>
                  </a:lnTo>
                  <a:lnTo>
                    <a:pt x="0" y="82296"/>
                  </a:lnTo>
                  <a:close/>
                </a:path>
              </a:pathLst>
            </a:custGeom>
            <a:ln w="12192">
              <a:solidFill>
                <a:srgbClr val="006FC0"/>
              </a:solidFill>
            </a:ln>
          </p:spPr>
          <p:txBody>
            <a:bodyPr wrap="square" lIns="0" tIns="0" rIns="0" bIns="0" rtlCol="0"/>
            <a:lstStyle/>
            <a:p>
              <a:endParaRPr/>
            </a:p>
          </p:txBody>
        </p:sp>
      </p:grpSp>
      <p:pic>
        <p:nvPicPr>
          <p:cNvPr id="31" name="object 20">
            <a:extLst>
              <a:ext uri="{FF2B5EF4-FFF2-40B4-BE49-F238E27FC236}">
                <a16:creationId xmlns:a16="http://schemas.microsoft.com/office/drawing/2014/main" id="{68D8C30E-6FBA-068B-95A6-4400703DA859}"/>
              </a:ext>
            </a:extLst>
          </p:cNvPr>
          <p:cNvPicPr/>
          <p:nvPr/>
        </p:nvPicPr>
        <p:blipFill>
          <a:blip r:embed="rId3" cstate="print"/>
          <a:stretch>
            <a:fillRect/>
          </a:stretch>
        </p:blipFill>
        <p:spPr>
          <a:xfrm>
            <a:off x="7203557" y="3466178"/>
            <a:ext cx="176784" cy="176783"/>
          </a:xfrm>
          <a:prstGeom prst="rect">
            <a:avLst/>
          </a:prstGeom>
        </p:spPr>
      </p:pic>
      <p:sp>
        <p:nvSpPr>
          <p:cNvPr id="32" name="object 21">
            <a:extLst>
              <a:ext uri="{FF2B5EF4-FFF2-40B4-BE49-F238E27FC236}">
                <a16:creationId xmlns:a16="http://schemas.microsoft.com/office/drawing/2014/main" id="{DEA23F59-44C3-75CB-E794-D83D8A8DD1AF}"/>
              </a:ext>
            </a:extLst>
          </p:cNvPr>
          <p:cNvSpPr txBox="1"/>
          <p:nvPr/>
        </p:nvSpPr>
        <p:spPr>
          <a:xfrm>
            <a:off x="2813320" y="5062771"/>
            <a:ext cx="7182484" cy="636270"/>
          </a:xfrm>
          <a:prstGeom prst="rect">
            <a:avLst/>
          </a:prstGeom>
        </p:spPr>
        <p:txBody>
          <a:bodyPr vert="horz" wrap="square" lIns="0" tIns="13335" rIns="0" bIns="0" rtlCol="0">
            <a:spAutoFit/>
          </a:bodyPr>
          <a:lstStyle/>
          <a:p>
            <a:pPr algn="ctr">
              <a:lnSpc>
                <a:spcPct val="100000"/>
              </a:lnSpc>
              <a:spcBef>
                <a:spcPts val="105"/>
              </a:spcBef>
            </a:pPr>
            <a:r>
              <a:rPr sz="2000">
                <a:solidFill>
                  <a:srgbClr val="0000CC"/>
                </a:solidFill>
                <a:latin typeface="Calibri"/>
                <a:cs typeface="Calibri"/>
              </a:rPr>
              <a:t>It</a:t>
            </a:r>
            <a:r>
              <a:rPr sz="2000" spc="-15">
                <a:solidFill>
                  <a:srgbClr val="0000CC"/>
                </a:solidFill>
                <a:latin typeface="Calibri"/>
                <a:cs typeface="Calibri"/>
              </a:rPr>
              <a:t> </a:t>
            </a:r>
            <a:r>
              <a:rPr sz="2000">
                <a:solidFill>
                  <a:srgbClr val="0000CC"/>
                </a:solidFill>
                <a:latin typeface="Calibri"/>
                <a:cs typeface="Calibri"/>
              </a:rPr>
              <a:t>is</a:t>
            </a:r>
            <a:r>
              <a:rPr sz="2000" spc="5">
                <a:solidFill>
                  <a:srgbClr val="0000CC"/>
                </a:solidFill>
                <a:latin typeface="Calibri"/>
                <a:cs typeface="Calibri"/>
              </a:rPr>
              <a:t> </a:t>
            </a:r>
            <a:r>
              <a:rPr sz="2000">
                <a:solidFill>
                  <a:srgbClr val="0000CC"/>
                </a:solidFill>
                <a:latin typeface="Calibri"/>
                <a:cs typeface="Calibri"/>
              </a:rPr>
              <a:t>clear</a:t>
            </a:r>
            <a:r>
              <a:rPr sz="2000" spc="10">
                <a:solidFill>
                  <a:srgbClr val="0000CC"/>
                </a:solidFill>
                <a:latin typeface="Calibri"/>
                <a:cs typeface="Calibri"/>
              </a:rPr>
              <a:t> </a:t>
            </a:r>
            <a:r>
              <a:rPr sz="2000" spc="-5">
                <a:solidFill>
                  <a:srgbClr val="0000CC"/>
                </a:solidFill>
                <a:latin typeface="Calibri"/>
                <a:cs typeface="Calibri"/>
              </a:rPr>
              <a:t>that</a:t>
            </a:r>
            <a:r>
              <a:rPr sz="2000" spc="5">
                <a:solidFill>
                  <a:srgbClr val="0000CC"/>
                </a:solidFill>
                <a:latin typeface="Calibri"/>
                <a:cs typeface="Calibri"/>
              </a:rPr>
              <a:t> </a:t>
            </a:r>
            <a:r>
              <a:rPr sz="2000">
                <a:solidFill>
                  <a:srgbClr val="0000CC"/>
                </a:solidFill>
                <a:latin typeface="Calibri"/>
                <a:cs typeface="Calibri"/>
              </a:rPr>
              <a:t>one</a:t>
            </a:r>
            <a:r>
              <a:rPr sz="2000" spc="-5">
                <a:solidFill>
                  <a:srgbClr val="0000CC"/>
                </a:solidFill>
                <a:latin typeface="Calibri"/>
                <a:cs typeface="Calibri"/>
              </a:rPr>
              <a:t> </a:t>
            </a:r>
            <a:r>
              <a:rPr sz="2000" spc="-10">
                <a:solidFill>
                  <a:srgbClr val="0000CC"/>
                </a:solidFill>
                <a:latin typeface="Calibri"/>
                <a:cs typeface="Calibri"/>
              </a:rPr>
              <a:t>data</a:t>
            </a:r>
            <a:r>
              <a:rPr sz="2000" spc="5">
                <a:solidFill>
                  <a:srgbClr val="0000CC"/>
                </a:solidFill>
                <a:latin typeface="Calibri"/>
                <a:cs typeface="Calibri"/>
              </a:rPr>
              <a:t> </a:t>
            </a:r>
            <a:r>
              <a:rPr sz="2000" spc="-5">
                <a:solidFill>
                  <a:srgbClr val="0000CC"/>
                </a:solidFill>
                <a:latin typeface="Calibri"/>
                <a:cs typeface="Calibri"/>
              </a:rPr>
              <a:t>point </a:t>
            </a:r>
            <a:r>
              <a:rPr sz="2000">
                <a:solidFill>
                  <a:srgbClr val="0000CC"/>
                </a:solidFill>
                <a:latin typeface="Calibri"/>
                <a:cs typeface="Calibri"/>
              </a:rPr>
              <a:t>is</a:t>
            </a:r>
            <a:r>
              <a:rPr sz="2000" spc="5">
                <a:solidFill>
                  <a:srgbClr val="0000CC"/>
                </a:solidFill>
                <a:latin typeface="Calibri"/>
                <a:cs typeface="Calibri"/>
              </a:rPr>
              <a:t> </a:t>
            </a:r>
            <a:r>
              <a:rPr sz="2000" spc="-15">
                <a:solidFill>
                  <a:srgbClr val="0000CC"/>
                </a:solidFill>
                <a:latin typeface="Calibri"/>
                <a:cs typeface="Calibri"/>
              </a:rPr>
              <a:t>far</a:t>
            </a:r>
            <a:r>
              <a:rPr sz="2000" spc="5">
                <a:solidFill>
                  <a:srgbClr val="0000CC"/>
                </a:solidFill>
                <a:latin typeface="Calibri"/>
                <a:cs typeface="Calibri"/>
              </a:rPr>
              <a:t> </a:t>
            </a:r>
            <a:r>
              <a:rPr sz="2000" spc="-15">
                <a:solidFill>
                  <a:srgbClr val="0000CC"/>
                </a:solidFill>
                <a:latin typeface="Calibri"/>
                <a:cs typeface="Calibri"/>
              </a:rPr>
              <a:t>distant</a:t>
            </a:r>
            <a:r>
              <a:rPr sz="2000" spc="15">
                <a:solidFill>
                  <a:srgbClr val="0000CC"/>
                </a:solidFill>
                <a:latin typeface="Calibri"/>
                <a:cs typeface="Calibri"/>
              </a:rPr>
              <a:t> </a:t>
            </a:r>
            <a:r>
              <a:rPr sz="2000" spc="-15">
                <a:solidFill>
                  <a:srgbClr val="0000CC"/>
                </a:solidFill>
                <a:latin typeface="Calibri"/>
                <a:cs typeface="Calibri"/>
              </a:rPr>
              <a:t>from</a:t>
            </a:r>
            <a:r>
              <a:rPr sz="2000">
                <a:solidFill>
                  <a:srgbClr val="0000CC"/>
                </a:solidFill>
                <a:latin typeface="Calibri"/>
                <a:cs typeface="Calibri"/>
              </a:rPr>
              <a:t> the </a:t>
            </a:r>
            <a:r>
              <a:rPr sz="2000" spc="-15">
                <a:solidFill>
                  <a:srgbClr val="0000CC"/>
                </a:solidFill>
                <a:latin typeface="Calibri"/>
                <a:cs typeface="Calibri"/>
              </a:rPr>
              <a:t>rest</a:t>
            </a:r>
            <a:r>
              <a:rPr sz="2000" spc="15">
                <a:solidFill>
                  <a:srgbClr val="0000CC"/>
                </a:solidFill>
                <a:latin typeface="Calibri"/>
                <a:cs typeface="Calibri"/>
              </a:rPr>
              <a:t> </a:t>
            </a:r>
            <a:r>
              <a:rPr sz="2000">
                <a:solidFill>
                  <a:srgbClr val="0000CC"/>
                </a:solidFill>
                <a:latin typeface="Calibri"/>
                <a:cs typeface="Calibri"/>
              </a:rPr>
              <a:t>of</a:t>
            </a:r>
            <a:r>
              <a:rPr sz="2000" spc="-5">
                <a:solidFill>
                  <a:srgbClr val="0000CC"/>
                </a:solidFill>
                <a:latin typeface="Calibri"/>
                <a:cs typeface="Calibri"/>
              </a:rPr>
              <a:t> </a:t>
            </a:r>
            <a:r>
              <a:rPr sz="2000">
                <a:solidFill>
                  <a:srgbClr val="0000CC"/>
                </a:solidFill>
                <a:latin typeface="Calibri"/>
                <a:cs typeface="Calibri"/>
              </a:rPr>
              <a:t>the</a:t>
            </a:r>
            <a:r>
              <a:rPr sz="2000" spc="-15">
                <a:solidFill>
                  <a:srgbClr val="0000CC"/>
                </a:solidFill>
                <a:latin typeface="Calibri"/>
                <a:cs typeface="Calibri"/>
              </a:rPr>
              <a:t> </a:t>
            </a:r>
            <a:r>
              <a:rPr sz="2000" spc="-10">
                <a:solidFill>
                  <a:srgbClr val="0000CC"/>
                </a:solidFill>
                <a:latin typeface="Calibri"/>
                <a:cs typeface="Calibri"/>
              </a:rPr>
              <a:t>values.</a:t>
            </a:r>
            <a:endParaRPr sz="2000">
              <a:latin typeface="Calibri"/>
              <a:cs typeface="Calibri"/>
            </a:endParaRPr>
          </a:p>
          <a:p>
            <a:pPr marL="635" algn="ctr">
              <a:lnSpc>
                <a:spcPct val="100000"/>
              </a:lnSpc>
              <a:spcBef>
                <a:spcPts val="5"/>
              </a:spcBef>
            </a:pPr>
            <a:r>
              <a:rPr sz="2000" b="1">
                <a:solidFill>
                  <a:srgbClr val="0000CC"/>
                </a:solidFill>
                <a:latin typeface="Calibri"/>
                <a:cs typeface="Calibri"/>
              </a:rPr>
              <a:t>This</a:t>
            </a:r>
            <a:r>
              <a:rPr sz="2000" b="1" spc="-20">
                <a:solidFill>
                  <a:srgbClr val="0000CC"/>
                </a:solidFill>
                <a:latin typeface="Calibri"/>
                <a:cs typeface="Calibri"/>
              </a:rPr>
              <a:t> </a:t>
            </a:r>
            <a:r>
              <a:rPr sz="2000" b="1" spc="-5">
                <a:solidFill>
                  <a:srgbClr val="0000CC"/>
                </a:solidFill>
                <a:latin typeface="Calibri"/>
                <a:cs typeface="Calibri"/>
              </a:rPr>
              <a:t>point</a:t>
            </a:r>
            <a:r>
              <a:rPr sz="2000" b="1" spc="-35">
                <a:solidFill>
                  <a:srgbClr val="0000CC"/>
                </a:solidFill>
                <a:latin typeface="Calibri"/>
                <a:cs typeface="Calibri"/>
              </a:rPr>
              <a:t> </a:t>
            </a:r>
            <a:r>
              <a:rPr sz="2000" b="1">
                <a:solidFill>
                  <a:srgbClr val="0000CC"/>
                </a:solidFill>
                <a:latin typeface="Calibri"/>
                <a:cs typeface="Calibri"/>
              </a:rPr>
              <a:t>is</a:t>
            </a:r>
            <a:r>
              <a:rPr sz="2000" b="1" spc="-5">
                <a:solidFill>
                  <a:srgbClr val="0000CC"/>
                </a:solidFill>
                <a:latin typeface="Calibri"/>
                <a:cs typeface="Calibri"/>
              </a:rPr>
              <a:t> </a:t>
            </a:r>
            <a:r>
              <a:rPr sz="2000" b="1" spc="-10">
                <a:solidFill>
                  <a:srgbClr val="0000CC"/>
                </a:solidFill>
                <a:latin typeface="Calibri"/>
                <a:cs typeface="Calibri"/>
              </a:rPr>
              <a:t>an</a:t>
            </a:r>
            <a:r>
              <a:rPr sz="2000" b="1" spc="-5">
                <a:solidFill>
                  <a:srgbClr val="0000CC"/>
                </a:solidFill>
                <a:latin typeface="Calibri"/>
                <a:cs typeface="Calibri"/>
              </a:rPr>
              <a:t> ‘outlier’</a:t>
            </a:r>
            <a:endParaRPr sz="2000">
              <a:latin typeface="Calibri"/>
              <a:cs typeface="Calibri"/>
            </a:endParaRPr>
          </a:p>
        </p:txBody>
      </p:sp>
      <p:pic>
        <p:nvPicPr>
          <p:cNvPr id="2" name="Picture 1">
            <a:extLst>
              <a:ext uri="{FF2B5EF4-FFF2-40B4-BE49-F238E27FC236}">
                <a16:creationId xmlns:a16="http://schemas.microsoft.com/office/drawing/2014/main" id="{87654A36-F627-C236-FDFD-449E56167748}"/>
              </a:ext>
            </a:extLst>
          </p:cNvPr>
          <p:cNvPicPr>
            <a:picLocks noChangeAspect="1"/>
          </p:cNvPicPr>
          <p:nvPr/>
        </p:nvPicPr>
        <p:blipFill>
          <a:blip r:embed="rId4"/>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10152626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0816" y="1093074"/>
            <a:ext cx="6349673" cy="576226"/>
          </a:xfrm>
          <a:prstGeom prst="rect">
            <a:avLst/>
          </a:prstGeom>
        </p:spPr>
        <p:txBody>
          <a:bodyPr vert="horz" wrap="square" lIns="0" tIns="22013" rIns="0" bIns="0" rtlCol="0" anchor="ctr">
            <a:spAutoFit/>
          </a:bodyPr>
          <a:lstStyle/>
          <a:p>
            <a:pPr marL="16933" algn="ctr">
              <a:lnSpc>
                <a:spcPct val="100000"/>
              </a:lnSpc>
              <a:spcBef>
                <a:spcPts val="173"/>
              </a:spcBef>
            </a:pPr>
            <a:r>
              <a:rPr lang="en-MY" sz="3600" spc="327">
                <a:latin typeface="Abadi" panose="020B0604020104020204" pitchFamily="34" charset="0"/>
              </a:rPr>
              <a:t>Inferential statistics</a:t>
            </a:r>
            <a:endParaRPr sz="3600">
              <a:latin typeface="Abadi" panose="020B0604020104020204" pitchFamily="34" charset="0"/>
              <a:cs typeface="Times New Roman"/>
            </a:endParaRPr>
          </a:p>
        </p:txBody>
      </p:sp>
      <p:sp>
        <p:nvSpPr>
          <p:cNvPr id="4" name="object 4"/>
          <p:cNvSpPr txBox="1"/>
          <p:nvPr/>
        </p:nvSpPr>
        <p:spPr>
          <a:xfrm>
            <a:off x="919160" y="2018005"/>
            <a:ext cx="9882293" cy="4808262"/>
          </a:xfrm>
          <a:prstGeom prst="rect">
            <a:avLst/>
          </a:prstGeom>
        </p:spPr>
        <p:txBody>
          <a:bodyPr vert="horz" wrap="square" lIns="0" tIns="16087" rIns="0" bIns="0" rtlCol="0">
            <a:spAutoFit/>
          </a:bodyPr>
          <a:lstStyle/>
          <a:p>
            <a:pPr marL="16933" marR="6773" algn="just">
              <a:lnSpc>
                <a:spcPct val="117800"/>
              </a:lnSpc>
              <a:spcBef>
                <a:spcPts val="127"/>
              </a:spcBef>
            </a:pPr>
            <a:r>
              <a:rPr lang="en-US" sz="2400">
                <a:cs typeface="Tahoma"/>
              </a:rPr>
              <a:t>Inferential statistics are used to draw conclusion about a population by observing a sample. This branch of statistics is concerned with using analytical tools to draw inferences about a population using a representative dataset. This is different from descriptive statistics in the sense that it draws conclusion from a dataset while descriptive stat summarizes the dataset. </a:t>
            </a:r>
          </a:p>
          <a:p>
            <a:pPr marL="16933" marR="6773" algn="just">
              <a:lnSpc>
                <a:spcPct val="117800"/>
              </a:lnSpc>
              <a:spcBef>
                <a:spcPts val="127"/>
              </a:spcBef>
            </a:pPr>
            <a:endParaRPr lang="en-US" sz="2400">
              <a:cs typeface="Tahoma"/>
            </a:endParaRPr>
          </a:p>
          <a:p>
            <a:pPr marL="16933" marR="6773" algn="just">
              <a:lnSpc>
                <a:spcPct val="117800"/>
              </a:lnSpc>
              <a:spcBef>
                <a:spcPts val="127"/>
              </a:spcBef>
            </a:pPr>
            <a:r>
              <a:rPr lang="en-US" sz="2400">
                <a:cs typeface="Tahoma"/>
              </a:rPr>
              <a:t>There are two main types of inferential statistics - hypothesis testing and regression analysis. The samples chosen in inferential statistics need to be representative of the entire population. This is important for us as data scientist to ensure that the data we are drawing conclusions from is actually a reflection of the population. Accuracy of inference depends on this.</a:t>
            </a:r>
          </a:p>
        </p:txBody>
      </p:sp>
      <p:pic>
        <p:nvPicPr>
          <p:cNvPr id="3" name="Picture 2">
            <a:extLst>
              <a:ext uri="{FF2B5EF4-FFF2-40B4-BE49-F238E27FC236}">
                <a16:creationId xmlns:a16="http://schemas.microsoft.com/office/drawing/2014/main" id="{5E0FDF54-4A36-F181-7242-7605EC387475}"/>
              </a:ext>
            </a:extLst>
          </p:cNvPr>
          <p:cNvPicPr>
            <a:picLocks noChangeAspect="1"/>
          </p:cNvPicPr>
          <p:nvPr/>
        </p:nvPicPr>
        <p:blipFill>
          <a:blip r:embed="rId2"/>
          <a:stretch>
            <a:fillRect/>
          </a:stretch>
        </p:blipFill>
        <p:spPr>
          <a:xfrm>
            <a:off x="10319658" y="617704"/>
            <a:ext cx="1125764" cy="412584"/>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0213" y="542444"/>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inferential statistics</a:t>
            </a:r>
            <a:endParaRPr lang="en-US" sz="3400" kern="1200">
              <a:solidFill>
                <a:schemeClr val="tx1"/>
              </a:solidFill>
              <a:latin typeface="Abadi" panose="020B0604020104020204" pitchFamily="34" charset="0"/>
            </a:endParaRPr>
          </a:p>
        </p:txBody>
      </p:sp>
      <p:pic>
        <p:nvPicPr>
          <p:cNvPr id="4" name="Picture 3">
            <a:extLst>
              <a:ext uri="{FF2B5EF4-FFF2-40B4-BE49-F238E27FC236}">
                <a16:creationId xmlns:a16="http://schemas.microsoft.com/office/drawing/2014/main" id="{50FC609B-06FD-BBD1-D9A9-028DE1DCF3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0703" y="1224036"/>
            <a:ext cx="6276996" cy="5158324"/>
          </a:xfrm>
          <a:prstGeom prst="rect">
            <a:avLst/>
          </a:prstGeom>
        </p:spPr>
      </p:pic>
      <p:pic>
        <p:nvPicPr>
          <p:cNvPr id="3" name="Picture 2">
            <a:extLst>
              <a:ext uri="{FF2B5EF4-FFF2-40B4-BE49-F238E27FC236}">
                <a16:creationId xmlns:a16="http://schemas.microsoft.com/office/drawing/2014/main" id="{C4795818-1941-88FF-822B-9B9068BC6637}"/>
              </a:ext>
            </a:extLst>
          </p:cNvPr>
          <p:cNvPicPr>
            <a:picLocks noChangeAspect="1"/>
          </p:cNvPicPr>
          <p:nvPr/>
        </p:nvPicPr>
        <p:blipFill>
          <a:blip r:embed="rId4"/>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11649729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0213" y="542444"/>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inferential statistics</a:t>
            </a:r>
            <a:endParaRPr lang="en-US" sz="3400" kern="1200">
              <a:solidFill>
                <a:schemeClr val="tx1"/>
              </a:solidFill>
              <a:latin typeface="Abadi" panose="020B0604020104020204" pitchFamily="34" charset="0"/>
            </a:endParaRPr>
          </a:p>
        </p:txBody>
      </p:sp>
      <p:sp>
        <p:nvSpPr>
          <p:cNvPr id="3" name="TextBox 2">
            <a:extLst>
              <a:ext uri="{FF2B5EF4-FFF2-40B4-BE49-F238E27FC236}">
                <a16:creationId xmlns:a16="http://schemas.microsoft.com/office/drawing/2014/main" id="{0FCB5309-DCE8-11CF-035E-BFD5453DA1D0}"/>
              </a:ext>
            </a:extLst>
          </p:cNvPr>
          <p:cNvSpPr txBox="1"/>
          <p:nvPr/>
        </p:nvSpPr>
        <p:spPr>
          <a:xfrm>
            <a:off x="390213" y="1783121"/>
            <a:ext cx="10995763" cy="3501261"/>
          </a:xfrm>
          <a:prstGeom prst="rect">
            <a:avLst/>
          </a:prstGeom>
        </p:spPr>
        <p:txBody>
          <a:bodyPr vert="horz" lIns="91440" tIns="45720" rIns="91440" bIns="45720" rtlCol="0">
            <a:normAutofit lnSpcReduction="10000"/>
          </a:bodyPr>
          <a:lstStyle/>
          <a:p>
            <a:pPr marL="12700" marR="5080" algn="just">
              <a:lnSpc>
                <a:spcPct val="100000"/>
              </a:lnSpc>
              <a:spcBef>
                <a:spcPts val="100"/>
              </a:spcBef>
              <a:buClr>
                <a:srgbClr val="16165D"/>
              </a:buClr>
              <a:buSzPct val="68750"/>
              <a:tabLst>
                <a:tab pos="354965" algn="l"/>
                <a:tab pos="355600" algn="l"/>
              </a:tabLst>
            </a:pPr>
            <a:r>
              <a:rPr lang="en-US" sz="2400" b="1"/>
              <a:t>Hypothesis testing</a:t>
            </a:r>
          </a:p>
          <a:p>
            <a:pPr marL="12700" marR="5080" algn="just">
              <a:lnSpc>
                <a:spcPct val="100000"/>
              </a:lnSpc>
              <a:spcBef>
                <a:spcPts val="100"/>
              </a:spcBef>
              <a:buClr>
                <a:srgbClr val="16165D"/>
              </a:buClr>
              <a:buSzPct val="68750"/>
              <a:tabLst>
                <a:tab pos="354965" algn="l"/>
                <a:tab pos="355600" algn="l"/>
              </a:tabLst>
            </a:pPr>
            <a:r>
              <a:rPr lang="en-US" sz="2400"/>
              <a:t>Is a type of inferential statistics that is used to test assumptions and draw conclusions about the population from the available sample data.</a:t>
            </a:r>
          </a:p>
          <a:p>
            <a:pPr marL="12700" marR="5080" algn="just">
              <a:lnSpc>
                <a:spcPct val="100000"/>
              </a:lnSpc>
              <a:spcBef>
                <a:spcPts val="100"/>
              </a:spcBef>
              <a:buClr>
                <a:srgbClr val="16165D"/>
              </a:buClr>
              <a:buSzPct val="68750"/>
              <a:tabLst>
                <a:tab pos="354965" algn="l"/>
                <a:tab pos="355600" algn="l"/>
              </a:tabLst>
            </a:pPr>
            <a:endParaRPr lang="en-US" sz="2400"/>
          </a:p>
          <a:p>
            <a:pPr marL="12700" marR="5080" algn="just">
              <a:lnSpc>
                <a:spcPct val="100000"/>
              </a:lnSpc>
              <a:spcBef>
                <a:spcPts val="100"/>
              </a:spcBef>
              <a:buClr>
                <a:srgbClr val="16165D"/>
              </a:buClr>
              <a:buSzPct val="68750"/>
              <a:tabLst>
                <a:tab pos="354965" algn="l"/>
                <a:tab pos="355600" algn="l"/>
              </a:tabLst>
            </a:pPr>
            <a:r>
              <a:rPr lang="en-US" sz="2400"/>
              <a:t>It involves setting up a null hypothesis and an alternative hypothesis followed by conducting a statistical test of significance. A conclusion is drawn based on the value of the test statistic.</a:t>
            </a:r>
          </a:p>
          <a:p>
            <a:pPr marL="12700" marR="5080" algn="just">
              <a:lnSpc>
                <a:spcPct val="100000"/>
              </a:lnSpc>
              <a:spcBef>
                <a:spcPts val="100"/>
              </a:spcBef>
              <a:buClr>
                <a:srgbClr val="16165D"/>
              </a:buClr>
              <a:buSzPct val="68750"/>
              <a:tabLst>
                <a:tab pos="354965" algn="l"/>
                <a:tab pos="355600" algn="l"/>
              </a:tabLst>
            </a:pPr>
            <a:endParaRPr lang="en-US" sz="2400"/>
          </a:p>
          <a:p>
            <a:pPr marL="12700" marR="5080" algn="just">
              <a:lnSpc>
                <a:spcPct val="100000"/>
              </a:lnSpc>
              <a:spcBef>
                <a:spcPts val="100"/>
              </a:spcBef>
              <a:buClr>
                <a:srgbClr val="16165D"/>
              </a:buClr>
              <a:buSzPct val="68750"/>
              <a:tabLst>
                <a:tab pos="354965" algn="l"/>
                <a:tab pos="355600" algn="l"/>
              </a:tabLst>
            </a:pPr>
            <a:r>
              <a:rPr lang="en-US" sz="2400"/>
              <a:t>Hypothesis tests are as given in the previous slides. The test to be used depends on the data type. We’ll discuss data types in subsequent class</a:t>
            </a:r>
          </a:p>
          <a:p>
            <a:pPr marL="12700" marR="5080" algn="just">
              <a:lnSpc>
                <a:spcPct val="100000"/>
              </a:lnSpc>
              <a:spcBef>
                <a:spcPts val="100"/>
              </a:spcBef>
              <a:buClr>
                <a:srgbClr val="16165D"/>
              </a:buClr>
              <a:buSzPct val="68750"/>
              <a:tabLst>
                <a:tab pos="354965" algn="l"/>
                <a:tab pos="355600" algn="l"/>
              </a:tabLst>
            </a:pPr>
            <a:endParaRPr lang="en-US" sz="2400"/>
          </a:p>
        </p:txBody>
      </p:sp>
      <p:pic>
        <p:nvPicPr>
          <p:cNvPr id="4" name="Picture 3">
            <a:extLst>
              <a:ext uri="{FF2B5EF4-FFF2-40B4-BE49-F238E27FC236}">
                <a16:creationId xmlns:a16="http://schemas.microsoft.com/office/drawing/2014/main" id="{7D1DDE1F-BD43-ED6B-2B58-064ADE68CFB1}"/>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1991918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0213" y="542444"/>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inferential statistics</a:t>
            </a:r>
            <a:endParaRPr lang="en-US" sz="3400" kern="1200">
              <a:solidFill>
                <a:schemeClr val="tx1"/>
              </a:solidFill>
              <a:latin typeface="Abadi" panose="020B0604020104020204" pitchFamily="34" charset="0"/>
            </a:endParaRPr>
          </a:p>
        </p:txBody>
      </p:sp>
      <p:sp>
        <p:nvSpPr>
          <p:cNvPr id="3" name="TextBox 2">
            <a:extLst>
              <a:ext uri="{FF2B5EF4-FFF2-40B4-BE49-F238E27FC236}">
                <a16:creationId xmlns:a16="http://schemas.microsoft.com/office/drawing/2014/main" id="{0FCB5309-DCE8-11CF-035E-BFD5453DA1D0}"/>
              </a:ext>
            </a:extLst>
          </p:cNvPr>
          <p:cNvSpPr txBox="1"/>
          <p:nvPr/>
        </p:nvSpPr>
        <p:spPr>
          <a:xfrm>
            <a:off x="390213" y="1783121"/>
            <a:ext cx="10995763" cy="3501261"/>
          </a:xfrm>
          <a:prstGeom prst="rect">
            <a:avLst/>
          </a:prstGeom>
        </p:spPr>
        <p:txBody>
          <a:bodyPr vert="horz" lIns="91440" tIns="45720" rIns="91440" bIns="45720" rtlCol="0">
            <a:normAutofit/>
          </a:bodyPr>
          <a:lstStyle/>
          <a:p>
            <a:pPr marL="12700" marR="5080" algn="just">
              <a:lnSpc>
                <a:spcPct val="100000"/>
              </a:lnSpc>
              <a:spcBef>
                <a:spcPts val="100"/>
              </a:spcBef>
              <a:buClr>
                <a:srgbClr val="16165D"/>
              </a:buClr>
              <a:buSzPct val="68750"/>
              <a:tabLst>
                <a:tab pos="354965" algn="l"/>
                <a:tab pos="355600" algn="l"/>
              </a:tabLst>
            </a:pPr>
            <a:r>
              <a:rPr lang="en-US" sz="2400" b="1"/>
              <a:t>Regression Analysis</a:t>
            </a:r>
          </a:p>
          <a:p>
            <a:pPr marL="12700" marR="5080" algn="just">
              <a:lnSpc>
                <a:spcPct val="100000"/>
              </a:lnSpc>
              <a:spcBef>
                <a:spcPts val="100"/>
              </a:spcBef>
              <a:buClr>
                <a:srgbClr val="16165D"/>
              </a:buClr>
              <a:buSzPct val="68750"/>
              <a:tabLst>
                <a:tab pos="354965" algn="l"/>
                <a:tab pos="355600" algn="l"/>
              </a:tabLst>
            </a:pPr>
            <a:r>
              <a:rPr lang="en-US" sz="2400"/>
              <a:t>Regression analysis is used to quantify how one variable will change with respect to another variable. There are many types of regressions available such as simple linear, multiple linear, nominal, logistic, and ordinal regression.</a:t>
            </a:r>
          </a:p>
        </p:txBody>
      </p:sp>
      <p:pic>
        <p:nvPicPr>
          <p:cNvPr id="4" name="Picture 3">
            <a:extLst>
              <a:ext uri="{FF2B5EF4-FFF2-40B4-BE49-F238E27FC236}">
                <a16:creationId xmlns:a16="http://schemas.microsoft.com/office/drawing/2014/main" id="{C225A2CE-AF18-3A0E-AE59-BF0A153F2E93}"/>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32348322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0213" y="542444"/>
            <a:ext cx="6276997" cy="681592"/>
          </a:xfrm>
          <a:prstGeom prst="rect">
            <a:avLst/>
          </a:prstGeom>
        </p:spPr>
        <p:txBody>
          <a:bodyPr vert="horz" lIns="91440" tIns="45720" rIns="91440" bIns="45720" rtlCol="0" anchor="b">
            <a:normAutofit/>
          </a:bodyPr>
          <a:lstStyle/>
          <a:p>
            <a:pPr marL="16933"/>
            <a:r>
              <a:rPr lang="en-MY" sz="3400" spc="160">
                <a:latin typeface="Abadi" panose="020B0604020104020204" pitchFamily="34" charset="0"/>
              </a:rPr>
              <a:t>Types of inferential statistics</a:t>
            </a:r>
            <a:endParaRPr lang="en-US" sz="3400" kern="1200">
              <a:solidFill>
                <a:schemeClr val="tx1"/>
              </a:solidFill>
              <a:latin typeface="Abadi" panose="020B0604020104020204" pitchFamily="34" charset="0"/>
            </a:endParaRPr>
          </a:p>
        </p:txBody>
      </p:sp>
      <p:pic>
        <p:nvPicPr>
          <p:cNvPr id="5" name="Picture 4">
            <a:extLst>
              <a:ext uri="{FF2B5EF4-FFF2-40B4-BE49-F238E27FC236}">
                <a16:creationId xmlns:a16="http://schemas.microsoft.com/office/drawing/2014/main" id="{C5E255AF-5EEC-A6D6-9759-1B05D36DA6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6331" y="1366651"/>
            <a:ext cx="6510078" cy="5118321"/>
          </a:xfrm>
          <a:prstGeom prst="rect">
            <a:avLst/>
          </a:prstGeom>
        </p:spPr>
      </p:pic>
      <p:pic>
        <p:nvPicPr>
          <p:cNvPr id="3" name="Picture 2">
            <a:extLst>
              <a:ext uri="{FF2B5EF4-FFF2-40B4-BE49-F238E27FC236}">
                <a16:creationId xmlns:a16="http://schemas.microsoft.com/office/drawing/2014/main" id="{0DB9D0CE-B662-521A-8986-4604D22D8D80}"/>
              </a:ext>
            </a:extLst>
          </p:cNvPr>
          <p:cNvPicPr>
            <a:picLocks noChangeAspect="1"/>
          </p:cNvPicPr>
          <p:nvPr/>
        </p:nvPicPr>
        <p:blipFill>
          <a:blip r:embed="rId4"/>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19695163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9566" y="2880994"/>
            <a:ext cx="14020800" cy="695062"/>
          </a:xfrm>
          <a:prstGeom prst="rect">
            <a:avLst/>
          </a:prstGeom>
        </p:spPr>
        <p:txBody>
          <a:bodyPr vert="horz" wrap="square" lIns="0" tIns="17780" rIns="0" bIns="0" rtlCol="0" anchor="ctr">
            <a:spAutoFit/>
          </a:bodyPr>
          <a:lstStyle/>
          <a:p>
            <a:pPr marL="27939" algn="ctr">
              <a:lnSpc>
                <a:spcPct val="100000"/>
              </a:lnSpc>
              <a:spcBef>
                <a:spcPts val="140"/>
              </a:spcBef>
            </a:pPr>
            <a:r>
              <a:rPr lang="en-MY" spc="-240">
                <a:latin typeface="Abadi" panose="020B0604020104020204" pitchFamily="34" charset="0"/>
              </a:rPr>
              <a:t>Data and data types</a:t>
            </a:r>
            <a:endParaRPr spc="200">
              <a:latin typeface="Abadi" panose="020B0604020104020204" pitchFamily="34" charset="0"/>
            </a:endParaRPr>
          </a:p>
        </p:txBody>
      </p:sp>
      <p:pic>
        <p:nvPicPr>
          <p:cNvPr id="3" name="Picture 2">
            <a:extLst>
              <a:ext uri="{FF2B5EF4-FFF2-40B4-BE49-F238E27FC236}">
                <a16:creationId xmlns:a16="http://schemas.microsoft.com/office/drawing/2014/main" id="{12FC3AA2-5033-17FE-6959-96C38C5EBC7B}"/>
              </a:ext>
            </a:extLst>
          </p:cNvPr>
          <p:cNvPicPr>
            <a:picLocks noChangeAspect="1"/>
          </p:cNvPicPr>
          <p:nvPr/>
        </p:nvPicPr>
        <p:blipFill>
          <a:blip r:embed="rId2"/>
          <a:stretch>
            <a:fillRect/>
          </a:stretch>
        </p:blipFill>
        <p:spPr>
          <a:xfrm>
            <a:off x="10319658" y="617704"/>
            <a:ext cx="1125764" cy="412584"/>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A35049E6-D341-F3B3-CF90-764CBC98AA52}"/>
              </a:ext>
            </a:extLst>
          </p:cNvPr>
          <p:cNvSpPr txBox="1">
            <a:spLocks/>
          </p:cNvSpPr>
          <p:nvPr/>
        </p:nvSpPr>
        <p:spPr>
          <a:xfrm>
            <a:off x="574158" y="721206"/>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Types of Data</a:t>
            </a:r>
          </a:p>
        </p:txBody>
      </p:sp>
      <p:pic>
        <p:nvPicPr>
          <p:cNvPr id="21" name="Picture 20">
            <a:extLst>
              <a:ext uri="{FF2B5EF4-FFF2-40B4-BE49-F238E27FC236}">
                <a16:creationId xmlns:a16="http://schemas.microsoft.com/office/drawing/2014/main" id="{7842ED0F-7490-5A61-A6C8-F478834B96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6838" y="1864206"/>
            <a:ext cx="9621192" cy="4037382"/>
          </a:xfrm>
          <a:prstGeom prst="rect">
            <a:avLst/>
          </a:prstGeom>
        </p:spPr>
      </p:pic>
      <p:pic>
        <p:nvPicPr>
          <p:cNvPr id="2" name="Picture 1">
            <a:extLst>
              <a:ext uri="{FF2B5EF4-FFF2-40B4-BE49-F238E27FC236}">
                <a16:creationId xmlns:a16="http://schemas.microsoft.com/office/drawing/2014/main" id="{A560A5C2-60C4-1401-9201-7D84BDAD1B03}"/>
              </a:ext>
            </a:extLst>
          </p:cNvPr>
          <p:cNvPicPr>
            <a:picLocks noChangeAspect="1"/>
          </p:cNvPicPr>
          <p:nvPr/>
        </p:nvPicPr>
        <p:blipFill>
          <a:blip r:embed="rId4"/>
          <a:stretch>
            <a:fillRect/>
          </a:stretch>
        </p:blipFill>
        <p:spPr>
          <a:xfrm>
            <a:off x="10319658" y="617704"/>
            <a:ext cx="1125764" cy="412584"/>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A35049E6-D341-F3B3-CF90-764CBC98AA52}"/>
              </a:ext>
            </a:extLst>
          </p:cNvPr>
          <p:cNvSpPr txBox="1">
            <a:spLocks/>
          </p:cNvSpPr>
          <p:nvPr/>
        </p:nvSpPr>
        <p:spPr>
          <a:xfrm>
            <a:off x="574158" y="721206"/>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Types of Data</a:t>
            </a:r>
          </a:p>
        </p:txBody>
      </p:sp>
      <p:sp>
        <p:nvSpPr>
          <p:cNvPr id="2" name="TextBox 1">
            <a:extLst>
              <a:ext uri="{FF2B5EF4-FFF2-40B4-BE49-F238E27FC236}">
                <a16:creationId xmlns:a16="http://schemas.microsoft.com/office/drawing/2014/main" id="{356061D4-2323-1ECA-A8EB-4036AE6CBF41}"/>
              </a:ext>
            </a:extLst>
          </p:cNvPr>
          <p:cNvSpPr txBox="1"/>
          <p:nvPr/>
        </p:nvSpPr>
        <p:spPr>
          <a:xfrm>
            <a:off x="776177" y="1956391"/>
            <a:ext cx="9888279" cy="2308324"/>
          </a:xfrm>
          <a:prstGeom prst="rect">
            <a:avLst/>
          </a:prstGeom>
          <a:noFill/>
        </p:spPr>
        <p:txBody>
          <a:bodyPr wrap="square" rtlCol="0">
            <a:spAutoFit/>
          </a:bodyPr>
          <a:lstStyle/>
          <a:p>
            <a:r>
              <a:rPr lang="en-US" sz="2400"/>
              <a:t>The data is classified into majorly four categories:</a:t>
            </a:r>
          </a:p>
          <a:p>
            <a:endParaRPr lang="en-US" sz="2400"/>
          </a:p>
          <a:p>
            <a:pPr marL="457200" indent="-457200">
              <a:buAutoNum type="arabicPeriod"/>
            </a:pPr>
            <a:r>
              <a:rPr lang="en-US" sz="2400"/>
              <a:t>Nominal data</a:t>
            </a:r>
          </a:p>
          <a:p>
            <a:pPr marL="457200" indent="-457200">
              <a:buAutoNum type="arabicPeriod"/>
            </a:pPr>
            <a:r>
              <a:rPr lang="en-US" sz="2400"/>
              <a:t>Ordinal data</a:t>
            </a:r>
          </a:p>
          <a:p>
            <a:pPr marL="457200" indent="-457200">
              <a:buAutoNum type="arabicPeriod"/>
            </a:pPr>
            <a:r>
              <a:rPr lang="en-US" sz="2400"/>
              <a:t>Discrete data</a:t>
            </a:r>
          </a:p>
          <a:p>
            <a:pPr marL="457200" indent="-457200">
              <a:buAutoNum type="arabicPeriod"/>
            </a:pPr>
            <a:r>
              <a:rPr lang="en-US" sz="2400"/>
              <a:t>Continuous data</a:t>
            </a:r>
            <a:endParaRPr lang="en-MY" sz="2400"/>
          </a:p>
        </p:txBody>
      </p:sp>
      <p:pic>
        <p:nvPicPr>
          <p:cNvPr id="3" name="Picture 2">
            <a:extLst>
              <a:ext uri="{FF2B5EF4-FFF2-40B4-BE49-F238E27FC236}">
                <a16:creationId xmlns:a16="http://schemas.microsoft.com/office/drawing/2014/main" id="{3E44D475-F6D8-E81B-43EF-C3366665F89D}"/>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89684802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A35049E6-D341-F3B3-CF90-764CBC98AA52}"/>
              </a:ext>
            </a:extLst>
          </p:cNvPr>
          <p:cNvSpPr txBox="1">
            <a:spLocks/>
          </p:cNvSpPr>
          <p:nvPr/>
        </p:nvSpPr>
        <p:spPr>
          <a:xfrm>
            <a:off x="574158" y="721206"/>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Types of Data</a:t>
            </a:r>
          </a:p>
        </p:txBody>
      </p:sp>
      <p:sp>
        <p:nvSpPr>
          <p:cNvPr id="2" name="TextBox 1">
            <a:extLst>
              <a:ext uri="{FF2B5EF4-FFF2-40B4-BE49-F238E27FC236}">
                <a16:creationId xmlns:a16="http://schemas.microsoft.com/office/drawing/2014/main" id="{356061D4-2323-1ECA-A8EB-4036AE6CBF41}"/>
              </a:ext>
            </a:extLst>
          </p:cNvPr>
          <p:cNvSpPr txBox="1"/>
          <p:nvPr/>
        </p:nvSpPr>
        <p:spPr>
          <a:xfrm>
            <a:off x="776177" y="1956391"/>
            <a:ext cx="9888279" cy="4524315"/>
          </a:xfrm>
          <a:prstGeom prst="rect">
            <a:avLst/>
          </a:prstGeom>
          <a:noFill/>
        </p:spPr>
        <p:txBody>
          <a:bodyPr wrap="square" rtlCol="0">
            <a:spAutoFit/>
          </a:bodyPr>
          <a:lstStyle/>
          <a:p>
            <a:pPr algn="just"/>
            <a:r>
              <a:rPr lang="en-US" sz="2400" b="1"/>
              <a:t>Qualitative or Categorical Data</a:t>
            </a:r>
          </a:p>
          <a:p>
            <a:pPr algn="just"/>
            <a:r>
              <a:rPr lang="en-US" sz="2400"/>
              <a:t>Qualitative data, also known as the categorical data, describes the data that fits into the categories. Qualitative data are not numerical. The categorical information involves categorical variables that describe the features such as a person’s gender, home town etc. Categorical measures are defined in terms of natural language specifications, but not in terms of numbers.</a:t>
            </a:r>
          </a:p>
          <a:p>
            <a:pPr algn="just"/>
            <a:endParaRPr lang="en-US" sz="2400"/>
          </a:p>
          <a:p>
            <a:pPr algn="just"/>
            <a:r>
              <a:rPr lang="en-US" sz="2400"/>
              <a:t>Sometimes categorical data can hold numerical values (quantitative value), but those values do not have a mathematical sense. Examples of the categorical data are birthdate, </a:t>
            </a:r>
            <a:r>
              <a:rPr lang="en-US" sz="2400" err="1"/>
              <a:t>favourite</a:t>
            </a:r>
            <a:r>
              <a:rPr lang="en-US" sz="2400"/>
              <a:t> sport, school postcode. Here, the birthdate and school postcode hold the quantitative value, but it does not give numerical meaning</a:t>
            </a:r>
          </a:p>
        </p:txBody>
      </p:sp>
      <p:pic>
        <p:nvPicPr>
          <p:cNvPr id="3" name="Picture 2">
            <a:extLst>
              <a:ext uri="{FF2B5EF4-FFF2-40B4-BE49-F238E27FC236}">
                <a16:creationId xmlns:a16="http://schemas.microsoft.com/office/drawing/2014/main" id="{F5673E31-06E8-3D7F-CC2C-72E071A27A8F}"/>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25002079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A35049E6-D341-F3B3-CF90-764CBC98AA52}"/>
              </a:ext>
            </a:extLst>
          </p:cNvPr>
          <p:cNvSpPr txBox="1">
            <a:spLocks/>
          </p:cNvSpPr>
          <p:nvPr/>
        </p:nvSpPr>
        <p:spPr>
          <a:xfrm>
            <a:off x="574158" y="721206"/>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Types of Data</a:t>
            </a:r>
          </a:p>
        </p:txBody>
      </p:sp>
      <p:sp>
        <p:nvSpPr>
          <p:cNvPr id="2" name="TextBox 1">
            <a:extLst>
              <a:ext uri="{FF2B5EF4-FFF2-40B4-BE49-F238E27FC236}">
                <a16:creationId xmlns:a16="http://schemas.microsoft.com/office/drawing/2014/main" id="{356061D4-2323-1ECA-A8EB-4036AE6CBF41}"/>
              </a:ext>
            </a:extLst>
          </p:cNvPr>
          <p:cNvSpPr txBox="1"/>
          <p:nvPr/>
        </p:nvSpPr>
        <p:spPr>
          <a:xfrm>
            <a:off x="574158" y="1648047"/>
            <a:ext cx="10802679" cy="4893647"/>
          </a:xfrm>
          <a:prstGeom prst="rect">
            <a:avLst/>
          </a:prstGeom>
          <a:noFill/>
        </p:spPr>
        <p:txBody>
          <a:bodyPr wrap="square" rtlCol="0">
            <a:spAutoFit/>
          </a:bodyPr>
          <a:lstStyle/>
          <a:p>
            <a:pPr algn="just"/>
            <a:r>
              <a:rPr lang="en-US" sz="2400" b="1"/>
              <a:t>Qualitative or Categorical Data</a:t>
            </a:r>
          </a:p>
          <a:p>
            <a:pPr algn="just"/>
            <a:r>
              <a:rPr lang="en-US" sz="2400"/>
              <a:t>Nominal and ordinal data falls under this data type</a:t>
            </a:r>
          </a:p>
          <a:p>
            <a:pPr algn="just"/>
            <a:endParaRPr lang="en-US" sz="2400"/>
          </a:p>
          <a:p>
            <a:pPr algn="just"/>
            <a:r>
              <a:rPr lang="en-US" sz="2400" b="1"/>
              <a:t>Nominal Data</a:t>
            </a:r>
          </a:p>
          <a:p>
            <a:pPr algn="just"/>
            <a:r>
              <a:rPr lang="en-US" sz="2400"/>
              <a:t>Nominal data is one of the types of qualitative information which helps to label the variables without providing the numerical value. Nominal data is also called the nominal scale. It cannot be ordered and measured. But sometimes, the data can be qualitative and quantitative. Examples of nominal data are letters, symbols, words, gender etc.</a:t>
            </a:r>
          </a:p>
          <a:p>
            <a:pPr algn="just"/>
            <a:r>
              <a:rPr lang="en-US" sz="2400"/>
              <a:t>Nominal data is data that can be labelled or classified into mutually exclusive categories within a variable. For example, for the nominal variable of preferred mode of transportation, you may have the categories of car, bus, train, tram or bicycle.. These data are visually represented using the pie charts.</a:t>
            </a:r>
          </a:p>
        </p:txBody>
      </p:sp>
      <p:pic>
        <p:nvPicPr>
          <p:cNvPr id="3" name="Picture 2">
            <a:extLst>
              <a:ext uri="{FF2B5EF4-FFF2-40B4-BE49-F238E27FC236}">
                <a16:creationId xmlns:a16="http://schemas.microsoft.com/office/drawing/2014/main" id="{68673D27-641B-D7E5-62C1-7B13BC26BC5D}"/>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30953569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A35049E6-D341-F3B3-CF90-764CBC98AA52}"/>
              </a:ext>
            </a:extLst>
          </p:cNvPr>
          <p:cNvSpPr txBox="1">
            <a:spLocks/>
          </p:cNvSpPr>
          <p:nvPr/>
        </p:nvSpPr>
        <p:spPr>
          <a:xfrm>
            <a:off x="574158" y="721206"/>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Type of Data &amp; Analysis</a:t>
            </a:r>
          </a:p>
        </p:txBody>
      </p:sp>
      <p:sp>
        <p:nvSpPr>
          <p:cNvPr id="17" name="Content Placeholder 2">
            <a:extLst>
              <a:ext uri="{FF2B5EF4-FFF2-40B4-BE49-F238E27FC236}">
                <a16:creationId xmlns:a16="http://schemas.microsoft.com/office/drawing/2014/main" id="{8BE6D35B-8913-E70F-7E44-D76CAAF0A79D}"/>
              </a:ext>
            </a:extLst>
          </p:cNvPr>
          <p:cNvSpPr>
            <a:spLocks noGrp="1"/>
          </p:cNvSpPr>
          <p:nvPr>
            <p:ph idx="1"/>
          </p:nvPr>
        </p:nvSpPr>
        <p:spPr>
          <a:xfrm>
            <a:off x="574158" y="2057399"/>
            <a:ext cx="9590568" cy="4525963"/>
          </a:xfrm>
        </p:spPr>
        <p:txBody>
          <a:bodyPr>
            <a:noAutofit/>
          </a:bodyPr>
          <a:lstStyle/>
          <a:p>
            <a:pPr marL="0" indent="0">
              <a:buNone/>
            </a:pPr>
            <a:r>
              <a:rPr lang="en-US" sz="2400" b="1"/>
              <a:t>Logistics regression</a:t>
            </a:r>
          </a:p>
          <a:p>
            <a:pPr marL="0" indent="0">
              <a:buNone/>
            </a:pPr>
            <a:r>
              <a:rPr lang="en-US" sz="2400" i="1"/>
              <a:t>When to use it? </a:t>
            </a:r>
          </a:p>
          <a:p>
            <a:r>
              <a:rPr lang="en-US" sz="2400"/>
              <a:t>When you want to measure the strength and direction of the association between two variables, where the dependent or outcome variable is categorical (e.g., yes/no)</a:t>
            </a:r>
          </a:p>
          <a:p>
            <a:r>
              <a:rPr lang="en-US" sz="2400"/>
              <a:t>When you want to predict the likelihood of an outcome while controlling for confounders </a:t>
            </a:r>
          </a:p>
          <a:p>
            <a:pPr marL="0" indent="0">
              <a:buNone/>
            </a:pPr>
            <a:r>
              <a:rPr lang="en-US" sz="2400"/>
              <a:t>Ex) examine the relationship between health behavior (smoking, exercise, low-fat diet) and arthritis (arthritis vs. no arthritis)  </a:t>
            </a:r>
          </a:p>
          <a:p>
            <a:pPr marL="0" indent="0">
              <a:buNone/>
            </a:pPr>
            <a:r>
              <a:rPr lang="en-US" sz="2400"/>
              <a:t>Ex) Predict the probability of stroke in relation to gender while controlling for age or hypertension </a:t>
            </a:r>
          </a:p>
          <a:p>
            <a:pPr marL="0" indent="0">
              <a:buNone/>
            </a:pPr>
            <a:endParaRPr lang="en-US" sz="2400"/>
          </a:p>
          <a:p>
            <a:pPr marL="0" indent="0">
              <a:buNone/>
            </a:pPr>
            <a:endParaRPr lang="en-US" sz="2400"/>
          </a:p>
        </p:txBody>
      </p:sp>
      <p:pic>
        <p:nvPicPr>
          <p:cNvPr id="2" name="Picture 1">
            <a:extLst>
              <a:ext uri="{FF2B5EF4-FFF2-40B4-BE49-F238E27FC236}">
                <a16:creationId xmlns:a16="http://schemas.microsoft.com/office/drawing/2014/main" id="{56DC5611-7EA8-D670-030E-FE28B1AEE7C4}"/>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6987772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A35049E6-D341-F3B3-CF90-764CBC98AA52}"/>
              </a:ext>
            </a:extLst>
          </p:cNvPr>
          <p:cNvSpPr txBox="1">
            <a:spLocks/>
          </p:cNvSpPr>
          <p:nvPr/>
        </p:nvSpPr>
        <p:spPr>
          <a:xfrm>
            <a:off x="574158" y="721206"/>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Type of Data &amp; Analysis</a:t>
            </a:r>
          </a:p>
        </p:txBody>
      </p:sp>
      <p:sp>
        <p:nvSpPr>
          <p:cNvPr id="17" name="Content Placeholder 2">
            <a:extLst>
              <a:ext uri="{FF2B5EF4-FFF2-40B4-BE49-F238E27FC236}">
                <a16:creationId xmlns:a16="http://schemas.microsoft.com/office/drawing/2014/main" id="{8BE6D35B-8913-E70F-7E44-D76CAAF0A79D}"/>
              </a:ext>
            </a:extLst>
          </p:cNvPr>
          <p:cNvSpPr>
            <a:spLocks noGrp="1"/>
          </p:cNvSpPr>
          <p:nvPr>
            <p:ph idx="1"/>
          </p:nvPr>
        </p:nvSpPr>
        <p:spPr>
          <a:xfrm>
            <a:off x="574158" y="2057399"/>
            <a:ext cx="9590568" cy="4525963"/>
          </a:xfrm>
        </p:spPr>
        <p:txBody>
          <a:bodyPr>
            <a:noAutofit/>
          </a:bodyPr>
          <a:lstStyle/>
          <a:p>
            <a:pPr marL="0" indent="0">
              <a:buNone/>
            </a:pPr>
            <a:r>
              <a:rPr lang="en-US" sz="2400" b="1"/>
              <a:t>Logistics regression</a:t>
            </a:r>
            <a:endParaRPr lang="en-US" sz="2400"/>
          </a:p>
          <a:p>
            <a:pPr marL="0" indent="0">
              <a:buNone/>
            </a:pPr>
            <a:r>
              <a:rPr lang="en-US" sz="2400" i="1"/>
              <a:t>What does it tell you? </a:t>
            </a:r>
          </a:p>
          <a:p>
            <a:r>
              <a:rPr lang="en-US" sz="2400"/>
              <a:t>The odds of an event occurring The probability of the outcome event occurring divided by the probability of it not occurring</a:t>
            </a:r>
          </a:p>
          <a:p>
            <a:pPr marL="0" indent="0">
              <a:buNone/>
            </a:pPr>
            <a:endParaRPr lang="en-US" sz="2400"/>
          </a:p>
        </p:txBody>
      </p:sp>
      <p:pic>
        <p:nvPicPr>
          <p:cNvPr id="2" name="Picture 1">
            <a:extLst>
              <a:ext uri="{FF2B5EF4-FFF2-40B4-BE49-F238E27FC236}">
                <a16:creationId xmlns:a16="http://schemas.microsoft.com/office/drawing/2014/main" id="{D5DC05C6-2A27-1B1B-3740-9808965840F2}"/>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32057704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ee the source image">
            <a:extLst>
              <a:ext uri="{FF2B5EF4-FFF2-40B4-BE49-F238E27FC236}">
                <a16:creationId xmlns:a16="http://schemas.microsoft.com/office/drawing/2014/main" id="{A2C8CD05-6CEE-0309-BB07-5148DAB89F5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411747" y="457200"/>
            <a:ext cx="5943600" cy="5943600"/>
          </a:xfrm>
          <a:prstGeom prst="roundRect">
            <a:avLst>
              <a:gd name="adj" fmla="val 8594"/>
            </a:avLst>
          </a:prstGeom>
          <a:solidFill>
            <a:srgbClr val="FFFFFF">
              <a:shade val="85000"/>
            </a:srgbClr>
          </a:solidFill>
          <a:ln>
            <a:solidFill>
              <a:schemeClr val="bg2">
                <a:lumMod val="10000"/>
              </a:schemeClr>
            </a:solidFill>
          </a:ln>
          <a:effectLst>
            <a:outerShdw blurRad="63500" sx="102000" sy="102000" algn="ctr" rotWithShape="0">
              <a:prstClr val="black">
                <a:alpha val="40000"/>
              </a:prstClr>
            </a:outerShdw>
            <a:reflection blurRad="12700" stA="38000" endPos="28000" dist="5000" dir="5400000" sy="-100000" algn="bl" rotWithShape="0"/>
          </a:effectLst>
        </p:spPr>
      </p:pic>
      <p:pic>
        <p:nvPicPr>
          <p:cNvPr id="2" name="Picture 1">
            <a:extLst>
              <a:ext uri="{FF2B5EF4-FFF2-40B4-BE49-F238E27FC236}">
                <a16:creationId xmlns:a16="http://schemas.microsoft.com/office/drawing/2014/main" id="{EEA06A08-83ED-1763-FAB7-9E010F289B10}"/>
              </a:ext>
            </a:extLst>
          </p:cNvPr>
          <p:cNvPicPr>
            <a:picLocks noChangeAspect="1"/>
          </p:cNvPicPr>
          <p:nvPr/>
        </p:nvPicPr>
        <p:blipFill>
          <a:blip r:embed="rId3"/>
          <a:stretch>
            <a:fillRect/>
          </a:stretch>
        </p:blipFill>
        <p:spPr>
          <a:xfrm>
            <a:off x="10319658" y="617704"/>
            <a:ext cx="1125764" cy="412584"/>
          </a:xfrm>
          <a:prstGeom prst="rect">
            <a:avLst/>
          </a:prstGeom>
        </p:spPr>
      </p:pic>
    </p:spTree>
    <p:extLst>
      <p:ext uri="{BB962C8B-B14F-4D97-AF65-F5344CB8AC3E}">
        <p14:creationId xmlns:p14="http://schemas.microsoft.com/office/powerpoint/2010/main" val="1589144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456D4E2E0F4A4D8F52602ADCEE7D1C" ma:contentTypeVersion="11" ma:contentTypeDescription="Create a new document." ma:contentTypeScope="" ma:versionID="36892ea331d792c2f29c3b5db82e0512">
  <xsd:schema xmlns:xsd="http://www.w3.org/2001/XMLSchema" xmlns:xs="http://www.w3.org/2001/XMLSchema" xmlns:p="http://schemas.microsoft.com/office/2006/metadata/properties" xmlns:ns2="774b40c4-8217-4a51-8235-46a76c200c0a" xmlns:ns3="220f01ff-2dfe-41c2-bb44-90a4736c261d" targetNamespace="http://schemas.microsoft.com/office/2006/metadata/properties" ma:root="true" ma:fieldsID="28aa215fc23ee8bac288264c7d0756c6" ns2:_="" ns3:_="">
    <xsd:import namespace="774b40c4-8217-4a51-8235-46a76c200c0a"/>
    <xsd:import namespace="220f01ff-2dfe-41c2-bb44-90a4736c261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4b40c4-8217-4a51-8235-46a76c200c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0d82563b-0873-4153-b60d-32ffd6f0d13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20f01ff-2dfe-41c2-bb44-90a4736c261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247af296-f754-4263-a5da-96f35836ff5d}" ma:internalName="TaxCatchAll" ma:showField="CatchAllData" ma:web="220f01ff-2dfe-41c2-bb44-90a4736c261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74b40c4-8217-4a51-8235-46a76c200c0a">
      <Terms xmlns="http://schemas.microsoft.com/office/infopath/2007/PartnerControls"/>
    </lcf76f155ced4ddcb4097134ff3c332f>
    <TaxCatchAll xmlns="220f01ff-2dfe-41c2-bb44-90a4736c261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9468999-91F3-4185-846D-3314208788E7}">
  <ds:schemaRefs>
    <ds:schemaRef ds:uri="220f01ff-2dfe-41c2-bb44-90a4736c261d"/>
    <ds:schemaRef ds:uri="774b40c4-8217-4a51-8235-46a76c200c0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E8CC075-0F8F-4B55-873C-FB4408895CAE}">
  <ds:schemaRefs>
    <ds:schemaRef ds:uri="220f01ff-2dfe-41c2-bb44-90a4736c261d"/>
    <ds:schemaRef ds:uri="774b40c4-8217-4a51-8235-46a76c200c0a"/>
    <ds:schemaRef ds:uri="b8e3b0b5-f6e3-4deb-a639-c50ea7efaffc"/>
    <ds:schemaRef ds:uri="bb32e78a-115a-4d67-a564-dc1ac97f7134"/>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1E68DC0-0825-466A-98C9-56D9BFC633C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71</Slides>
  <Notes>51</Notes>
  <HiddenSlides>0</HiddenSlides>
  <ScaleCrop>false</ScaleCrop>
  <HeadingPairs>
    <vt:vector size="4" baseType="variant">
      <vt:variant>
        <vt:lpstr>Theme</vt:lpstr>
      </vt:variant>
      <vt:variant>
        <vt:i4>1</vt:i4>
      </vt:variant>
      <vt:variant>
        <vt:lpstr>Slide Titles</vt:lpstr>
      </vt:variant>
      <vt:variant>
        <vt:i4>71</vt:i4>
      </vt:variant>
    </vt:vector>
  </HeadingPairs>
  <TitlesOfParts>
    <vt:vector size="72" baseType="lpstr">
      <vt:lpstr>Office Theme</vt:lpstr>
      <vt:lpstr>STATISTICS (PART 1)</vt:lpstr>
      <vt:lpstr>Contents</vt:lpstr>
      <vt:lpstr>WHAT IS STATISTICS</vt:lpstr>
      <vt:lpstr>WHAT IS STATISTICS</vt:lpstr>
      <vt:lpstr>WHY DO WE NEED STATISTICS?</vt:lpstr>
      <vt:lpstr>Use case examples</vt:lpstr>
      <vt:lpstr>Relevance to data science</vt:lpstr>
      <vt:lpstr>PowerPoint Presentation</vt:lpstr>
      <vt:lpstr>Descriptive statistics</vt:lpstr>
      <vt:lpstr>Descriptive statistics</vt:lpstr>
      <vt:lpstr>Descriptive statistics</vt:lpstr>
      <vt:lpstr>Descriptive statistics</vt:lpstr>
      <vt:lpstr>Types of descriptive statistics</vt:lpstr>
      <vt:lpstr>Types of descriptive statistics</vt:lpstr>
      <vt:lpstr>Types of descriptive statistics</vt:lpstr>
      <vt:lpstr>Types of descriptive statistics</vt:lpstr>
      <vt:lpstr>Types of descriptive statistics</vt:lpstr>
      <vt:lpstr>Types of descriptive statistics</vt:lpstr>
      <vt:lpstr>Types of descriptive statistics</vt:lpstr>
      <vt:lpstr>Types of descriptive statistics</vt:lpstr>
      <vt:lpstr>Types of descriptive statistics</vt:lpstr>
      <vt:lpstr>Types of descriptive statistics</vt:lpstr>
      <vt:lpstr>Types of descriptive statistics</vt:lpstr>
      <vt:lpstr>Outliers</vt:lpstr>
      <vt:lpstr>Outliers</vt:lpstr>
      <vt:lpstr>Outliers</vt:lpstr>
      <vt:lpstr>Inferential statistics</vt:lpstr>
      <vt:lpstr>Types of inferential statistics</vt:lpstr>
      <vt:lpstr>Types of inferential statistics</vt:lpstr>
      <vt:lpstr>Types of inferential statistics</vt:lpstr>
      <vt:lpstr>Types of inferential statistics</vt:lpstr>
      <vt:lpstr>Data and data types</vt:lpstr>
      <vt:lpstr>PowerPoint Presentation</vt:lpstr>
      <vt:lpstr>PowerPoint Presentation</vt:lpstr>
      <vt:lpstr>PowerPoint Presentation</vt:lpstr>
      <vt:lpstr>PowerPoint Presentation</vt:lpstr>
      <vt:lpstr>PowerPoint Presentation</vt:lpstr>
      <vt:lpstr>Use case examples</vt:lpstr>
      <vt:lpstr>Relevance to data science</vt:lpstr>
      <vt:lpstr>PowerPoint Presentation</vt:lpstr>
      <vt:lpstr>Descriptive statistics</vt:lpstr>
      <vt:lpstr>Descriptive statistics</vt:lpstr>
      <vt:lpstr>Descriptive statistics</vt:lpstr>
      <vt:lpstr>Descriptive statistics</vt:lpstr>
      <vt:lpstr>Types of descriptive statistics</vt:lpstr>
      <vt:lpstr>Types of descriptive statistics</vt:lpstr>
      <vt:lpstr>Types of descriptive statistics</vt:lpstr>
      <vt:lpstr>Types of descriptive statistics</vt:lpstr>
      <vt:lpstr>Types of descriptive statistics</vt:lpstr>
      <vt:lpstr>Types of descriptive statistics</vt:lpstr>
      <vt:lpstr>Types of descriptive statistics</vt:lpstr>
      <vt:lpstr>Types of descriptive statistics</vt:lpstr>
      <vt:lpstr>Types of descriptive statistics</vt:lpstr>
      <vt:lpstr>Types of descriptive statistics</vt:lpstr>
      <vt:lpstr>Types of descriptive statistics</vt:lpstr>
      <vt:lpstr>Outliers</vt:lpstr>
      <vt:lpstr>Outliers</vt:lpstr>
      <vt:lpstr>Outliers</vt:lpstr>
      <vt:lpstr>Inferential statistics</vt:lpstr>
      <vt:lpstr>Types of inferential statistics</vt:lpstr>
      <vt:lpstr>Types of inferential statistics</vt:lpstr>
      <vt:lpstr>Types of inferential statistics</vt:lpstr>
      <vt:lpstr>Types of inferential statistics</vt:lpstr>
      <vt:lpstr>Data and data types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Jude Okiche</dc:creator>
  <cp:revision>1</cp:revision>
  <dcterms:created xsi:type="dcterms:W3CDTF">2025-08-12T05:38:51Z</dcterms:created>
  <dcterms:modified xsi:type="dcterms:W3CDTF">2025-09-12T09:06:04Z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lpwstr>8744100.00000000</vt:lpwstr>
  </property>
  <property fmtid="{D5CDD505-2E9C-101B-9397-08002B2CF9AE}" pid="3" name="ContentTypeId">
    <vt:lpwstr>0x01010001456D4E2E0F4A4D8F52602ADCEE7D1C</vt:lpwstr>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y fmtid="{D5CDD505-2E9C-101B-9397-08002B2CF9AE}" pid="9" name="MediaServiceImageTags">
    <vt:lpwstr/>
  </property>
</Properties>
</file>